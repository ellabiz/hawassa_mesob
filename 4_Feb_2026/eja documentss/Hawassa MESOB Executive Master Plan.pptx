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6858000" cx="12192000"/>
  <p:notesSz cx="6858000" cy="9144000"/>
  <p:embeddedFontLst>
    <p:embeddedFont>
      <p:font typeface="Montserrat SemiBold"/>
      <p:regular r:id="rId61"/>
      <p:bold r:id="rId62"/>
      <p:italic r:id="rId63"/>
      <p:boldItalic r:id="rId64"/>
    </p:embeddedFont>
    <p:embeddedFont>
      <p:font typeface="Inter SemiBold"/>
      <p:regular r:id="rId65"/>
      <p:bold r:id="rId66"/>
      <p:italic r:id="rId67"/>
      <p:boldItalic r:id="rId68"/>
    </p:embeddedFont>
    <p:embeddedFont>
      <p:font typeface="Montserrat"/>
      <p:regular r:id="rId69"/>
      <p:bold r:id="rId70"/>
      <p:italic r:id="rId71"/>
      <p:boldItalic r:id="rId72"/>
    </p:embeddedFont>
    <p:embeddedFont>
      <p:font typeface="Inter"/>
      <p:regular r:id="rId73"/>
      <p:bold r:id="rId74"/>
      <p:italic r:id="rId75"/>
      <p:boldItalic r:id="rId76"/>
    </p:embeddedFont>
    <p:embeddedFont>
      <p:font typeface="Inter Medium"/>
      <p:regular r:id="rId77"/>
      <p:bold r:id="rId78"/>
      <p:italic r:id="rId79"/>
      <p:boldItalic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AC119ED-5815-4C41-8F13-C28447212DCB}">
  <a:tblStyle styleId="{5AC119ED-5815-4C41-8F13-C28447212DC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Inter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Inter-regular.fntdata"/><Relationship Id="rId72" Type="http://schemas.openxmlformats.org/officeDocument/2006/relationships/font" Target="fonts/Montserrat-boldItalic.fntdata"/><Relationship Id="rId31" Type="http://schemas.openxmlformats.org/officeDocument/2006/relationships/slide" Target="slides/slide25.xml"/><Relationship Id="rId75" Type="http://schemas.openxmlformats.org/officeDocument/2006/relationships/font" Target="fonts/Inter-italic.fntdata"/><Relationship Id="rId30" Type="http://schemas.openxmlformats.org/officeDocument/2006/relationships/slide" Target="slides/slide24.xml"/><Relationship Id="rId74" Type="http://schemas.openxmlformats.org/officeDocument/2006/relationships/font" Target="fonts/Inter-bold.fntdata"/><Relationship Id="rId33" Type="http://schemas.openxmlformats.org/officeDocument/2006/relationships/slide" Target="slides/slide27.xml"/><Relationship Id="rId77" Type="http://schemas.openxmlformats.org/officeDocument/2006/relationships/font" Target="fonts/InterMedium-regular.fntdata"/><Relationship Id="rId32" Type="http://schemas.openxmlformats.org/officeDocument/2006/relationships/slide" Target="slides/slide26.xml"/><Relationship Id="rId76" Type="http://schemas.openxmlformats.org/officeDocument/2006/relationships/font" Target="fonts/Inter-boldItalic.fntdata"/><Relationship Id="rId35" Type="http://schemas.openxmlformats.org/officeDocument/2006/relationships/slide" Target="slides/slide29.xml"/><Relationship Id="rId79" Type="http://schemas.openxmlformats.org/officeDocument/2006/relationships/font" Target="fonts/InterMedium-italic.fntdata"/><Relationship Id="rId34" Type="http://schemas.openxmlformats.org/officeDocument/2006/relationships/slide" Target="slides/slide28.xml"/><Relationship Id="rId78" Type="http://schemas.openxmlformats.org/officeDocument/2006/relationships/font" Target="fonts/InterMedium-bold.fntdata"/><Relationship Id="rId71" Type="http://schemas.openxmlformats.org/officeDocument/2006/relationships/font" Target="fonts/Montserrat-italic.fntdata"/><Relationship Id="rId70" Type="http://schemas.openxmlformats.org/officeDocument/2006/relationships/font" Target="fonts/Montserrat-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MontserratSemiBold-bold.fntdata"/><Relationship Id="rId61" Type="http://schemas.openxmlformats.org/officeDocument/2006/relationships/font" Target="fonts/MontserratSemiBold-regular.fntdata"/><Relationship Id="rId20" Type="http://schemas.openxmlformats.org/officeDocument/2006/relationships/slide" Target="slides/slide14.xml"/><Relationship Id="rId64" Type="http://schemas.openxmlformats.org/officeDocument/2006/relationships/font" Target="fonts/MontserratSemiBold-boldItalic.fntdata"/><Relationship Id="rId63" Type="http://schemas.openxmlformats.org/officeDocument/2006/relationships/font" Target="fonts/MontserratSemiBold-italic.fntdata"/><Relationship Id="rId22" Type="http://schemas.openxmlformats.org/officeDocument/2006/relationships/slide" Target="slides/slide16.xml"/><Relationship Id="rId66" Type="http://schemas.openxmlformats.org/officeDocument/2006/relationships/font" Target="fonts/InterSemiBold-bold.fntdata"/><Relationship Id="rId21" Type="http://schemas.openxmlformats.org/officeDocument/2006/relationships/slide" Target="slides/slide15.xml"/><Relationship Id="rId65" Type="http://schemas.openxmlformats.org/officeDocument/2006/relationships/font" Target="fonts/InterSemiBold-regular.fntdata"/><Relationship Id="rId24" Type="http://schemas.openxmlformats.org/officeDocument/2006/relationships/slide" Target="slides/slide18.xml"/><Relationship Id="rId68" Type="http://schemas.openxmlformats.org/officeDocument/2006/relationships/font" Target="fonts/InterSemiBold-boldItalic.fntdata"/><Relationship Id="rId23" Type="http://schemas.openxmlformats.org/officeDocument/2006/relationships/slide" Target="slides/slide17.xml"/><Relationship Id="rId67" Type="http://schemas.openxmlformats.org/officeDocument/2006/relationships/font" Target="fonts/InterSemiBold-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Montserrat-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8.png"/><Relationship Id="rId11" Type="http://schemas.openxmlformats.org/officeDocument/2006/relationships/image" Target="../media/image10.png"/><Relationship Id="rId10" Type="http://schemas.openxmlformats.org/officeDocument/2006/relationships/image" Target="../media/image13.png"/><Relationship Id="rId9" Type="http://schemas.openxmlformats.org/officeDocument/2006/relationships/image" Target="../media/image18.png"/><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11.png"/><Relationship Id="rId8"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81.png"/><Relationship Id="rId5" Type="http://schemas.openxmlformats.org/officeDocument/2006/relationships/image" Target="../media/image2.png"/><Relationship Id="rId6" Type="http://schemas.openxmlformats.org/officeDocument/2006/relationships/image" Target="../media/image26.png"/><Relationship Id="rId7"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12.png"/><Relationship Id="rId5" Type="http://schemas.openxmlformats.org/officeDocument/2006/relationships/image" Target="../media/image25.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90.png"/><Relationship Id="rId11" Type="http://schemas.openxmlformats.org/officeDocument/2006/relationships/image" Target="../media/image33.png"/><Relationship Id="rId10" Type="http://schemas.openxmlformats.org/officeDocument/2006/relationships/image" Target="../media/image30.png"/><Relationship Id="rId9" Type="http://schemas.openxmlformats.org/officeDocument/2006/relationships/image" Target="../media/image31.png"/><Relationship Id="rId5" Type="http://schemas.openxmlformats.org/officeDocument/2006/relationships/image" Target="../media/image23.png"/><Relationship Id="rId6" Type="http://schemas.openxmlformats.org/officeDocument/2006/relationships/image" Target="../media/image68.png"/><Relationship Id="rId7" Type="http://schemas.openxmlformats.org/officeDocument/2006/relationships/image" Target="../media/image32.png"/><Relationship Id="rId8"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2.png"/><Relationship Id="rId4" Type="http://schemas.openxmlformats.org/officeDocument/2006/relationships/image" Target="../media/image36.png"/><Relationship Id="rId11" Type="http://schemas.openxmlformats.org/officeDocument/2006/relationships/image" Target="../media/image44.png"/><Relationship Id="rId10" Type="http://schemas.openxmlformats.org/officeDocument/2006/relationships/image" Target="../media/image53.png"/><Relationship Id="rId9" Type="http://schemas.openxmlformats.org/officeDocument/2006/relationships/image" Target="../media/image48.png"/><Relationship Id="rId5" Type="http://schemas.openxmlformats.org/officeDocument/2006/relationships/image" Target="../media/image35.png"/><Relationship Id="rId6" Type="http://schemas.openxmlformats.org/officeDocument/2006/relationships/image" Target="../media/image56.png"/><Relationship Id="rId7" Type="http://schemas.openxmlformats.org/officeDocument/2006/relationships/image" Target="../media/image41.png"/><Relationship Id="rId8" Type="http://schemas.openxmlformats.org/officeDocument/2006/relationships/image" Target="../media/image5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1.png"/><Relationship Id="rId4" Type="http://schemas.openxmlformats.org/officeDocument/2006/relationships/image" Target="../media/image43.png"/><Relationship Id="rId11" Type="http://schemas.openxmlformats.org/officeDocument/2006/relationships/image" Target="../media/image66.png"/><Relationship Id="rId10" Type="http://schemas.openxmlformats.org/officeDocument/2006/relationships/image" Target="../media/image50.png"/><Relationship Id="rId9" Type="http://schemas.openxmlformats.org/officeDocument/2006/relationships/image" Target="../media/image52.png"/><Relationship Id="rId5" Type="http://schemas.openxmlformats.org/officeDocument/2006/relationships/image" Target="../media/image46.png"/><Relationship Id="rId6" Type="http://schemas.openxmlformats.org/officeDocument/2006/relationships/image" Target="../media/image57.png"/><Relationship Id="rId7" Type="http://schemas.openxmlformats.org/officeDocument/2006/relationships/image" Target="../media/image47.png"/><Relationship Id="rId8"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4.png"/><Relationship Id="rId4" Type="http://schemas.openxmlformats.org/officeDocument/2006/relationships/image" Target="../media/image71.png"/><Relationship Id="rId5" Type="http://schemas.openxmlformats.org/officeDocument/2006/relationships/image" Target="../media/image77.png"/><Relationship Id="rId6" Type="http://schemas.openxmlformats.org/officeDocument/2006/relationships/image" Target="../media/image6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2.png"/><Relationship Id="rId4" Type="http://schemas.openxmlformats.org/officeDocument/2006/relationships/image" Target="../media/image36.png"/><Relationship Id="rId11" Type="http://schemas.openxmlformats.org/officeDocument/2006/relationships/image" Target="../media/image76.png"/><Relationship Id="rId10" Type="http://schemas.openxmlformats.org/officeDocument/2006/relationships/image" Target="../media/image94.png"/><Relationship Id="rId9" Type="http://schemas.openxmlformats.org/officeDocument/2006/relationships/image" Target="../media/image80.png"/><Relationship Id="rId5" Type="http://schemas.openxmlformats.org/officeDocument/2006/relationships/image" Target="../media/image35.png"/><Relationship Id="rId6" Type="http://schemas.openxmlformats.org/officeDocument/2006/relationships/image" Target="../media/image72.png"/><Relationship Id="rId7" Type="http://schemas.openxmlformats.org/officeDocument/2006/relationships/image" Target="../media/image64.png"/><Relationship Id="rId8"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3.png"/><Relationship Id="rId6" Type="http://schemas.openxmlformats.org/officeDocument/2006/relationships/image" Target="../media/image7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9.png"/><Relationship Id="rId4" Type="http://schemas.openxmlformats.org/officeDocument/2006/relationships/image" Target="../media/image91.png"/><Relationship Id="rId5" Type="http://schemas.openxmlformats.org/officeDocument/2006/relationships/image" Target="../media/image67.png"/><Relationship Id="rId6" Type="http://schemas.openxmlformats.org/officeDocument/2006/relationships/image" Target="../media/image10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75.png"/><Relationship Id="rId4" Type="http://schemas.openxmlformats.org/officeDocument/2006/relationships/image" Target="../media/image7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2.png"/><Relationship Id="rId4" Type="http://schemas.openxmlformats.org/officeDocument/2006/relationships/image" Target="../media/image36.png"/><Relationship Id="rId11" Type="http://schemas.openxmlformats.org/officeDocument/2006/relationships/image" Target="../media/image111.png"/><Relationship Id="rId10" Type="http://schemas.openxmlformats.org/officeDocument/2006/relationships/image" Target="../media/image97.png"/><Relationship Id="rId9" Type="http://schemas.openxmlformats.org/officeDocument/2006/relationships/image" Target="../media/image96.png"/><Relationship Id="rId5" Type="http://schemas.openxmlformats.org/officeDocument/2006/relationships/image" Target="../media/image35.png"/><Relationship Id="rId6" Type="http://schemas.openxmlformats.org/officeDocument/2006/relationships/image" Target="../media/image56.png"/><Relationship Id="rId7" Type="http://schemas.openxmlformats.org/officeDocument/2006/relationships/image" Target="../media/image41.png"/><Relationship Id="rId8" Type="http://schemas.openxmlformats.org/officeDocument/2006/relationships/image" Target="../media/image5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0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8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84.png"/><Relationship Id="rId4" Type="http://schemas.openxmlformats.org/officeDocument/2006/relationships/image" Target="../media/image2.png"/><Relationship Id="rId5" Type="http://schemas.openxmlformats.org/officeDocument/2006/relationships/image" Target="../media/image10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0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98.png"/><Relationship Id="rId4" Type="http://schemas.openxmlformats.org/officeDocument/2006/relationships/image" Target="../media/image95.png"/><Relationship Id="rId11" Type="http://schemas.openxmlformats.org/officeDocument/2006/relationships/image" Target="../media/image126.png"/><Relationship Id="rId10" Type="http://schemas.openxmlformats.org/officeDocument/2006/relationships/image" Target="../media/image113.png"/><Relationship Id="rId9" Type="http://schemas.openxmlformats.org/officeDocument/2006/relationships/image" Target="../media/image108.png"/><Relationship Id="rId5" Type="http://schemas.openxmlformats.org/officeDocument/2006/relationships/image" Target="../media/image110.png"/><Relationship Id="rId6" Type="http://schemas.openxmlformats.org/officeDocument/2006/relationships/image" Target="../media/image9.png"/><Relationship Id="rId7" Type="http://schemas.openxmlformats.org/officeDocument/2006/relationships/image" Target="../media/image11.png"/><Relationship Id="rId8"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9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0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99.png"/><Relationship Id="rId4" Type="http://schemas.openxmlformats.org/officeDocument/2006/relationships/image" Target="../media/image1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07.png"/><Relationship Id="rId4" Type="http://schemas.openxmlformats.org/officeDocument/2006/relationships/image" Target="../media/image10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1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98.png"/><Relationship Id="rId4" Type="http://schemas.openxmlformats.org/officeDocument/2006/relationships/image" Target="../media/image95.png"/><Relationship Id="rId11" Type="http://schemas.openxmlformats.org/officeDocument/2006/relationships/image" Target="../media/image116.png"/><Relationship Id="rId10" Type="http://schemas.openxmlformats.org/officeDocument/2006/relationships/image" Target="../media/image131.png"/><Relationship Id="rId9" Type="http://schemas.openxmlformats.org/officeDocument/2006/relationships/image" Target="../media/image129.png"/><Relationship Id="rId5" Type="http://schemas.openxmlformats.org/officeDocument/2006/relationships/image" Target="../media/image110.png"/><Relationship Id="rId6" Type="http://schemas.openxmlformats.org/officeDocument/2006/relationships/image" Target="../media/image9.png"/><Relationship Id="rId7" Type="http://schemas.openxmlformats.org/officeDocument/2006/relationships/image" Target="../media/image11.png"/><Relationship Id="rId8" Type="http://schemas.openxmlformats.org/officeDocument/2006/relationships/image" Target="../media/image1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24.png"/><Relationship Id="rId4" Type="http://schemas.openxmlformats.org/officeDocument/2006/relationships/image" Target="../media/image128.png"/><Relationship Id="rId5" Type="http://schemas.openxmlformats.org/officeDocument/2006/relationships/image" Target="../media/image134.png"/><Relationship Id="rId6" Type="http://schemas.openxmlformats.org/officeDocument/2006/relationships/image" Target="../media/image13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42.png"/><Relationship Id="rId4" Type="http://schemas.openxmlformats.org/officeDocument/2006/relationships/image" Target="../media/image36.png"/><Relationship Id="rId11" Type="http://schemas.openxmlformats.org/officeDocument/2006/relationships/image" Target="../media/image133.png"/><Relationship Id="rId10" Type="http://schemas.openxmlformats.org/officeDocument/2006/relationships/image" Target="../media/image122.png"/><Relationship Id="rId9" Type="http://schemas.openxmlformats.org/officeDocument/2006/relationships/image" Target="../media/image119.png"/><Relationship Id="rId5" Type="http://schemas.openxmlformats.org/officeDocument/2006/relationships/image" Target="../media/image35.png"/><Relationship Id="rId6" Type="http://schemas.openxmlformats.org/officeDocument/2006/relationships/image" Target="../media/image56.png"/><Relationship Id="rId7" Type="http://schemas.openxmlformats.org/officeDocument/2006/relationships/image" Target="../media/image41.png"/><Relationship Id="rId8" Type="http://schemas.openxmlformats.org/officeDocument/2006/relationships/image" Target="../media/image5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18.png"/><Relationship Id="rId4" Type="http://schemas.openxmlformats.org/officeDocument/2006/relationships/image" Target="../media/image121.png"/><Relationship Id="rId5" Type="http://schemas.openxmlformats.org/officeDocument/2006/relationships/image" Target="../media/image127.png"/><Relationship Id="rId6" Type="http://schemas.openxmlformats.org/officeDocument/2006/relationships/image" Target="../media/image132.png"/><Relationship Id="rId7" Type="http://schemas.openxmlformats.org/officeDocument/2006/relationships/image" Target="../media/image117.png"/><Relationship Id="rId8" Type="http://schemas.openxmlformats.org/officeDocument/2006/relationships/image" Target="../media/image1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p:nvPr/>
        </p:nvSpPr>
        <p:spPr>
          <a:xfrm>
            <a:off x="0" y="0"/>
            <a:ext cx="12192000" cy="95250"/>
          </a:xfrm>
          <a:prstGeom prst="rect">
            <a:avLst/>
          </a:prstGeom>
          <a:solidFill>
            <a:srgbClr val="0F2C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028700" y="2048916"/>
            <a:ext cx="11121390" cy="1340941"/>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800" u="none" cap="none" strike="noStrike">
                <a:solidFill>
                  <a:srgbClr val="0F2C59"/>
                </a:solidFill>
                <a:latin typeface="Montserrat"/>
                <a:ea typeface="Montserrat"/>
                <a:cs typeface="Montserrat"/>
                <a:sym typeface="Montserrat"/>
              </a:rPr>
              <a:t>Hawassa MESOB One-Stop</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0F2C59"/>
                </a:solidFill>
                <a:latin typeface="Montserrat"/>
                <a:ea typeface="Montserrat"/>
                <a:cs typeface="Montserrat"/>
                <a:sym typeface="Montserrat"/>
              </a:rPr>
              <a:t> Service Center</a:t>
            </a:r>
            <a:endParaRPr/>
          </a:p>
        </p:txBody>
      </p:sp>
      <p:sp>
        <p:nvSpPr>
          <p:cNvPr id="87" name="Google Shape;87;p13"/>
          <p:cNvSpPr txBox="1"/>
          <p:nvPr/>
        </p:nvSpPr>
        <p:spPr>
          <a:xfrm>
            <a:off x="1028700" y="3580358"/>
            <a:ext cx="105918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800" u="none" cap="none" strike="noStrike">
                <a:solidFill>
                  <a:srgbClr val="475569"/>
                </a:solidFill>
                <a:latin typeface="Inter Medium"/>
                <a:ea typeface="Inter Medium"/>
                <a:cs typeface="Inter Medium"/>
                <a:sym typeface="Inter Medium"/>
              </a:rPr>
              <a:t>Executive Master Plan &amp; Transformation Blueprint</a:t>
            </a:r>
            <a:endParaRPr/>
          </a:p>
        </p:txBody>
      </p:sp>
      <p:sp>
        <p:nvSpPr>
          <p:cNvPr id="88" name="Google Shape;88;p13"/>
          <p:cNvSpPr txBox="1"/>
          <p:nvPr/>
        </p:nvSpPr>
        <p:spPr>
          <a:xfrm>
            <a:off x="1028700" y="4304258"/>
            <a:ext cx="105918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0F2C59"/>
                </a:solidFill>
                <a:latin typeface="Inter SemiBold"/>
                <a:ea typeface="Inter SemiBold"/>
                <a:cs typeface="Inter SemiBold"/>
                <a:sym typeface="Inter SemiBold"/>
              </a:rPr>
              <a:t>PREPARED FOR: H.E. MAYOR TIRATU BEYENE</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0F2C59"/>
                </a:solidFill>
                <a:latin typeface="Inter SemiBold"/>
                <a:ea typeface="Inter SemiBold"/>
                <a:cs typeface="Inter SemiBold"/>
                <a:sym typeface="Inter SemiBold"/>
              </a:rPr>
              <a:t> HAWASSA CITY ADMINISTRATION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descr="image.png" id="93" name="Google Shape;93;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4" name="Google Shape;94;p14"/>
          <p:cNvSpPr/>
          <p:nvPr/>
        </p:nvSpPr>
        <p:spPr>
          <a:xfrm>
            <a:off x="5715000" y="2886075"/>
            <a:ext cx="762000" cy="3810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 name="Google Shape;95;p14"/>
          <p:cNvSpPr txBox="1"/>
          <p:nvPr/>
        </p:nvSpPr>
        <p:spPr>
          <a:xfrm>
            <a:off x="1842968" y="3209925"/>
            <a:ext cx="8506063"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8FAFC"/>
                </a:solidFill>
                <a:latin typeface="Montserrat"/>
                <a:ea typeface="Montserrat"/>
                <a:cs typeface="Montserrat"/>
                <a:sym typeface="Montserrat"/>
              </a:rPr>
              <a:t>Phase I: Strategic Foundation</a:t>
            </a:r>
            <a:endParaRPr/>
          </a:p>
        </p:txBody>
      </p:sp>
      <p:sp>
        <p:nvSpPr>
          <p:cNvPr id="96" name="Google Shape;96;p14"/>
          <p:cNvSpPr txBox="1"/>
          <p:nvPr/>
        </p:nvSpPr>
        <p:spPr>
          <a:xfrm>
            <a:off x="3781425" y="3857625"/>
            <a:ext cx="4629150" cy="2571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F8FAFC"/>
                </a:solidFill>
                <a:latin typeface="Inter"/>
                <a:ea typeface="Inter"/>
                <a:cs typeface="Inter"/>
                <a:sym typeface="Inter"/>
              </a:rPr>
              <a:t>National Mandate, Institutional Positioning &amp; Governance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0" name="Shape 100"/>
        <p:cNvGrpSpPr/>
        <p:nvPr/>
      </p:nvGrpSpPr>
      <p:grpSpPr>
        <a:xfrm>
          <a:off x="0" y="0"/>
          <a:ext cx="0" cy="0"/>
          <a:chOff x="0" y="0"/>
          <a:chExt cx="0" cy="0"/>
        </a:xfrm>
      </p:grpSpPr>
      <p:pic>
        <p:nvPicPr>
          <p:cNvPr descr="image.png" id="101" name="Google Shape;101;p15"/>
          <p:cNvPicPr preferRelativeResize="0"/>
          <p:nvPr/>
        </p:nvPicPr>
        <p:blipFill rotWithShape="1">
          <a:blip r:embed="rId3">
            <a:alphaModFix/>
          </a:blip>
          <a:srcRect b="0" l="0" r="0" t="0"/>
          <a:stretch/>
        </p:blipFill>
        <p:spPr>
          <a:xfrm>
            <a:off x="571500" y="2138362"/>
            <a:ext cx="5286375" cy="3171825"/>
          </a:xfrm>
          <a:prstGeom prst="rect">
            <a:avLst/>
          </a:prstGeom>
          <a:noFill/>
          <a:ln>
            <a:noFill/>
          </a:ln>
        </p:spPr>
      </p:pic>
      <p:pic>
        <p:nvPicPr>
          <p:cNvPr descr="image.png" id="102" name="Google Shape;102;p15"/>
          <p:cNvPicPr preferRelativeResize="0"/>
          <p:nvPr/>
        </p:nvPicPr>
        <p:blipFill rotWithShape="1">
          <a:blip r:embed="rId4">
            <a:alphaModFix/>
          </a:blip>
          <a:srcRect b="0" l="0" r="0" t="0"/>
          <a:stretch/>
        </p:blipFill>
        <p:spPr>
          <a:xfrm>
            <a:off x="6334125" y="2138362"/>
            <a:ext cx="5286375" cy="3171825"/>
          </a:xfrm>
          <a:prstGeom prst="rect">
            <a:avLst/>
          </a:prstGeom>
          <a:noFill/>
          <a:ln>
            <a:noFill/>
          </a:ln>
        </p:spPr>
      </p:pic>
      <p:sp>
        <p:nvSpPr>
          <p:cNvPr id="103" name="Google Shape;103;p15"/>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Why MESOB? The Governance Imperative</a:t>
            </a:r>
            <a:endParaRPr/>
          </a:p>
        </p:txBody>
      </p:sp>
      <p:sp>
        <p:nvSpPr>
          <p:cNvPr id="104" name="Google Shape;104;p15"/>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15"/>
          <p:cNvSpPr txBox="1"/>
          <p:nvPr/>
        </p:nvSpPr>
        <p:spPr>
          <a:xfrm>
            <a:off x="962025" y="2528887"/>
            <a:ext cx="4730591"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Current Municipal State</a:t>
            </a:r>
            <a:endParaRPr/>
          </a:p>
        </p:txBody>
      </p:sp>
      <p:sp>
        <p:nvSpPr>
          <p:cNvPr id="106" name="Google Shape;106;p15"/>
          <p:cNvSpPr txBox="1"/>
          <p:nvPr/>
        </p:nvSpPr>
        <p:spPr>
          <a:xfrm>
            <a:off x="962025" y="2976562"/>
            <a:ext cx="4505325" cy="18002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Hawassa City currently faces fragmented service delivery across multiple bureaus, resulting in manual workflows, high citizen friction, and opaque paper-based processes. This fragmentation causes significant revenue leakage in land and tax systems and limits executive-level visibility into institutional performance.</a:t>
            </a:r>
            <a:endParaRPr/>
          </a:p>
        </p:txBody>
      </p:sp>
      <p:sp>
        <p:nvSpPr>
          <p:cNvPr id="107" name="Google Shape;107;p15"/>
          <p:cNvSpPr txBox="1"/>
          <p:nvPr/>
        </p:nvSpPr>
        <p:spPr>
          <a:xfrm>
            <a:off x="6724650" y="2657475"/>
            <a:ext cx="4730591"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The MESOB Transformation</a:t>
            </a:r>
            <a:endParaRPr/>
          </a:p>
        </p:txBody>
      </p:sp>
      <p:sp>
        <p:nvSpPr>
          <p:cNvPr id="108" name="Google Shape;108;p15"/>
          <p:cNvSpPr txBox="1"/>
          <p:nvPr/>
        </p:nvSpPr>
        <p:spPr>
          <a:xfrm>
            <a:off x="6724650" y="3105150"/>
            <a:ext cx="4505325" cy="1543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MESOB represents a structural reform platform that centralizes high-impact services, digitizes approval workflows, and establishes secure API-based bureau integration. It acts as an automated revenue engine and sets the scalable data foundation for Hawassa's Smart City evolution.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2" name="Shape 112"/>
        <p:cNvGrpSpPr/>
        <p:nvPr/>
      </p:nvGrpSpPr>
      <p:grpSpPr>
        <a:xfrm>
          <a:off x="0" y="0"/>
          <a:ext cx="0" cy="0"/>
          <a:chOff x="0" y="0"/>
          <a:chExt cx="0" cy="0"/>
        </a:xfrm>
      </p:grpSpPr>
      <p:pic>
        <p:nvPicPr>
          <p:cNvPr descr="image.png" id="113" name="Google Shape;113;p16"/>
          <p:cNvPicPr preferRelativeResize="0"/>
          <p:nvPr/>
        </p:nvPicPr>
        <p:blipFill rotWithShape="1">
          <a:blip r:embed="rId3">
            <a:alphaModFix/>
          </a:blip>
          <a:srcRect b="0" l="0" r="0" t="0"/>
          <a:stretch/>
        </p:blipFill>
        <p:spPr>
          <a:xfrm>
            <a:off x="571500" y="1866900"/>
            <a:ext cx="11049000" cy="3714750"/>
          </a:xfrm>
          <a:prstGeom prst="rect">
            <a:avLst/>
          </a:prstGeom>
          <a:noFill/>
          <a:ln>
            <a:noFill/>
          </a:ln>
        </p:spPr>
      </p:pic>
      <p:sp>
        <p:nvSpPr>
          <p:cNvPr id="114" name="Google Shape;114;p16"/>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Alignment with National Digital Transformation</a:t>
            </a:r>
            <a:endParaRPr/>
          </a:p>
        </p:txBody>
      </p:sp>
      <p:sp>
        <p:nvSpPr>
          <p:cNvPr id="115" name="Google Shape;115;p16"/>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116" name="Google Shape;116;p16"/>
          <p:cNvGraphicFramePr/>
          <p:nvPr/>
        </p:nvGraphicFramePr>
        <p:xfrm>
          <a:off x="581025" y="1876425"/>
          <a:ext cx="3000000" cy="3000000"/>
        </p:xfrm>
        <a:graphic>
          <a:graphicData uri="http://schemas.openxmlformats.org/drawingml/2006/table">
            <a:tbl>
              <a:tblPr bandRow="1" firstRow="1">
                <a:noFill/>
                <a:tableStyleId>{5AC119ED-5815-4C41-8F13-C28447212DCB}</a:tableStyleId>
              </a:tblPr>
              <a:tblGrid>
                <a:gridCol w="5425675"/>
                <a:gridCol w="5604275"/>
              </a:tblGrid>
              <a:tr h="527950">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National Direction (Digital Ethiopia 2030)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Hawassa Implementation Alignment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r>
              <a:tr h="527950">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Interoperability Mandate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API Gateway-based secure bureau integration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7950">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Digital Identity Validation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Token-based Authentication-ready architecture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27950">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Data Sovereignty &amp; Governance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Bureau data ownership retained locally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7950">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Public Service Modernization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Unified citizen-facing front-office service platform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27950">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Smart Government Capabilities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Executive performance dashboards &amp; analytics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7950">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Revenue Digitization Target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Automated payment integration and receipting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117" name="Google Shape;117;p16"/>
          <p:cNvSpPr/>
          <p:nvPr/>
        </p:nvSpPr>
        <p:spPr>
          <a:xfrm>
            <a:off x="581025" y="2366962"/>
            <a:ext cx="54256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16"/>
          <p:cNvSpPr/>
          <p:nvPr/>
        </p:nvSpPr>
        <p:spPr>
          <a:xfrm>
            <a:off x="6006703" y="2366962"/>
            <a:ext cx="56042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16"/>
          <p:cNvSpPr/>
          <p:nvPr/>
        </p:nvSpPr>
        <p:spPr>
          <a:xfrm>
            <a:off x="581025" y="2900362"/>
            <a:ext cx="54256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16"/>
          <p:cNvSpPr/>
          <p:nvPr/>
        </p:nvSpPr>
        <p:spPr>
          <a:xfrm>
            <a:off x="6006703" y="2900362"/>
            <a:ext cx="56042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16"/>
          <p:cNvSpPr/>
          <p:nvPr/>
        </p:nvSpPr>
        <p:spPr>
          <a:xfrm>
            <a:off x="581025" y="3433762"/>
            <a:ext cx="54256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16"/>
          <p:cNvSpPr/>
          <p:nvPr/>
        </p:nvSpPr>
        <p:spPr>
          <a:xfrm>
            <a:off x="6006703" y="3433762"/>
            <a:ext cx="56042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6"/>
          <p:cNvSpPr/>
          <p:nvPr/>
        </p:nvSpPr>
        <p:spPr>
          <a:xfrm>
            <a:off x="581025" y="3967162"/>
            <a:ext cx="54256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6"/>
          <p:cNvSpPr/>
          <p:nvPr/>
        </p:nvSpPr>
        <p:spPr>
          <a:xfrm>
            <a:off x="6006703" y="3967162"/>
            <a:ext cx="56042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16"/>
          <p:cNvSpPr/>
          <p:nvPr/>
        </p:nvSpPr>
        <p:spPr>
          <a:xfrm>
            <a:off x="581025" y="4500562"/>
            <a:ext cx="54256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16"/>
          <p:cNvSpPr/>
          <p:nvPr/>
        </p:nvSpPr>
        <p:spPr>
          <a:xfrm>
            <a:off x="6006703" y="4500562"/>
            <a:ext cx="56042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16"/>
          <p:cNvSpPr/>
          <p:nvPr/>
        </p:nvSpPr>
        <p:spPr>
          <a:xfrm>
            <a:off x="581025" y="5033962"/>
            <a:ext cx="54256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16"/>
          <p:cNvSpPr/>
          <p:nvPr/>
        </p:nvSpPr>
        <p:spPr>
          <a:xfrm>
            <a:off x="6006703" y="5033962"/>
            <a:ext cx="56042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2" name="Shape 132"/>
        <p:cNvGrpSpPr/>
        <p:nvPr/>
      </p:nvGrpSpPr>
      <p:grpSpPr>
        <a:xfrm>
          <a:off x="0" y="0"/>
          <a:ext cx="0" cy="0"/>
          <a:chOff x="0" y="0"/>
          <a:chExt cx="0" cy="0"/>
        </a:xfrm>
      </p:grpSpPr>
      <p:pic>
        <p:nvPicPr>
          <p:cNvPr descr="image.png" id="133" name="Google Shape;133;p17"/>
          <p:cNvPicPr preferRelativeResize="0"/>
          <p:nvPr/>
        </p:nvPicPr>
        <p:blipFill rotWithShape="1">
          <a:blip r:embed="rId3">
            <a:alphaModFix/>
          </a:blip>
          <a:srcRect b="0" l="0" r="0" t="0"/>
          <a:stretch/>
        </p:blipFill>
        <p:spPr>
          <a:xfrm>
            <a:off x="571500" y="2190750"/>
            <a:ext cx="3492549" cy="3067050"/>
          </a:xfrm>
          <a:prstGeom prst="rect">
            <a:avLst/>
          </a:prstGeom>
          <a:noFill/>
          <a:ln>
            <a:noFill/>
          </a:ln>
        </p:spPr>
      </p:pic>
      <p:pic>
        <p:nvPicPr>
          <p:cNvPr descr="image.png" id="134" name="Google Shape;134;p17"/>
          <p:cNvPicPr preferRelativeResize="0"/>
          <p:nvPr/>
        </p:nvPicPr>
        <p:blipFill rotWithShape="1">
          <a:blip r:embed="rId4">
            <a:alphaModFix/>
          </a:blip>
          <a:srcRect b="0" l="0" r="0" t="0"/>
          <a:stretch/>
        </p:blipFill>
        <p:spPr>
          <a:xfrm>
            <a:off x="4349799" y="2190750"/>
            <a:ext cx="3492549" cy="3067050"/>
          </a:xfrm>
          <a:prstGeom prst="rect">
            <a:avLst/>
          </a:prstGeom>
          <a:noFill/>
          <a:ln>
            <a:noFill/>
          </a:ln>
        </p:spPr>
      </p:pic>
      <p:pic>
        <p:nvPicPr>
          <p:cNvPr descr="image.png" id="135" name="Google Shape;135;p17"/>
          <p:cNvPicPr preferRelativeResize="0"/>
          <p:nvPr/>
        </p:nvPicPr>
        <p:blipFill rotWithShape="1">
          <a:blip r:embed="rId5">
            <a:alphaModFix/>
          </a:blip>
          <a:srcRect b="0" l="0" r="0" t="0"/>
          <a:stretch/>
        </p:blipFill>
        <p:spPr>
          <a:xfrm>
            <a:off x="8128099" y="2190750"/>
            <a:ext cx="3492549" cy="3067050"/>
          </a:xfrm>
          <a:prstGeom prst="rect">
            <a:avLst/>
          </a:prstGeom>
          <a:noFill/>
          <a:ln>
            <a:noFill/>
          </a:ln>
        </p:spPr>
      </p:pic>
      <p:sp>
        <p:nvSpPr>
          <p:cNvPr id="136" name="Google Shape;136;p17"/>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What Success Looks Like in 3 Years</a:t>
            </a:r>
            <a:endParaRPr/>
          </a:p>
        </p:txBody>
      </p:sp>
      <p:sp>
        <p:nvSpPr>
          <p:cNvPr id="137" name="Google Shape;137;p17"/>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38" name="Google Shape;138;p17"/>
          <p:cNvPicPr preferRelativeResize="0"/>
          <p:nvPr/>
        </p:nvPicPr>
        <p:blipFill rotWithShape="1">
          <a:blip r:embed="rId6">
            <a:alphaModFix/>
          </a:blip>
          <a:srcRect b="0" l="0" r="0" t="0"/>
          <a:stretch/>
        </p:blipFill>
        <p:spPr>
          <a:xfrm>
            <a:off x="866775" y="2486025"/>
            <a:ext cx="666750" cy="666750"/>
          </a:xfrm>
          <a:prstGeom prst="rect">
            <a:avLst/>
          </a:prstGeom>
          <a:noFill/>
          <a:ln>
            <a:noFill/>
          </a:ln>
        </p:spPr>
      </p:pic>
      <p:sp>
        <p:nvSpPr>
          <p:cNvPr id="139" name="Google Shape;139;p17"/>
          <p:cNvSpPr txBox="1"/>
          <p:nvPr/>
        </p:nvSpPr>
        <p:spPr>
          <a:xfrm>
            <a:off x="866775" y="3343275"/>
            <a:ext cx="1330166"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Efficiency</a:t>
            </a:r>
            <a:endParaRPr/>
          </a:p>
        </p:txBody>
      </p:sp>
      <p:sp>
        <p:nvSpPr>
          <p:cNvPr id="140" name="Google Shape;140;p17"/>
          <p:cNvSpPr txBox="1"/>
          <p:nvPr/>
        </p:nvSpPr>
        <p:spPr>
          <a:xfrm>
            <a:off x="866775" y="3790950"/>
            <a:ext cx="2901999"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Visible reduction in queue times and 70% reduction in manual file movement through end-to-end digitized approval workflows.</a:t>
            </a:r>
            <a:endParaRPr/>
          </a:p>
        </p:txBody>
      </p:sp>
      <p:pic>
        <p:nvPicPr>
          <p:cNvPr descr="image.png" id="141" name="Google Shape;141;p17"/>
          <p:cNvPicPr preferRelativeResize="0"/>
          <p:nvPr/>
        </p:nvPicPr>
        <p:blipFill rotWithShape="1">
          <a:blip r:embed="rId7">
            <a:alphaModFix/>
          </a:blip>
          <a:srcRect b="0" l="0" r="0" t="0"/>
          <a:stretch/>
        </p:blipFill>
        <p:spPr>
          <a:xfrm>
            <a:off x="4645074" y="2486025"/>
            <a:ext cx="666750" cy="666750"/>
          </a:xfrm>
          <a:prstGeom prst="rect">
            <a:avLst/>
          </a:prstGeom>
          <a:noFill/>
          <a:ln>
            <a:noFill/>
          </a:ln>
        </p:spPr>
      </p:pic>
      <p:sp>
        <p:nvSpPr>
          <p:cNvPr id="142" name="Google Shape;142;p17"/>
          <p:cNvSpPr txBox="1"/>
          <p:nvPr/>
        </p:nvSpPr>
        <p:spPr>
          <a:xfrm>
            <a:off x="4645074" y="3343275"/>
            <a:ext cx="1190148"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Revenue</a:t>
            </a:r>
            <a:endParaRPr/>
          </a:p>
        </p:txBody>
      </p:sp>
      <p:sp>
        <p:nvSpPr>
          <p:cNvPr id="143" name="Google Shape;143;p17"/>
          <p:cNvSpPr txBox="1"/>
          <p:nvPr/>
        </p:nvSpPr>
        <p:spPr>
          <a:xfrm>
            <a:off x="4645074" y="3790950"/>
            <a:ext cx="2901999"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Direct digital payment integration leading to automatic reconciliation, reduced leakage, and stabilized recurring municipal revenue.</a:t>
            </a:r>
            <a:endParaRPr/>
          </a:p>
        </p:txBody>
      </p:sp>
      <p:pic>
        <p:nvPicPr>
          <p:cNvPr descr="image.png" id="144" name="Google Shape;144;p17"/>
          <p:cNvPicPr preferRelativeResize="0"/>
          <p:nvPr/>
        </p:nvPicPr>
        <p:blipFill rotWithShape="1">
          <a:blip r:embed="rId8">
            <a:alphaModFix/>
          </a:blip>
          <a:srcRect b="0" l="0" r="0" t="0"/>
          <a:stretch/>
        </p:blipFill>
        <p:spPr>
          <a:xfrm>
            <a:off x="8423374" y="2486025"/>
            <a:ext cx="666750" cy="666750"/>
          </a:xfrm>
          <a:prstGeom prst="rect">
            <a:avLst/>
          </a:prstGeom>
          <a:noFill/>
          <a:ln>
            <a:noFill/>
          </a:ln>
        </p:spPr>
      </p:pic>
      <p:sp>
        <p:nvSpPr>
          <p:cNvPr id="145" name="Google Shape;145;p17"/>
          <p:cNvSpPr txBox="1"/>
          <p:nvPr/>
        </p:nvSpPr>
        <p:spPr>
          <a:xfrm>
            <a:off x="8423374" y="3343275"/>
            <a:ext cx="1630203"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Governance</a:t>
            </a:r>
            <a:endParaRPr/>
          </a:p>
        </p:txBody>
      </p:sp>
      <p:sp>
        <p:nvSpPr>
          <p:cNvPr id="146" name="Google Shape;146;p17"/>
          <p:cNvSpPr txBox="1"/>
          <p:nvPr/>
        </p:nvSpPr>
        <p:spPr>
          <a:xfrm>
            <a:off x="8423374" y="3790950"/>
            <a:ext cx="2901999"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Complete audit trail preservation, strict SLA compliance monitoring, and real-time dashboard visibility for the Mayor's Office.</a:t>
            </a:r>
            <a:endParaRPr/>
          </a:p>
        </p:txBody>
      </p:sp>
      <p:pic>
        <p:nvPicPr>
          <p:cNvPr descr="image.png" id="147" name="Google Shape;147;p17"/>
          <p:cNvPicPr preferRelativeResize="0"/>
          <p:nvPr/>
        </p:nvPicPr>
        <p:blipFill rotWithShape="1">
          <a:blip r:embed="rId9">
            <a:alphaModFix/>
          </a:blip>
          <a:srcRect b="0" l="0" r="0" t="0"/>
          <a:stretch/>
        </p:blipFill>
        <p:spPr>
          <a:xfrm>
            <a:off x="1028700" y="2647950"/>
            <a:ext cx="342900" cy="342900"/>
          </a:xfrm>
          <a:prstGeom prst="rect">
            <a:avLst/>
          </a:prstGeom>
          <a:noFill/>
          <a:ln>
            <a:noFill/>
          </a:ln>
        </p:spPr>
      </p:pic>
      <p:pic>
        <p:nvPicPr>
          <p:cNvPr descr="image.png" id="148" name="Google Shape;148;p17"/>
          <p:cNvPicPr preferRelativeResize="0"/>
          <p:nvPr/>
        </p:nvPicPr>
        <p:blipFill rotWithShape="1">
          <a:blip r:embed="rId10">
            <a:alphaModFix/>
          </a:blip>
          <a:srcRect b="0" l="0" r="0" t="0"/>
          <a:stretch/>
        </p:blipFill>
        <p:spPr>
          <a:xfrm>
            <a:off x="4806999" y="2647950"/>
            <a:ext cx="342900" cy="342900"/>
          </a:xfrm>
          <a:prstGeom prst="rect">
            <a:avLst/>
          </a:prstGeom>
          <a:noFill/>
          <a:ln>
            <a:noFill/>
          </a:ln>
        </p:spPr>
      </p:pic>
      <p:pic>
        <p:nvPicPr>
          <p:cNvPr descr="image.png" id="149" name="Google Shape;149;p17"/>
          <p:cNvPicPr preferRelativeResize="0"/>
          <p:nvPr/>
        </p:nvPicPr>
        <p:blipFill rotWithShape="1">
          <a:blip r:embed="rId11">
            <a:alphaModFix/>
          </a:blip>
          <a:srcRect b="0" l="0" r="0" t="0"/>
          <a:stretch/>
        </p:blipFill>
        <p:spPr>
          <a:xfrm>
            <a:off x="8585299" y="2647950"/>
            <a:ext cx="342900" cy="342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3" name="Shape 153"/>
        <p:cNvGrpSpPr/>
        <p:nvPr/>
      </p:nvGrpSpPr>
      <p:grpSpPr>
        <a:xfrm>
          <a:off x="0" y="0"/>
          <a:ext cx="0" cy="0"/>
          <a:chOff x="0" y="0"/>
          <a:chExt cx="0" cy="0"/>
        </a:xfrm>
      </p:grpSpPr>
      <p:pic>
        <p:nvPicPr>
          <p:cNvPr descr="image.png" id="154" name="Google Shape;154;p18"/>
          <p:cNvPicPr preferRelativeResize="0"/>
          <p:nvPr/>
        </p:nvPicPr>
        <p:blipFill rotWithShape="1">
          <a:blip r:embed="rId3">
            <a:alphaModFix/>
          </a:blip>
          <a:srcRect b="0" l="0" r="0" t="0"/>
          <a:stretch/>
        </p:blipFill>
        <p:spPr>
          <a:xfrm>
            <a:off x="6334125" y="1819275"/>
            <a:ext cx="5286375" cy="3810000"/>
          </a:xfrm>
          <a:prstGeom prst="rect">
            <a:avLst/>
          </a:prstGeom>
          <a:noFill/>
          <a:ln>
            <a:noFill/>
          </a:ln>
        </p:spPr>
      </p:pic>
      <p:sp>
        <p:nvSpPr>
          <p:cNvPr id="155" name="Google Shape;155;p18"/>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MESOB Governance Model</a:t>
            </a:r>
            <a:endParaRPr/>
          </a:p>
        </p:txBody>
      </p:sp>
      <p:sp>
        <p:nvSpPr>
          <p:cNvPr id="156" name="Google Shape;156;p18"/>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8"/>
          <p:cNvSpPr txBox="1"/>
          <p:nvPr/>
        </p:nvSpPr>
        <p:spPr>
          <a:xfrm>
            <a:off x="571500" y="1524000"/>
            <a:ext cx="52863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475569"/>
                </a:solidFill>
                <a:latin typeface="Inter"/>
                <a:ea typeface="Inter"/>
                <a:cs typeface="Inter"/>
                <a:sym typeface="Inter"/>
              </a:rPr>
              <a:t>Hawassa's MESOB implementation is a formally aligned extension of the national digital governance framework.</a:t>
            </a:r>
            <a:endParaRPr/>
          </a:p>
        </p:txBody>
      </p:sp>
      <p:pic>
        <p:nvPicPr>
          <p:cNvPr descr="image.png" id="158" name="Google Shape;158;p18"/>
          <p:cNvPicPr preferRelativeResize="0"/>
          <p:nvPr/>
        </p:nvPicPr>
        <p:blipFill rotWithShape="1">
          <a:blip r:embed="rId4">
            <a:alphaModFix/>
          </a:blip>
          <a:srcRect b="0" l="0" r="0" t="0"/>
          <a:stretch/>
        </p:blipFill>
        <p:spPr>
          <a:xfrm>
            <a:off x="6343650" y="1828800"/>
            <a:ext cx="5267325" cy="3790950"/>
          </a:xfrm>
          <a:prstGeom prst="rect">
            <a:avLst/>
          </a:prstGeom>
          <a:noFill/>
          <a:ln>
            <a:noFill/>
          </a:ln>
        </p:spPr>
      </p:pic>
      <p:sp>
        <p:nvSpPr>
          <p:cNvPr id="159" name="Google Shape;159;p18"/>
          <p:cNvSpPr txBox="1"/>
          <p:nvPr/>
        </p:nvSpPr>
        <p:spPr>
          <a:xfrm>
            <a:off x="1000125" y="2228850"/>
            <a:ext cx="4857750" cy="1104900"/>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None/>
            </a:pPr>
            <a:r>
              <a:rPr b="1" i="0" lang="en-US" sz="1350" u="none" cap="none" strike="noStrike">
                <a:solidFill>
                  <a:srgbClr val="0F2C59"/>
                </a:solidFill>
                <a:latin typeface="Inter"/>
                <a:ea typeface="Inter"/>
                <a:cs typeface="Inter"/>
                <a:sym typeface="Inter"/>
              </a:rPr>
              <a:t>Decentralized Data Ownership</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0F172A"/>
                </a:solidFill>
                <a:latin typeface="Inter"/>
                <a:ea typeface="Inter"/>
                <a:cs typeface="Inter"/>
                <a:sym typeface="Inter"/>
              </a:rPr>
              <a:t> Every bureau maintains ownership of its own domain data without direct database sharing.</a:t>
            </a:r>
            <a:endParaRPr/>
          </a:p>
        </p:txBody>
      </p:sp>
      <p:sp>
        <p:nvSpPr>
          <p:cNvPr id="160" name="Google Shape;160;p18"/>
          <p:cNvSpPr txBox="1"/>
          <p:nvPr/>
        </p:nvSpPr>
        <p:spPr>
          <a:xfrm>
            <a:off x="1000125" y="3524250"/>
            <a:ext cx="4857750" cy="1104900"/>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None/>
            </a:pPr>
            <a:r>
              <a:rPr b="1" i="0" lang="en-US" sz="1350" u="none" cap="none" strike="noStrike">
                <a:solidFill>
                  <a:srgbClr val="0F2C59"/>
                </a:solidFill>
                <a:latin typeface="Inter"/>
                <a:ea typeface="Inter"/>
                <a:cs typeface="Inter"/>
                <a:sym typeface="Inter"/>
              </a:rPr>
              <a:t>Centralized Orchestration</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0F172A"/>
                </a:solidFill>
                <a:latin typeface="Inter"/>
                <a:ea typeface="Inter"/>
                <a:cs typeface="Inter"/>
                <a:sym typeface="Inter"/>
              </a:rPr>
              <a:t> Controlled interoperability via a central local API Gateway with full audit traceability.</a:t>
            </a:r>
            <a:endParaRPr/>
          </a:p>
        </p:txBody>
      </p:sp>
      <p:sp>
        <p:nvSpPr>
          <p:cNvPr id="161" name="Google Shape;161;p18"/>
          <p:cNvSpPr txBox="1"/>
          <p:nvPr/>
        </p:nvSpPr>
        <p:spPr>
          <a:xfrm>
            <a:off x="1000125" y="4819650"/>
            <a:ext cx="4857750" cy="1104900"/>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None/>
            </a:pPr>
            <a:r>
              <a:rPr b="1" i="0" lang="en-US" sz="1350" u="none" cap="none" strike="noStrike">
                <a:solidFill>
                  <a:srgbClr val="0F2C59"/>
                </a:solidFill>
                <a:latin typeface="Inter"/>
                <a:ea typeface="Inter"/>
                <a:cs typeface="Inter"/>
                <a:sym typeface="Inter"/>
              </a:rPr>
              <a:t>National Mesh Integration</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0F172A"/>
                </a:solidFill>
                <a:latin typeface="Inter"/>
                <a:ea typeface="Inter"/>
                <a:cs typeface="Inter"/>
                <a:sym typeface="Inter"/>
              </a:rPr>
              <a:t> Secure linkage to the Federal API Gateway, ensuring regulatory compliance and standardized reporting.</a:t>
            </a:r>
            <a:endParaRPr/>
          </a:p>
        </p:txBody>
      </p:sp>
      <p:pic>
        <p:nvPicPr>
          <p:cNvPr descr="image.png" id="162" name="Google Shape;162;p18"/>
          <p:cNvPicPr preferRelativeResize="0"/>
          <p:nvPr/>
        </p:nvPicPr>
        <p:blipFill rotWithShape="1">
          <a:blip r:embed="rId5">
            <a:alphaModFix/>
          </a:blip>
          <a:srcRect b="0" l="0" r="0" t="0"/>
          <a:stretch/>
        </p:blipFill>
        <p:spPr>
          <a:xfrm>
            <a:off x="571500" y="2238375"/>
            <a:ext cx="285750" cy="247650"/>
          </a:xfrm>
          <a:prstGeom prst="rect">
            <a:avLst/>
          </a:prstGeom>
          <a:noFill/>
          <a:ln>
            <a:noFill/>
          </a:ln>
        </p:spPr>
      </p:pic>
      <p:pic>
        <p:nvPicPr>
          <p:cNvPr descr="image.png" id="163" name="Google Shape;163;p18"/>
          <p:cNvPicPr preferRelativeResize="0"/>
          <p:nvPr/>
        </p:nvPicPr>
        <p:blipFill rotWithShape="1">
          <a:blip r:embed="rId6">
            <a:alphaModFix/>
          </a:blip>
          <a:srcRect b="0" l="0" r="0" t="0"/>
          <a:stretch/>
        </p:blipFill>
        <p:spPr>
          <a:xfrm>
            <a:off x="571500" y="3533775"/>
            <a:ext cx="257175" cy="247650"/>
          </a:xfrm>
          <a:prstGeom prst="rect">
            <a:avLst/>
          </a:prstGeom>
          <a:noFill/>
          <a:ln>
            <a:noFill/>
          </a:ln>
        </p:spPr>
      </p:pic>
      <p:pic>
        <p:nvPicPr>
          <p:cNvPr descr="image.png" id="164" name="Google Shape;164;p18"/>
          <p:cNvPicPr preferRelativeResize="0"/>
          <p:nvPr/>
        </p:nvPicPr>
        <p:blipFill rotWithShape="1">
          <a:blip r:embed="rId7">
            <a:alphaModFix/>
          </a:blip>
          <a:srcRect b="0" l="0" r="0" t="0"/>
          <a:stretch/>
        </p:blipFill>
        <p:spPr>
          <a:xfrm>
            <a:off x="571500" y="4829175"/>
            <a:ext cx="228600" cy="247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68" name="Shape 168"/>
        <p:cNvGrpSpPr/>
        <p:nvPr/>
      </p:nvGrpSpPr>
      <p:grpSpPr>
        <a:xfrm>
          <a:off x="0" y="0"/>
          <a:ext cx="0" cy="0"/>
          <a:chOff x="0" y="0"/>
          <a:chExt cx="0" cy="0"/>
        </a:xfrm>
      </p:grpSpPr>
      <p:sp>
        <p:nvSpPr>
          <p:cNvPr id="169" name="Google Shape;169;p19"/>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Executive Decision Points Required</a:t>
            </a:r>
            <a:endParaRPr/>
          </a:p>
        </p:txBody>
      </p:sp>
      <p:sp>
        <p:nvSpPr>
          <p:cNvPr id="170" name="Google Shape;170;p19"/>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9"/>
          <p:cNvSpPr txBox="1"/>
          <p:nvPr/>
        </p:nvSpPr>
        <p:spPr>
          <a:xfrm>
            <a:off x="1000125" y="1485900"/>
            <a:ext cx="10620375" cy="847725"/>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None/>
            </a:pPr>
            <a:r>
              <a:rPr b="1" i="0" lang="en-US" sz="1350" u="none" cap="none" strike="noStrike">
                <a:solidFill>
                  <a:srgbClr val="0F2C59"/>
                </a:solidFill>
                <a:latin typeface="Inter"/>
                <a:ea typeface="Inter"/>
                <a:cs typeface="Inter"/>
                <a:sym typeface="Inter"/>
              </a:rPr>
              <a:t>Issue Mayoral Executive Directive</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0F172A"/>
                </a:solidFill>
                <a:latin typeface="Inter"/>
                <a:ea typeface="Inter"/>
                <a:cs typeface="Inter"/>
                <a:sym typeface="Inter"/>
              </a:rPr>
              <a:t> Formally recognize MESOB as the official integrated service channel and mandate API-based integration for all identified bureaus.</a:t>
            </a:r>
            <a:endParaRPr/>
          </a:p>
        </p:txBody>
      </p:sp>
      <p:sp>
        <p:nvSpPr>
          <p:cNvPr id="172" name="Google Shape;172;p19"/>
          <p:cNvSpPr txBox="1"/>
          <p:nvPr/>
        </p:nvSpPr>
        <p:spPr>
          <a:xfrm>
            <a:off x="1000125" y="2524125"/>
            <a:ext cx="10620375" cy="1104900"/>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None/>
            </a:pPr>
            <a:r>
              <a:rPr b="1" i="0" lang="en-US" sz="1350" u="none" cap="none" strike="noStrike">
                <a:solidFill>
                  <a:srgbClr val="0F2C59"/>
                </a:solidFill>
                <a:latin typeface="Inter"/>
                <a:ea typeface="Inter"/>
                <a:cs typeface="Inter"/>
                <a:sym typeface="Inter"/>
              </a:rPr>
              <a:t>Establish Steering Committee</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0F172A"/>
                </a:solidFill>
                <a:latin typeface="Inter"/>
                <a:ea typeface="Inter"/>
                <a:cs typeface="Inter"/>
                <a:sym typeface="Inter"/>
              </a:rPr>
              <a:t> Appoint a Mayor-led Steering Committee with a defined charter to oversee integration progress, resolve disputes, and enforce SLA commitments.</a:t>
            </a:r>
            <a:endParaRPr/>
          </a:p>
        </p:txBody>
      </p:sp>
      <p:sp>
        <p:nvSpPr>
          <p:cNvPr id="173" name="Google Shape;173;p19"/>
          <p:cNvSpPr txBox="1"/>
          <p:nvPr/>
        </p:nvSpPr>
        <p:spPr>
          <a:xfrm>
            <a:off x="1000125" y="3819525"/>
            <a:ext cx="10620375" cy="1104900"/>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None/>
            </a:pPr>
            <a:r>
              <a:rPr b="1" i="0" lang="en-US" sz="1350" u="none" cap="none" strike="noStrike">
                <a:solidFill>
                  <a:srgbClr val="0F2C59"/>
                </a:solidFill>
                <a:latin typeface="Inter"/>
                <a:ea typeface="Inter"/>
                <a:cs typeface="Inter"/>
                <a:sym typeface="Inter"/>
              </a:rPr>
              <a:t>Clarify Vendor Scope &amp; API Responsibility</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0F172A"/>
                </a:solidFill>
                <a:latin typeface="Inter"/>
                <a:ea typeface="Inter"/>
                <a:cs typeface="Inter"/>
                <a:sym typeface="Inter"/>
              </a:rPr>
              <a:t> Ensure Ethio Telecom (or selected vendor) contracts explicitly detail responsibility for API wrapper development and Category B backend creation.</a:t>
            </a:r>
            <a:endParaRPr/>
          </a:p>
        </p:txBody>
      </p:sp>
      <p:sp>
        <p:nvSpPr>
          <p:cNvPr id="174" name="Google Shape;174;p19"/>
          <p:cNvSpPr txBox="1"/>
          <p:nvPr/>
        </p:nvSpPr>
        <p:spPr>
          <a:xfrm>
            <a:off x="1000125" y="5114925"/>
            <a:ext cx="10620375" cy="847725"/>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None/>
            </a:pPr>
            <a:r>
              <a:rPr b="1" i="0" lang="en-US" sz="1350" u="none" cap="none" strike="noStrike">
                <a:solidFill>
                  <a:srgbClr val="0F2C59"/>
                </a:solidFill>
                <a:latin typeface="Inter"/>
                <a:ea typeface="Inter"/>
                <a:cs typeface="Inter"/>
                <a:sym typeface="Inter"/>
              </a:rPr>
              <a:t>Enforce Digital-Only Policy</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0F172A"/>
                </a:solidFill>
                <a:latin typeface="Inter"/>
                <a:ea typeface="Inter"/>
                <a:cs typeface="Inter"/>
                <a:sym typeface="Inter"/>
              </a:rPr>
              <a:t> Mandate that parallel manual processing is prohibited for Phase 1 services post-launch to eliminate informal bypass attempts.</a:t>
            </a:r>
            <a:endParaRPr/>
          </a:p>
        </p:txBody>
      </p:sp>
      <p:pic>
        <p:nvPicPr>
          <p:cNvPr descr="image.png" id="175" name="Google Shape;175;p19"/>
          <p:cNvPicPr preferRelativeResize="0"/>
          <p:nvPr/>
        </p:nvPicPr>
        <p:blipFill rotWithShape="1">
          <a:blip r:embed="rId3">
            <a:alphaModFix/>
          </a:blip>
          <a:srcRect b="0" l="0" r="0" t="0"/>
          <a:stretch/>
        </p:blipFill>
        <p:spPr>
          <a:xfrm>
            <a:off x="571500" y="1495425"/>
            <a:ext cx="257175" cy="247650"/>
          </a:xfrm>
          <a:prstGeom prst="rect">
            <a:avLst/>
          </a:prstGeom>
          <a:noFill/>
          <a:ln>
            <a:noFill/>
          </a:ln>
        </p:spPr>
      </p:pic>
      <p:pic>
        <p:nvPicPr>
          <p:cNvPr descr="image.png" id="176" name="Google Shape;176;p19"/>
          <p:cNvPicPr preferRelativeResize="0"/>
          <p:nvPr/>
        </p:nvPicPr>
        <p:blipFill rotWithShape="1">
          <a:blip r:embed="rId4">
            <a:alphaModFix/>
          </a:blip>
          <a:srcRect b="0" l="0" r="0" t="0"/>
          <a:stretch/>
        </p:blipFill>
        <p:spPr>
          <a:xfrm>
            <a:off x="571500" y="2533650"/>
            <a:ext cx="285750" cy="247650"/>
          </a:xfrm>
          <a:prstGeom prst="rect">
            <a:avLst/>
          </a:prstGeom>
          <a:noFill/>
          <a:ln>
            <a:noFill/>
          </a:ln>
        </p:spPr>
      </p:pic>
      <p:pic>
        <p:nvPicPr>
          <p:cNvPr descr="image.png" id="177" name="Google Shape;177;p19"/>
          <p:cNvPicPr preferRelativeResize="0"/>
          <p:nvPr/>
        </p:nvPicPr>
        <p:blipFill rotWithShape="1">
          <a:blip r:embed="rId5">
            <a:alphaModFix/>
          </a:blip>
          <a:srcRect b="0" l="0" r="0" t="0"/>
          <a:stretch/>
        </p:blipFill>
        <p:spPr>
          <a:xfrm>
            <a:off x="571500" y="3829050"/>
            <a:ext cx="171450" cy="247650"/>
          </a:xfrm>
          <a:prstGeom prst="rect">
            <a:avLst/>
          </a:prstGeom>
          <a:noFill/>
          <a:ln>
            <a:noFill/>
          </a:ln>
        </p:spPr>
      </p:pic>
      <p:pic>
        <p:nvPicPr>
          <p:cNvPr descr="image.png" id="178" name="Google Shape;178;p19"/>
          <p:cNvPicPr preferRelativeResize="0"/>
          <p:nvPr/>
        </p:nvPicPr>
        <p:blipFill rotWithShape="1">
          <a:blip r:embed="rId6">
            <a:alphaModFix/>
          </a:blip>
          <a:srcRect b="0" l="0" r="0" t="0"/>
          <a:stretch/>
        </p:blipFill>
        <p:spPr>
          <a:xfrm>
            <a:off x="571500" y="5124450"/>
            <a:ext cx="200025" cy="247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image.png" id="183" name="Google Shape;183;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4" name="Google Shape;184;p20"/>
          <p:cNvSpPr/>
          <p:nvPr/>
        </p:nvSpPr>
        <p:spPr>
          <a:xfrm>
            <a:off x="5715000" y="2886075"/>
            <a:ext cx="762000" cy="3810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20"/>
          <p:cNvSpPr txBox="1"/>
          <p:nvPr/>
        </p:nvSpPr>
        <p:spPr>
          <a:xfrm>
            <a:off x="2473047" y="3209925"/>
            <a:ext cx="7245905"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8FAFC"/>
                </a:solidFill>
                <a:latin typeface="Montserrat"/>
                <a:ea typeface="Montserrat"/>
                <a:cs typeface="Montserrat"/>
                <a:sym typeface="Montserrat"/>
              </a:rPr>
              <a:t>Phase II: Priority Services</a:t>
            </a:r>
            <a:endParaRPr/>
          </a:p>
        </p:txBody>
      </p:sp>
      <p:sp>
        <p:nvSpPr>
          <p:cNvPr id="186" name="Google Shape;186;p20"/>
          <p:cNvSpPr txBox="1"/>
          <p:nvPr/>
        </p:nvSpPr>
        <p:spPr>
          <a:xfrm>
            <a:off x="3962400" y="3857625"/>
            <a:ext cx="4267200" cy="2571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F8FAFC"/>
                </a:solidFill>
                <a:latin typeface="Inter"/>
                <a:ea typeface="Inter"/>
                <a:cs typeface="Inter"/>
                <a:sym typeface="Inter"/>
              </a:rPr>
              <a:t>Phase 1 Operational Blueprint &amp; Integration Priorities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0" name="Shape 190"/>
        <p:cNvGrpSpPr/>
        <p:nvPr/>
      </p:nvGrpSpPr>
      <p:grpSpPr>
        <a:xfrm>
          <a:off x="0" y="0"/>
          <a:ext cx="0" cy="0"/>
          <a:chOff x="0" y="0"/>
          <a:chExt cx="0" cy="0"/>
        </a:xfrm>
      </p:grpSpPr>
      <p:pic>
        <p:nvPicPr>
          <p:cNvPr descr="image.png" id="191" name="Google Shape;191;p21"/>
          <p:cNvPicPr preferRelativeResize="0"/>
          <p:nvPr/>
        </p:nvPicPr>
        <p:blipFill rotWithShape="1">
          <a:blip r:embed="rId3">
            <a:alphaModFix/>
          </a:blip>
          <a:srcRect b="0" l="0" r="0" t="0"/>
          <a:stretch/>
        </p:blipFill>
        <p:spPr>
          <a:xfrm>
            <a:off x="571500" y="2038350"/>
            <a:ext cx="3492549" cy="3371850"/>
          </a:xfrm>
          <a:prstGeom prst="rect">
            <a:avLst/>
          </a:prstGeom>
          <a:noFill/>
          <a:ln>
            <a:noFill/>
          </a:ln>
        </p:spPr>
      </p:pic>
      <p:pic>
        <p:nvPicPr>
          <p:cNvPr descr="image.png" id="192" name="Google Shape;192;p21"/>
          <p:cNvPicPr preferRelativeResize="0"/>
          <p:nvPr/>
        </p:nvPicPr>
        <p:blipFill rotWithShape="1">
          <a:blip r:embed="rId4">
            <a:alphaModFix/>
          </a:blip>
          <a:srcRect b="0" l="0" r="0" t="0"/>
          <a:stretch/>
        </p:blipFill>
        <p:spPr>
          <a:xfrm>
            <a:off x="4349799" y="2038350"/>
            <a:ext cx="3492549" cy="3371850"/>
          </a:xfrm>
          <a:prstGeom prst="rect">
            <a:avLst/>
          </a:prstGeom>
          <a:noFill/>
          <a:ln>
            <a:noFill/>
          </a:ln>
        </p:spPr>
      </p:pic>
      <p:pic>
        <p:nvPicPr>
          <p:cNvPr descr="image.png" id="193" name="Google Shape;193;p21"/>
          <p:cNvPicPr preferRelativeResize="0"/>
          <p:nvPr/>
        </p:nvPicPr>
        <p:blipFill rotWithShape="1">
          <a:blip r:embed="rId5">
            <a:alphaModFix/>
          </a:blip>
          <a:srcRect b="0" l="0" r="0" t="0"/>
          <a:stretch/>
        </p:blipFill>
        <p:spPr>
          <a:xfrm>
            <a:off x="8128099" y="2038350"/>
            <a:ext cx="3492549" cy="3371850"/>
          </a:xfrm>
          <a:prstGeom prst="rect">
            <a:avLst/>
          </a:prstGeom>
          <a:noFill/>
          <a:ln>
            <a:noFill/>
          </a:ln>
        </p:spPr>
      </p:pic>
      <p:sp>
        <p:nvSpPr>
          <p:cNvPr id="194" name="Google Shape;194;p21"/>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Phase 1 Service Selection Criteria</a:t>
            </a:r>
            <a:endParaRPr/>
          </a:p>
        </p:txBody>
      </p:sp>
      <p:sp>
        <p:nvSpPr>
          <p:cNvPr id="195" name="Google Shape;195;p21"/>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96" name="Google Shape;196;p21"/>
          <p:cNvPicPr preferRelativeResize="0"/>
          <p:nvPr/>
        </p:nvPicPr>
        <p:blipFill rotWithShape="1">
          <a:blip r:embed="rId6">
            <a:alphaModFix/>
          </a:blip>
          <a:srcRect b="0" l="0" r="0" t="0"/>
          <a:stretch/>
        </p:blipFill>
        <p:spPr>
          <a:xfrm>
            <a:off x="866775" y="2333625"/>
            <a:ext cx="666750" cy="666750"/>
          </a:xfrm>
          <a:prstGeom prst="rect">
            <a:avLst/>
          </a:prstGeom>
          <a:noFill/>
          <a:ln>
            <a:noFill/>
          </a:ln>
        </p:spPr>
      </p:pic>
      <p:sp>
        <p:nvSpPr>
          <p:cNvPr id="197" name="Google Shape;197;p21"/>
          <p:cNvSpPr txBox="1"/>
          <p:nvPr/>
        </p:nvSpPr>
        <p:spPr>
          <a:xfrm>
            <a:off x="866775" y="3190875"/>
            <a:ext cx="3020377"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Revenue Impact (30%)</a:t>
            </a:r>
            <a:endParaRPr/>
          </a:p>
        </p:txBody>
      </p:sp>
      <p:sp>
        <p:nvSpPr>
          <p:cNvPr id="198" name="Google Shape;198;p21"/>
          <p:cNvSpPr txBox="1"/>
          <p:nvPr/>
        </p:nvSpPr>
        <p:spPr>
          <a:xfrm>
            <a:off x="866775" y="3638550"/>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Prioritizing services that directly generate municipal income or manage significant financial transactions (e.g., Lease Transfers, Tax Payments).</a:t>
            </a:r>
            <a:endParaRPr/>
          </a:p>
        </p:txBody>
      </p:sp>
      <p:pic>
        <p:nvPicPr>
          <p:cNvPr descr="image.png" id="199" name="Google Shape;199;p21"/>
          <p:cNvPicPr preferRelativeResize="0"/>
          <p:nvPr/>
        </p:nvPicPr>
        <p:blipFill rotWithShape="1">
          <a:blip r:embed="rId7">
            <a:alphaModFix/>
          </a:blip>
          <a:srcRect b="0" l="0" r="0" t="0"/>
          <a:stretch/>
        </p:blipFill>
        <p:spPr>
          <a:xfrm>
            <a:off x="4645074" y="2333625"/>
            <a:ext cx="666750" cy="666750"/>
          </a:xfrm>
          <a:prstGeom prst="rect">
            <a:avLst/>
          </a:prstGeom>
          <a:noFill/>
          <a:ln>
            <a:noFill/>
          </a:ln>
        </p:spPr>
      </p:pic>
      <p:sp>
        <p:nvSpPr>
          <p:cNvPr id="200" name="Google Shape;200;p21"/>
          <p:cNvSpPr txBox="1"/>
          <p:nvPr/>
        </p:nvSpPr>
        <p:spPr>
          <a:xfrm>
            <a:off x="4645074" y="3190875"/>
            <a:ext cx="3047099"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Volume &amp; Friction (45%)</a:t>
            </a:r>
            <a:endParaRPr/>
          </a:p>
        </p:txBody>
      </p:sp>
      <p:sp>
        <p:nvSpPr>
          <p:cNvPr id="201" name="Google Shape;201;p21"/>
          <p:cNvSpPr txBox="1"/>
          <p:nvPr/>
        </p:nvSpPr>
        <p:spPr>
          <a:xfrm>
            <a:off x="4645074" y="3943350"/>
            <a:ext cx="2901999"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Targeting services with high citizen usage frequency and known historical delays or inefficiencies to build immediate public trust.</a:t>
            </a:r>
            <a:endParaRPr/>
          </a:p>
        </p:txBody>
      </p:sp>
      <p:pic>
        <p:nvPicPr>
          <p:cNvPr descr="image.png" id="202" name="Google Shape;202;p21"/>
          <p:cNvPicPr preferRelativeResize="0"/>
          <p:nvPr/>
        </p:nvPicPr>
        <p:blipFill rotWithShape="1">
          <a:blip r:embed="rId8">
            <a:alphaModFix/>
          </a:blip>
          <a:srcRect b="0" l="0" r="0" t="0"/>
          <a:stretch/>
        </p:blipFill>
        <p:spPr>
          <a:xfrm>
            <a:off x="8423374" y="2333625"/>
            <a:ext cx="666750" cy="666750"/>
          </a:xfrm>
          <a:prstGeom prst="rect">
            <a:avLst/>
          </a:prstGeom>
          <a:noFill/>
          <a:ln>
            <a:noFill/>
          </a:ln>
        </p:spPr>
      </p:pic>
      <p:sp>
        <p:nvSpPr>
          <p:cNvPr id="203" name="Google Shape;203;p21"/>
          <p:cNvSpPr txBox="1"/>
          <p:nvPr/>
        </p:nvSpPr>
        <p:spPr>
          <a:xfrm>
            <a:off x="8423374" y="3190875"/>
            <a:ext cx="216027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Feasibility (25%)</a:t>
            </a:r>
            <a:endParaRPr/>
          </a:p>
        </p:txBody>
      </p:sp>
      <p:sp>
        <p:nvSpPr>
          <p:cNvPr id="204" name="Google Shape;204;p21"/>
          <p:cNvSpPr txBox="1"/>
          <p:nvPr/>
        </p:nvSpPr>
        <p:spPr>
          <a:xfrm>
            <a:off x="8423374" y="3638550"/>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Selecting services that possess high technical integration readiness and can be digitized without requiring extensive federal legislative change.</a:t>
            </a:r>
            <a:endParaRPr/>
          </a:p>
        </p:txBody>
      </p:sp>
      <p:pic>
        <p:nvPicPr>
          <p:cNvPr descr="image.png" id="205" name="Google Shape;205;p21"/>
          <p:cNvPicPr preferRelativeResize="0"/>
          <p:nvPr/>
        </p:nvPicPr>
        <p:blipFill rotWithShape="1">
          <a:blip r:embed="rId9">
            <a:alphaModFix/>
          </a:blip>
          <a:srcRect b="0" l="0" r="0" t="0"/>
          <a:stretch/>
        </p:blipFill>
        <p:spPr>
          <a:xfrm>
            <a:off x="1028700" y="2495550"/>
            <a:ext cx="342900" cy="342900"/>
          </a:xfrm>
          <a:prstGeom prst="rect">
            <a:avLst/>
          </a:prstGeom>
          <a:noFill/>
          <a:ln>
            <a:noFill/>
          </a:ln>
        </p:spPr>
      </p:pic>
      <p:pic>
        <p:nvPicPr>
          <p:cNvPr descr="image.png" id="206" name="Google Shape;206;p21"/>
          <p:cNvPicPr preferRelativeResize="0"/>
          <p:nvPr/>
        </p:nvPicPr>
        <p:blipFill rotWithShape="1">
          <a:blip r:embed="rId10">
            <a:alphaModFix/>
          </a:blip>
          <a:srcRect b="0" l="0" r="0" t="0"/>
          <a:stretch/>
        </p:blipFill>
        <p:spPr>
          <a:xfrm>
            <a:off x="4764137" y="2495550"/>
            <a:ext cx="428625" cy="342900"/>
          </a:xfrm>
          <a:prstGeom prst="rect">
            <a:avLst/>
          </a:prstGeom>
          <a:noFill/>
          <a:ln>
            <a:noFill/>
          </a:ln>
        </p:spPr>
      </p:pic>
      <p:pic>
        <p:nvPicPr>
          <p:cNvPr descr="image.png" id="207" name="Google Shape;207;p21"/>
          <p:cNvPicPr preferRelativeResize="0"/>
          <p:nvPr/>
        </p:nvPicPr>
        <p:blipFill rotWithShape="1">
          <a:blip r:embed="rId11">
            <a:alphaModFix/>
          </a:blip>
          <a:srcRect b="0" l="0" r="0" t="0"/>
          <a:stretch/>
        </p:blipFill>
        <p:spPr>
          <a:xfrm>
            <a:off x="8542436" y="2495550"/>
            <a:ext cx="428625" cy="342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11" name="Shape 211"/>
        <p:cNvGrpSpPr/>
        <p:nvPr/>
      </p:nvGrpSpPr>
      <p:grpSpPr>
        <a:xfrm>
          <a:off x="0" y="0"/>
          <a:ext cx="0" cy="0"/>
          <a:chOff x="0" y="0"/>
          <a:chExt cx="0" cy="0"/>
        </a:xfrm>
      </p:grpSpPr>
      <p:pic>
        <p:nvPicPr>
          <p:cNvPr descr="image.png" id="212" name="Google Shape;212;p22"/>
          <p:cNvPicPr preferRelativeResize="0"/>
          <p:nvPr/>
        </p:nvPicPr>
        <p:blipFill rotWithShape="1">
          <a:blip r:embed="rId3">
            <a:alphaModFix/>
          </a:blip>
          <a:srcRect b="0" l="0" r="0" t="0"/>
          <a:stretch/>
        </p:blipFill>
        <p:spPr>
          <a:xfrm>
            <a:off x="571500" y="1066800"/>
            <a:ext cx="11049000" cy="5314950"/>
          </a:xfrm>
          <a:prstGeom prst="rect">
            <a:avLst/>
          </a:prstGeom>
          <a:noFill/>
          <a:ln>
            <a:noFill/>
          </a:ln>
        </p:spPr>
      </p:pic>
      <p:sp>
        <p:nvSpPr>
          <p:cNvPr id="213" name="Google Shape;213;p22"/>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Phase 1 Service Categories (47 Total)</a:t>
            </a:r>
            <a:endParaRPr/>
          </a:p>
        </p:txBody>
      </p:sp>
      <p:sp>
        <p:nvSpPr>
          <p:cNvPr id="214" name="Google Shape;214;p22"/>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18" name="Shape 218"/>
        <p:cNvGrpSpPr/>
        <p:nvPr/>
      </p:nvGrpSpPr>
      <p:grpSpPr>
        <a:xfrm>
          <a:off x="0" y="0"/>
          <a:ext cx="0" cy="0"/>
          <a:chOff x="0" y="0"/>
          <a:chExt cx="0" cy="0"/>
        </a:xfrm>
      </p:grpSpPr>
      <p:pic>
        <p:nvPicPr>
          <p:cNvPr descr="image.png" id="219" name="Google Shape;219;p23"/>
          <p:cNvPicPr preferRelativeResize="0"/>
          <p:nvPr/>
        </p:nvPicPr>
        <p:blipFill rotWithShape="1">
          <a:blip r:embed="rId3">
            <a:alphaModFix/>
          </a:blip>
          <a:srcRect b="0" l="0" r="0" t="0"/>
          <a:stretch/>
        </p:blipFill>
        <p:spPr>
          <a:xfrm>
            <a:off x="571500" y="1771650"/>
            <a:ext cx="11049000" cy="3905250"/>
          </a:xfrm>
          <a:prstGeom prst="rect">
            <a:avLst/>
          </a:prstGeom>
          <a:noFill/>
          <a:ln>
            <a:noFill/>
          </a:ln>
        </p:spPr>
      </p:pic>
      <p:sp>
        <p:nvSpPr>
          <p:cNvPr id="220" name="Google Shape;220;p23"/>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Municipal &amp; Urban Land Services (Sample)</a:t>
            </a:r>
            <a:endParaRPr/>
          </a:p>
        </p:txBody>
      </p:sp>
      <p:sp>
        <p:nvSpPr>
          <p:cNvPr id="221" name="Google Shape;221;p23"/>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22" name="Google Shape;222;p23"/>
          <p:cNvGraphicFramePr/>
          <p:nvPr/>
        </p:nvGraphicFramePr>
        <p:xfrm>
          <a:off x="581025" y="1781175"/>
          <a:ext cx="3000000" cy="3000000"/>
        </p:xfrm>
        <a:graphic>
          <a:graphicData uri="http://schemas.openxmlformats.org/drawingml/2006/table">
            <a:tbl>
              <a:tblPr bandRow="1" firstRow="1">
                <a:noFill/>
                <a:tableStyleId>{5AC119ED-5815-4C41-8F13-C28447212DCB}</a:tableStyleId>
              </a:tblPr>
              <a:tblGrid>
                <a:gridCol w="2151150"/>
                <a:gridCol w="5223725"/>
                <a:gridCol w="1338125"/>
                <a:gridCol w="2316950"/>
              </a:tblGrid>
              <a:tr h="777250">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Service Name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Required APIs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Target SLA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Revenue Impact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r>
              <a:tr h="7772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Lease Auction Transfer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Lease Record Retrieval, Outstanding Balance, Payment Confirmation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5 Days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High (Direct transfer fees)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2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Annual Lease Payment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Lease Validation, Arrears Check, Payment Posting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Same-Day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Very High (Recurring)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7772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Ownership Verification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Rights Validation, Encumbrance Record Check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2 Days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Medium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2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Subdivision Approval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Survey Upload, Engineering Validation, Document Gen.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14 Days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Medium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223" name="Google Shape;223;p23"/>
          <p:cNvSpPr/>
          <p:nvPr/>
        </p:nvSpPr>
        <p:spPr>
          <a:xfrm>
            <a:off x="581025" y="2500312"/>
            <a:ext cx="215116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23"/>
          <p:cNvSpPr/>
          <p:nvPr/>
        </p:nvSpPr>
        <p:spPr>
          <a:xfrm>
            <a:off x="2732186" y="2500312"/>
            <a:ext cx="522371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23"/>
          <p:cNvSpPr/>
          <p:nvPr/>
        </p:nvSpPr>
        <p:spPr>
          <a:xfrm>
            <a:off x="7955905" y="2500312"/>
            <a:ext cx="13381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23"/>
          <p:cNvSpPr/>
          <p:nvPr/>
        </p:nvSpPr>
        <p:spPr>
          <a:xfrm>
            <a:off x="9294018" y="2500312"/>
            <a:ext cx="231695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23"/>
          <p:cNvSpPr/>
          <p:nvPr/>
        </p:nvSpPr>
        <p:spPr>
          <a:xfrm>
            <a:off x="581025" y="3290887"/>
            <a:ext cx="215116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23"/>
          <p:cNvSpPr/>
          <p:nvPr/>
        </p:nvSpPr>
        <p:spPr>
          <a:xfrm>
            <a:off x="2732186" y="3290887"/>
            <a:ext cx="522371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23"/>
          <p:cNvSpPr/>
          <p:nvPr/>
        </p:nvSpPr>
        <p:spPr>
          <a:xfrm>
            <a:off x="7955905" y="3290887"/>
            <a:ext cx="13381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23"/>
          <p:cNvSpPr/>
          <p:nvPr/>
        </p:nvSpPr>
        <p:spPr>
          <a:xfrm>
            <a:off x="9294018" y="3290887"/>
            <a:ext cx="231695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23"/>
          <p:cNvSpPr/>
          <p:nvPr/>
        </p:nvSpPr>
        <p:spPr>
          <a:xfrm>
            <a:off x="581025" y="4081462"/>
            <a:ext cx="215116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23"/>
          <p:cNvSpPr/>
          <p:nvPr/>
        </p:nvSpPr>
        <p:spPr>
          <a:xfrm>
            <a:off x="2732186" y="4081462"/>
            <a:ext cx="522371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3" name="Google Shape;233;p23"/>
          <p:cNvSpPr/>
          <p:nvPr/>
        </p:nvSpPr>
        <p:spPr>
          <a:xfrm>
            <a:off x="7955905" y="4081462"/>
            <a:ext cx="13381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23"/>
          <p:cNvSpPr/>
          <p:nvPr/>
        </p:nvSpPr>
        <p:spPr>
          <a:xfrm>
            <a:off x="9294018" y="4081462"/>
            <a:ext cx="231695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23"/>
          <p:cNvSpPr/>
          <p:nvPr/>
        </p:nvSpPr>
        <p:spPr>
          <a:xfrm>
            <a:off x="581025" y="4872037"/>
            <a:ext cx="215116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23"/>
          <p:cNvSpPr/>
          <p:nvPr/>
        </p:nvSpPr>
        <p:spPr>
          <a:xfrm>
            <a:off x="2732186" y="4872037"/>
            <a:ext cx="522371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23"/>
          <p:cNvSpPr/>
          <p:nvPr/>
        </p:nvSpPr>
        <p:spPr>
          <a:xfrm>
            <a:off x="7955905" y="4872037"/>
            <a:ext cx="13381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8" name="Google Shape;238;p23"/>
          <p:cNvSpPr/>
          <p:nvPr/>
        </p:nvSpPr>
        <p:spPr>
          <a:xfrm>
            <a:off x="9294018" y="4872037"/>
            <a:ext cx="231695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2" name="Shape 242"/>
        <p:cNvGrpSpPr/>
        <p:nvPr/>
      </p:nvGrpSpPr>
      <p:grpSpPr>
        <a:xfrm>
          <a:off x="0" y="0"/>
          <a:ext cx="0" cy="0"/>
          <a:chOff x="0" y="0"/>
          <a:chExt cx="0" cy="0"/>
        </a:xfrm>
      </p:grpSpPr>
      <p:pic>
        <p:nvPicPr>
          <p:cNvPr descr="image.png" id="243" name="Google Shape;243;p24"/>
          <p:cNvPicPr preferRelativeResize="0"/>
          <p:nvPr/>
        </p:nvPicPr>
        <p:blipFill rotWithShape="1">
          <a:blip r:embed="rId3">
            <a:alphaModFix/>
          </a:blip>
          <a:srcRect b="0" l="0" r="0" t="0"/>
          <a:stretch/>
        </p:blipFill>
        <p:spPr>
          <a:xfrm>
            <a:off x="571500" y="1900237"/>
            <a:ext cx="11049000" cy="3648075"/>
          </a:xfrm>
          <a:prstGeom prst="rect">
            <a:avLst/>
          </a:prstGeom>
          <a:noFill/>
          <a:ln>
            <a:noFill/>
          </a:ln>
        </p:spPr>
      </p:pic>
      <p:sp>
        <p:nvSpPr>
          <p:cNvPr id="244" name="Google Shape;244;p24"/>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Trade, Licensing &amp; Revenue Services (Sample)</a:t>
            </a:r>
            <a:endParaRPr/>
          </a:p>
        </p:txBody>
      </p:sp>
      <p:sp>
        <p:nvSpPr>
          <p:cNvPr id="245" name="Google Shape;245;p24"/>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46" name="Google Shape;246;p24"/>
          <p:cNvGraphicFramePr/>
          <p:nvPr/>
        </p:nvGraphicFramePr>
        <p:xfrm>
          <a:off x="581025" y="1909762"/>
          <a:ext cx="3000000" cy="3000000"/>
        </p:xfrm>
        <a:graphic>
          <a:graphicData uri="http://schemas.openxmlformats.org/drawingml/2006/table">
            <a:tbl>
              <a:tblPr bandRow="1" firstRow="1">
                <a:noFill/>
                <a:tableStyleId>{5AC119ED-5815-4C41-8F13-C28447212DCB}</a:tableStyleId>
              </a:tblPr>
              <a:tblGrid>
                <a:gridCol w="2728475"/>
                <a:gridCol w="4966250"/>
                <a:gridCol w="1393775"/>
                <a:gridCol w="1941450"/>
              </a:tblGrid>
              <a:tr h="725800">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Service Name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Required APIs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Target SLA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Revenue Impact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r>
              <a:tr h="72580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Business Tax Renewal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Tax Status Retrieval, Arrears Calculation, License Update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2 Days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High (Recurring)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2580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Tax Clearance Cert.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Tax Compliance Check, Payment History Retrieval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Same-Day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High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72580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New Business Registration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TIN Validation, Revenue Check, Registry Update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3 Days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High (SME Growth)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2580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Micro Enterprise (MSE) Reg.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Identity Verification, Sector Classification Update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2 Days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Medium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247" name="Google Shape;247;p24"/>
          <p:cNvSpPr/>
          <p:nvPr/>
        </p:nvSpPr>
        <p:spPr>
          <a:xfrm>
            <a:off x="581025" y="2628900"/>
            <a:ext cx="27284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24"/>
          <p:cNvSpPr/>
          <p:nvPr/>
        </p:nvSpPr>
        <p:spPr>
          <a:xfrm>
            <a:off x="3309491" y="2628900"/>
            <a:ext cx="496624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24"/>
          <p:cNvSpPr/>
          <p:nvPr/>
        </p:nvSpPr>
        <p:spPr>
          <a:xfrm>
            <a:off x="8275736" y="2628900"/>
            <a:ext cx="13937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24"/>
          <p:cNvSpPr/>
          <p:nvPr/>
        </p:nvSpPr>
        <p:spPr>
          <a:xfrm>
            <a:off x="9669512" y="2628900"/>
            <a:ext cx="194146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24"/>
          <p:cNvSpPr/>
          <p:nvPr/>
        </p:nvSpPr>
        <p:spPr>
          <a:xfrm>
            <a:off x="581025" y="3419475"/>
            <a:ext cx="27284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24"/>
          <p:cNvSpPr/>
          <p:nvPr/>
        </p:nvSpPr>
        <p:spPr>
          <a:xfrm>
            <a:off x="3309491" y="3419475"/>
            <a:ext cx="496624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24"/>
          <p:cNvSpPr/>
          <p:nvPr/>
        </p:nvSpPr>
        <p:spPr>
          <a:xfrm>
            <a:off x="8275736" y="3419475"/>
            <a:ext cx="13937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4"/>
          <p:cNvSpPr/>
          <p:nvPr/>
        </p:nvSpPr>
        <p:spPr>
          <a:xfrm>
            <a:off x="9669512" y="3419475"/>
            <a:ext cx="194146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24"/>
          <p:cNvSpPr/>
          <p:nvPr/>
        </p:nvSpPr>
        <p:spPr>
          <a:xfrm>
            <a:off x="581025" y="3952875"/>
            <a:ext cx="27284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24"/>
          <p:cNvSpPr/>
          <p:nvPr/>
        </p:nvSpPr>
        <p:spPr>
          <a:xfrm>
            <a:off x="3309491" y="3952875"/>
            <a:ext cx="496624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24"/>
          <p:cNvSpPr/>
          <p:nvPr/>
        </p:nvSpPr>
        <p:spPr>
          <a:xfrm>
            <a:off x="8275736" y="3952875"/>
            <a:ext cx="13937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8" name="Google Shape;258;p24"/>
          <p:cNvSpPr/>
          <p:nvPr/>
        </p:nvSpPr>
        <p:spPr>
          <a:xfrm>
            <a:off x="9669512" y="3952875"/>
            <a:ext cx="194146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24"/>
          <p:cNvSpPr/>
          <p:nvPr/>
        </p:nvSpPr>
        <p:spPr>
          <a:xfrm>
            <a:off x="581025" y="4743450"/>
            <a:ext cx="27284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24"/>
          <p:cNvSpPr/>
          <p:nvPr/>
        </p:nvSpPr>
        <p:spPr>
          <a:xfrm>
            <a:off x="3309491" y="4743450"/>
            <a:ext cx="496624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24"/>
          <p:cNvSpPr/>
          <p:nvPr/>
        </p:nvSpPr>
        <p:spPr>
          <a:xfrm>
            <a:off x="8275736" y="4743450"/>
            <a:ext cx="13937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24"/>
          <p:cNvSpPr/>
          <p:nvPr/>
        </p:nvSpPr>
        <p:spPr>
          <a:xfrm>
            <a:off x="9669512" y="4743450"/>
            <a:ext cx="194146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66" name="Shape 266"/>
        <p:cNvGrpSpPr/>
        <p:nvPr/>
      </p:nvGrpSpPr>
      <p:grpSpPr>
        <a:xfrm>
          <a:off x="0" y="0"/>
          <a:ext cx="0" cy="0"/>
          <a:chOff x="0" y="0"/>
          <a:chExt cx="0" cy="0"/>
        </a:xfrm>
      </p:grpSpPr>
      <p:pic>
        <p:nvPicPr>
          <p:cNvPr descr="image.png" id="267" name="Google Shape;267;p25"/>
          <p:cNvPicPr preferRelativeResize="0"/>
          <p:nvPr/>
        </p:nvPicPr>
        <p:blipFill rotWithShape="1">
          <a:blip r:embed="rId3">
            <a:alphaModFix/>
          </a:blip>
          <a:srcRect b="0" l="0" r="0" t="0"/>
          <a:stretch/>
        </p:blipFill>
        <p:spPr>
          <a:xfrm>
            <a:off x="571500" y="1771650"/>
            <a:ext cx="11049000" cy="3905250"/>
          </a:xfrm>
          <a:prstGeom prst="rect">
            <a:avLst/>
          </a:prstGeom>
          <a:noFill/>
          <a:ln>
            <a:noFill/>
          </a:ln>
        </p:spPr>
      </p:pic>
      <p:sp>
        <p:nvSpPr>
          <p:cNvPr id="268" name="Google Shape;268;p25"/>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Investment &amp; Social Services (Sample)</a:t>
            </a:r>
            <a:endParaRPr/>
          </a:p>
        </p:txBody>
      </p:sp>
      <p:sp>
        <p:nvSpPr>
          <p:cNvPr id="269" name="Google Shape;269;p25"/>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70" name="Google Shape;270;p25"/>
          <p:cNvGraphicFramePr/>
          <p:nvPr/>
        </p:nvGraphicFramePr>
        <p:xfrm>
          <a:off x="581025" y="1781175"/>
          <a:ext cx="3000000" cy="3000000"/>
        </p:xfrm>
        <a:graphic>
          <a:graphicData uri="http://schemas.openxmlformats.org/drawingml/2006/table">
            <a:tbl>
              <a:tblPr bandRow="1" firstRow="1">
                <a:noFill/>
                <a:tableStyleId>{5AC119ED-5815-4C41-8F13-C28447212DCB}</a:tableStyleId>
              </a:tblPr>
              <a:tblGrid>
                <a:gridCol w="2525625"/>
                <a:gridCol w="4540750"/>
                <a:gridCol w="1374275"/>
                <a:gridCol w="2589300"/>
              </a:tblGrid>
              <a:tr h="777250">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Service Name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Required APIs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Target SLA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Citizen/Econ Impact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r>
              <a:tr h="7772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Investment Project Reg.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Land Availability, Incentive Eligibility, Registry Endpoint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5 Days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Very High (FDI/Local Invest)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2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Land Alloc. for Investment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Plot Availability Check, Reservation Record Creation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7 Days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High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7772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Private Clinic Registration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Health Professional Verification, Inspection Retrieval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5 Days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High (Governance)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772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Food Establishment Permit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Inspection Record Retrieval, Compliance Check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2 Days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High (Public Safety)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271" name="Google Shape;271;p25"/>
          <p:cNvSpPr/>
          <p:nvPr/>
        </p:nvSpPr>
        <p:spPr>
          <a:xfrm>
            <a:off x="581025" y="2500312"/>
            <a:ext cx="25256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25"/>
          <p:cNvSpPr/>
          <p:nvPr/>
        </p:nvSpPr>
        <p:spPr>
          <a:xfrm>
            <a:off x="3106638" y="2500312"/>
            <a:ext cx="454074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25"/>
          <p:cNvSpPr/>
          <p:nvPr/>
        </p:nvSpPr>
        <p:spPr>
          <a:xfrm>
            <a:off x="7647384" y="2500312"/>
            <a:ext cx="13742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5"/>
          <p:cNvSpPr/>
          <p:nvPr/>
        </p:nvSpPr>
        <p:spPr>
          <a:xfrm>
            <a:off x="9021663" y="2500312"/>
            <a:ext cx="258931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5"/>
          <p:cNvSpPr/>
          <p:nvPr/>
        </p:nvSpPr>
        <p:spPr>
          <a:xfrm>
            <a:off x="581025" y="3290887"/>
            <a:ext cx="25256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25"/>
          <p:cNvSpPr/>
          <p:nvPr/>
        </p:nvSpPr>
        <p:spPr>
          <a:xfrm>
            <a:off x="3106638" y="3290887"/>
            <a:ext cx="454074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25"/>
          <p:cNvSpPr/>
          <p:nvPr/>
        </p:nvSpPr>
        <p:spPr>
          <a:xfrm>
            <a:off x="7647384" y="3290887"/>
            <a:ext cx="13742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25"/>
          <p:cNvSpPr/>
          <p:nvPr/>
        </p:nvSpPr>
        <p:spPr>
          <a:xfrm>
            <a:off x="9021663" y="3290887"/>
            <a:ext cx="258931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5"/>
          <p:cNvSpPr/>
          <p:nvPr/>
        </p:nvSpPr>
        <p:spPr>
          <a:xfrm>
            <a:off x="581025" y="4081462"/>
            <a:ext cx="25256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25"/>
          <p:cNvSpPr/>
          <p:nvPr/>
        </p:nvSpPr>
        <p:spPr>
          <a:xfrm>
            <a:off x="3106638" y="4081462"/>
            <a:ext cx="454074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25"/>
          <p:cNvSpPr/>
          <p:nvPr/>
        </p:nvSpPr>
        <p:spPr>
          <a:xfrm>
            <a:off x="7647384" y="4081462"/>
            <a:ext cx="13742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25"/>
          <p:cNvSpPr/>
          <p:nvPr/>
        </p:nvSpPr>
        <p:spPr>
          <a:xfrm>
            <a:off x="9021663" y="4081462"/>
            <a:ext cx="258931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25"/>
          <p:cNvSpPr/>
          <p:nvPr/>
        </p:nvSpPr>
        <p:spPr>
          <a:xfrm>
            <a:off x="581025" y="4872037"/>
            <a:ext cx="25256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5"/>
          <p:cNvSpPr/>
          <p:nvPr/>
        </p:nvSpPr>
        <p:spPr>
          <a:xfrm>
            <a:off x="3106638" y="4872037"/>
            <a:ext cx="454074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25"/>
          <p:cNvSpPr/>
          <p:nvPr/>
        </p:nvSpPr>
        <p:spPr>
          <a:xfrm>
            <a:off x="7647384" y="4872037"/>
            <a:ext cx="13742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6" name="Google Shape;286;p25"/>
          <p:cNvSpPr/>
          <p:nvPr/>
        </p:nvSpPr>
        <p:spPr>
          <a:xfrm>
            <a:off x="9021663" y="4872037"/>
            <a:ext cx="258931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90" name="Shape 290"/>
        <p:cNvGrpSpPr/>
        <p:nvPr/>
      </p:nvGrpSpPr>
      <p:grpSpPr>
        <a:xfrm>
          <a:off x="0" y="0"/>
          <a:ext cx="0" cy="0"/>
          <a:chOff x="0" y="0"/>
          <a:chExt cx="0" cy="0"/>
        </a:xfrm>
      </p:grpSpPr>
      <p:pic>
        <p:nvPicPr>
          <p:cNvPr descr="image.png" id="291" name="Google Shape;291;p26"/>
          <p:cNvPicPr preferRelativeResize="0"/>
          <p:nvPr/>
        </p:nvPicPr>
        <p:blipFill rotWithShape="1">
          <a:blip r:embed="rId3">
            <a:alphaModFix/>
          </a:blip>
          <a:srcRect b="0" l="0" r="0" t="0"/>
          <a:stretch/>
        </p:blipFill>
        <p:spPr>
          <a:xfrm>
            <a:off x="571500" y="2352675"/>
            <a:ext cx="4972050" cy="2743200"/>
          </a:xfrm>
          <a:prstGeom prst="rect">
            <a:avLst/>
          </a:prstGeom>
          <a:noFill/>
          <a:ln>
            <a:noFill/>
          </a:ln>
        </p:spPr>
      </p:pic>
      <p:sp>
        <p:nvSpPr>
          <p:cNvPr id="292" name="Google Shape;292;p26"/>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Phase 1 Strategic Impact</a:t>
            </a:r>
            <a:endParaRPr/>
          </a:p>
        </p:txBody>
      </p:sp>
      <p:sp>
        <p:nvSpPr>
          <p:cNvPr id="293" name="Google Shape;293;p26"/>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26"/>
          <p:cNvSpPr txBox="1"/>
          <p:nvPr/>
        </p:nvSpPr>
        <p:spPr>
          <a:xfrm>
            <a:off x="857250" y="2828925"/>
            <a:ext cx="4400550" cy="11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000" u="none" cap="none" strike="noStrike">
                <a:solidFill>
                  <a:srgbClr val="000000"/>
                </a:solidFill>
                <a:latin typeface="Montserrat"/>
                <a:ea typeface="Montserrat"/>
                <a:cs typeface="Montserrat"/>
                <a:sym typeface="Montserrat"/>
              </a:rPr>
              <a:t>70%</a:t>
            </a:r>
            <a:endParaRPr/>
          </a:p>
        </p:txBody>
      </p:sp>
      <p:sp>
        <p:nvSpPr>
          <p:cNvPr id="295" name="Google Shape;295;p26"/>
          <p:cNvSpPr txBox="1"/>
          <p:nvPr/>
        </p:nvSpPr>
        <p:spPr>
          <a:xfrm>
            <a:off x="857250" y="4067175"/>
            <a:ext cx="4400550" cy="552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0EA5E9"/>
                </a:solidFill>
                <a:latin typeface="Inter SemiBold"/>
                <a:ea typeface="Inter SemiBold"/>
                <a:cs typeface="Inter SemiBold"/>
                <a:sym typeface="Inter SemiBold"/>
              </a:rPr>
              <a:t>REDUCTION IN MANUAL FILE MOVEMENT</a:t>
            </a:r>
            <a:endParaRPr/>
          </a:p>
        </p:txBody>
      </p:sp>
      <p:sp>
        <p:nvSpPr>
          <p:cNvPr id="296" name="Google Shape;296;p26"/>
          <p:cNvSpPr txBox="1"/>
          <p:nvPr/>
        </p:nvSpPr>
        <p:spPr>
          <a:xfrm>
            <a:off x="5924550" y="2271712"/>
            <a:ext cx="5980747"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Immediate Outcomes</a:t>
            </a:r>
            <a:endParaRPr/>
          </a:p>
        </p:txBody>
      </p:sp>
      <p:sp>
        <p:nvSpPr>
          <p:cNvPr id="297" name="Google Shape;297;p26"/>
          <p:cNvSpPr txBox="1"/>
          <p:nvPr/>
        </p:nvSpPr>
        <p:spPr>
          <a:xfrm>
            <a:off x="6353175" y="2767012"/>
            <a:ext cx="5267325" cy="5905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Stabilized Revenue Streams:</a:t>
            </a:r>
            <a:r>
              <a:rPr b="0" i="0" lang="en-US" sz="1350" u="none" cap="none" strike="noStrike">
                <a:solidFill>
                  <a:srgbClr val="0F172A"/>
                </a:solidFill>
                <a:latin typeface="Inter"/>
                <a:ea typeface="Inter"/>
                <a:cs typeface="Inter"/>
                <a:sym typeface="Inter"/>
              </a:rPr>
              <a:t> Direct reduction in leakage through automated reconciliation.</a:t>
            </a:r>
            <a:endParaRPr/>
          </a:p>
        </p:txBody>
      </p:sp>
      <p:sp>
        <p:nvSpPr>
          <p:cNvPr id="298" name="Google Shape;298;p26"/>
          <p:cNvSpPr txBox="1"/>
          <p:nvPr/>
        </p:nvSpPr>
        <p:spPr>
          <a:xfrm>
            <a:off x="6353175" y="3548062"/>
            <a:ext cx="5267325" cy="5905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Queue Reduction:</a:t>
            </a:r>
            <a:r>
              <a:rPr b="0" i="0" lang="en-US" sz="1350" u="none" cap="none" strike="noStrike">
                <a:solidFill>
                  <a:srgbClr val="0F172A"/>
                </a:solidFill>
                <a:latin typeface="Inter"/>
                <a:ea typeface="Inter"/>
                <a:cs typeface="Inter"/>
                <a:sym typeface="Inter"/>
              </a:rPr>
              <a:t> Projected 40-60% decrease in wait times via digital processing.</a:t>
            </a:r>
            <a:endParaRPr/>
          </a:p>
        </p:txBody>
      </p:sp>
      <p:sp>
        <p:nvSpPr>
          <p:cNvPr id="299" name="Google Shape;299;p26"/>
          <p:cNvSpPr txBox="1"/>
          <p:nvPr/>
        </p:nvSpPr>
        <p:spPr>
          <a:xfrm>
            <a:off x="6353175" y="4329112"/>
            <a:ext cx="5267325" cy="8477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Executive Visibility:</a:t>
            </a:r>
            <a:r>
              <a:rPr b="0" i="0" lang="en-US" sz="1350" u="none" cap="none" strike="noStrike">
                <a:solidFill>
                  <a:srgbClr val="0F172A"/>
                </a:solidFill>
                <a:latin typeface="Inter"/>
                <a:ea typeface="Inter"/>
                <a:cs typeface="Inter"/>
                <a:sym typeface="Inter"/>
              </a:rPr>
              <a:t> Real-time reporting enabled to the Mayor's Office via the executive dashboard.</a:t>
            </a:r>
            <a:endParaRPr/>
          </a:p>
        </p:txBody>
      </p:sp>
      <p:pic>
        <p:nvPicPr>
          <p:cNvPr descr="image.png" id="300" name="Google Shape;300;p26"/>
          <p:cNvPicPr preferRelativeResize="0"/>
          <p:nvPr/>
        </p:nvPicPr>
        <p:blipFill rotWithShape="1">
          <a:blip r:embed="rId4">
            <a:alphaModFix/>
          </a:blip>
          <a:srcRect b="0" l="0" r="0" t="0"/>
          <a:stretch/>
        </p:blipFill>
        <p:spPr>
          <a:xfrm>
            <a:off x="5924550" y="2776537"/>
            <a:ext cx="228600" cy="247650"/>
          </a:xfrm>
          <a:prstGeom prst="rect">
            <a:avLst/>
          </a:prstGeom>
          <a:noFill/>
          <a:ln>
            <a:noFill/>
          </a:ln>
        </p:spPr>
      </p:pic>
      <p:pic>
        <p:nvPicPr>
          <p:cNvPr descr="image.png" id="301" name="Google Shape;301;p26"/>
          <p:cNvPicPr preferRelativeResize="0"/>
          <p:nvPr/>
        </p:nvPicPr>
        <p:blipFill rotWithShape="1">
          <a:blip r:embed="rId4">
            <a:alphaModFix/>
          </a:blip>
          <a:srcRect b="0" l="0" r="0" t="0"/>
          <a:stretch/>
        </p:blipFill>
        <p:spPr>
          <a:xfrm>
            <a:off x="5924550" y="3557587"/>
            <a:ext cx="228600" cy="247650"/>
          </a:xfrm>
          <a:prstGeom prst="rect">
            <a:avLst/>
          </a:prstGeom>
          <a:noFill/>
          <a:ln>
            <a:noFill/>
          </a:ln>
        </p:spPr>
      </p:pic>
      <p:pic>
        <p:nvPicPr>
          <p:cNvPr descr="image.png" id="302" name="Google Shape;302;p26"/>
          <p:cNvPicPr preferRelativeResize="0"/>
          <p:nvPr/>
        </p:nvPicPr>
        <p:blipFill rotWithShape="1">
          <a:blip r:embed="rId4">
            <a:alphaModFix/>
          </a:blip>
          <a:srcRect b="0" l="0" r="0" t="0"/>
          <a:stretch/>
        </p:blipFill>
        <p:spPr>
          <a:xfrm>
            <a:off x="5924550" y="4338637"/>
            <a:ext cx="228600" cy="247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06" name="Shape 306"/>
        <p:cNvGrpSpPr/>
        <p:nvPr/>
      </p:nvGrpSpPr>
      <p:grpSpPr>
        <a:xfrm>
          <a:off x="0" y="0"/>
          <a:ext cx="0" cy="0"/>
          <a:chOff x="0" y="0"/>
          <a:chExt cx="0" cy="0"/>
        </a:xfrm>
      </p:grpSpPr>
      <p:sp>
        <p:nvSpPr>
          <p:cNvPr id="307" name="Google Shape;307;p27"/>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Operational Workflow: The Citizen Journey</a:t>
            </a:r>
            <a:endParaRPr/>
          </a:p>
        </p:txBody>
      </p:sp>
      <p:sp>
        <p:nvSpPr>
          <p:cNvPr id="308" name="Google Shape;308;p27"/>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27"/>
          <p:cNvSpPr/>
          <p:nvPr/>
        </p:nvSpPr>
        <p:spPr>
          <a:xfrm>
            <a:off x="571500" y="3705225"/>
            <a:ext cx="11049000" cy="381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27"/>
          <p:cNvSpPr txBox="1"/>
          <p:nvPr/>
        </p:nvSpPr>
        <p:spPr>
          <a:xfrm>
            <a:off x="502443" y="4057650"/>
            <a:ext cx="2900362"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2C59"/>
                </a:solidFill>
                <a:latin typeface="Montserrat"/>
                <a:ea typeface="Montserrat"/>
                <a:cs typeface="Montserrat"/>
                <a:sym typeface="Montserrat"/>
              </a:rPr>
              <a:t>1. Queue &amp; Submit</a:t>
            </a:r>
            <a:endParaRPr/>
          </a:p>
        </p:txBody>
      </p:sp>
      <p:sp>
        <p:nvSpPr>
          <p:cNvPr id="311" name="Google Shape;311;p27"/>
          <p:cNvSpPr txBox="1"/>
          <p:nvPr/>
        </p:nvSpPr>
        <p:spPr>
          <a:xfrm>
            <a:off x="571500" y="4381500"/>
            <a:ext cx="2762250" cy="642937"/>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0F172A"/>
                </a:solidFill>
                <a:latin typeface="Inter"/>
                <a:ea typeface="Inter"/>
                <a:cs typeface="Inter"/>
                <a:sym typeface="Inter"/>
              </a:rPr>
              <a:t>Citizen selects service at kiosk. Digital ticket issued, routing to optimized domain counter.</a:t>
            </a:r>
            <a:endParaRPr/>
          </a:p>
        </p:txBody>
      </p:sp>
      <p:sp>
        <p:nvSpPr>
          <p:cNvPr id="312" name="Google Shape;312;p27"/>
          <p:cNvSpPr txBox="1"/>
          <p:nvPr/>
        </p:nvSpPr>
        <p:spPr>
          <a:xfrm>
            <a:off x="3264693" y="2495550"/>
            <a:ext cx="2900362"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2C59"/>
                </a:solidFill>
                <a:latin typeface="Montserrat"/>
                <a:ea typeface="Montserrat"/>
                <a:cs typeface="Montserrat"/>
                <a:sym typeface="Montserrat"/>
              </a:rPr>
              <a:t>2. Digital Verification</a:t>
            </a:r>
            <a:endParaRPr/>
          </a:p>
        </p:txBody>
      </p:sp>
      <p:sp>
        <p:nvSpPr>
          <p:cNvPr id="313" name="Google Shape;313;p27"/>
          <p:cNvSpPr txBox="1"/>
          <p:nvPr/>
        </p:nvSpPr>
        <p:spPr>
          <a:xfrm>
            <a:off x="3333750" y="2819400"/>
            <a:ext cx="2762250" cy="428625"/>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0F172A"/>
                </a:solidFill>
                <a:latin typeface="Inter"/>
                <a:ea typeface="Inter"/>
                <a:cs typeface="Inter"/>
                <a:sym typeface="Inter"/>
              </a:rPr>
              <a:t>Officer requests API validation (Identity, Tax, Land Registry) instantly on-screen.</a:t>
            </a:r>
            <a:endParaRPr/>
          </a:p>
        </p:txBody>
      </p:sp>
      <p:sp>
        <p:nvSpPr>
          <p:cNvPr id="314" name="Google Shape;314;p27"/>
          <p:cNvSpPr txBox="1"/>
          <p:nvPr/>
        </p:nvSpPr>
        <p:spPr>
          <a:xfrm>
            <a:off x="6026943" y="4057650"/>
            <a:ext cx="2900362"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2C59"/>
                </a:solidFill>
                <a:latin typeface="Montserrat"/>
                <a:ea typeface="Montserrat"/>
                <a:cs typeface="Montserrat"/>
                <a:sym typeface="Montserrat"/>
              </a:rPr>
              <a:t>3. Automated Payment</a:t>
            </a:r>
            <a:endParaRPr/>
          </a:p>
        </p:txBody>
      </p:sp>
      <p:sp>
        <p:nvSpPr>
          <p:cNvPr id="315" name="Google Shape;315;p27"/>
          <p:cNvSpPr txBox="1"/>
          <p:nvPr/>
        </p:nvSpPr>
        <p:spPr>
          <a:xfrm>
            <a:off x="6096000" y="4381500"/>
            <a:ext cx="2762250" cy="642937"/>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0F172A"/>
                </a:solidFill>
                <a:latin typeface="Inter"/>
                <a:ea typeface="Inter"/>
                <a:cs typeface="Inter"/>
                <a:sym typeface="Inter"/>
              </a:rPr>
              <a:t>Fee calculated automatically. POS or mobile payment processed and reconciled.</a:t>
            </a:r>
            <a:endParaRPr/>
          </a:p>
        </p:txBody>
      </p:sp>
      <p:sp>
        <p:nvSpPr>
          <p:cNvPr id="316" name="Google Shape;316;p27"/>
          <p:cNvSpPr txBox="1"/>
          <p:nvPr/>
        </p:nvSpPr>
        <p:spPr>
          <a:xfrm>
            <a:off x="8789193" y="2281237"/>
            <a:ext cx="2900362"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2C59"/>
                </a:solidFill>
                <a:latin typeface="Montserrat"/>
                <a:ea typeface="Montserrat"/>
                <a:cs typeface="Montserrat"/>
                <a:sym typeface="Montserrat"/>
              </a:rPr>
              <a:t>4. Digital Approval</a:t>
            </a:r>
            <a:endParaRPr/>
          </a:p>
        </p:txBody>
      </p:sp>
      <p:sp>
        <p:nvSpPr>
          <p:cNvPr id="317" name="Google Shape;317;p27"/>
          <p:cNvSpPr txBox="1"/>
          <p:nvPr/>
        </p:nvSpPr>
        <p:spPr>
          <a:xfrm>
            <a:off x="8858250" y="2605087"/>
            <a:ext cx="2762250" cy="642937"/>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0F172A"/>
                </a:solidFill>
                <a:latin typeface="Inter"/>
                <a:ea typeface="Inter"/>
                <a:cs typeface="Inter"/>
                <a:sym typeface="Inter"/>
              </a:rPr>
              <a:t>SLA-monitored back-office approval completed. E-Certificate issued securely.</a:t>
            </a:r>
            <a:endParaRPr/>
          </a:p>
        </p:txBody>
      </p:sp>
      <p:sp>
        <p:nvSpPr>
          <p:cNvPr id="318" name="Google Shape;318;p27"/>
          <p:cNvSpPr/>
          <p:nvPr/>
        </p:nvSpPr>
        <p:spPr>
          <a:xfrm>
            <a:off x="1838325" y="3609975"/>
            <a:ext cx="228600" cy="228600"/>
          </a:xfrm>
          <a:prstGeom prst="roundRect">
            <a:avLst>
              <a:gd fmla="val 50000" name="adj"/>
            </a:avLst>
          </a:prstGeom>
          <a:noFill/>
          <a:ln cap="flat" cmpd="sng" w="47625">
            <a:solidFill>
              <a:srgbClr val="0EA5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7"/>
          <p:cNvSpPr/>
          <p:nvPr/>
        </p:nvSpPr>
        <p:spPr>
          <a:xfrm>
            <a:off x="4600575" y="3609975"/>
            <a:ext cx="228600" cy="228600"/>
          </a:xfrm>
          <a:prstGeom prst="roundRect">
            <a:avLst>
              <a:gd fmla="val 50000" name="adj"/>
            </a:avLst>
          </a:prstGeom>
          <a:noFill/>
          <a:ln cap="flat" cmpd="sng" w="47625">
            <a:solidFill>
              <a:srgbClr val="0EA5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27"/>
          <p:cNvSpPr/>
          <p:nvPr/>
        </p:nvSpPr>
        <p:spPr>
          <a:xfrm>
            <a:off x="7362825" y="3609975"/>
            <a:ext cx="228600" cy="228600"/>
          </a:xfrm>
          <a:prstGeom prst="roundRect">
            <a:avLst>
              <a:gd fmla="val 50000" name="adj"/>
            </a:avLst>
          </a:prstGeom>
          <a:noFill/>
          <a:ln cap="flat" cmpd="sng" w="47625">
            <a:solidFill>
              <a:srgbClr val="0EA5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27"/>
          <p:cNvSpPr/>
          <p:nvPr/>
        </p:nvSpPr>
        <p:spPr>
          <a:xfrm>
            <a:off x="10125075" y="3609975"/>
            <a:ext cx="228600" cy="228600"/>
          </a:xfrm>
          <a:prstGeom prst="roundRect">
            <a:avLst>
              <a:gd fmla="val 50000" name="adj"/>
            </a:avLst>
          </a:prstGeom>
          <a:noFill/>
          <a:ln cap="flat" cmpd="sng" w="47625">
            <a:solidFill>
              <a:srgbClr val="0EA5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25" name="Shape 325"/>
        <p:cNvGrpSpPr/>
        <p:nvPr/>
      </p:nvGrpSpPr>
      <p:grpSpPr>
        <a:xfrm>
          <a:off x="0" y="0"/>
          <a:ext cx="0" cy="0"/>
          <a:chOff x="0" y="0"/>
          <a:chExt cx="0" cy="0"/>
        </a:xfrm>
      </p:grpSpPr>
      <p:pic>
        <p:nvPicPr>
          <p:cNvPr descr="image.png" id="326" name="Google Shape;326;p28"/>
          <p:cNvPicPr preferRelativeResize="0"/>
          <p:nvPr/>
        </p:nvPicPr>
        <p:blipFill rotWithShape="1">
          <a:blip r:embed="rId3">
            <a:alphaModFix/>
          </a:blip>
          <a:srcRect b="0" l="0" r="0" t="0"/>
          <a:stretch/>
        </p:blipFill>
        <p:spPr>
          <a:xfrm>
            <a:off x="571500" y="1066800"/>
            <a:ext cx="11049000" cy="5314950"/>
          </a:xfrm>
          <a:prstGeom prst="rect">
            <a:avLst/>
          </a:prstGeom>
          <a:noFill/>
          <a:ln>
            <a:noFill/>
          </a:ln>
        </p:spPr>
      </p:pic>
      <p:sp>
        <p:nvSpPr>
          <p:cNvPr id="327" name="Google Shape;327;p28"/>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Estimated Daily Transaction Load (Phase 1)</a:t>
            </a:r>
            <a:endParaRPr/>
          </a:p>
        </p:txBody>
      </p:sp>
      <p:sp>
        <p:nvSpPr>
          <p:cNvPr id="328" name="Google Shape;328;p28"/>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28"/>
          <p:cNvSpPr txBox="1"/>
          <p:nvPr/>
        </p:nvSpPr>
        <p:spPr>
          <a:xfrm>
            <a:off x="571500" y="5000625"/>
            <a:ext cx="6372225" cy="2571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1" lang="en-US" sz="1350" u="none" cap="none" strike="noStrike">
                <a:solidFill>
                  <a:srgbClr val="475569"/>
                </a:solidFill>
                <a:latin typeface="Inter"/>
                <a:ea typeface="Inter"/>
                <a:cs typeface="Inter"/>
                <a:sym typeface="Inter"/>
              </a:rPr>
              <a:t>Total System Sizing Target: 1,500 daily transactions across 30 active counters.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descr="image.png" id="334" name="Google Shape;334;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5" name="Google Shape;335;p29"/>
          <p:cNvSpPr/>
          <p:nvPr/>
        </p:nvSpPr>
        <p:spPr>
          <a:xfrm>
            <a:off x="5715000" y="2886075"/>
            <a:ext cx="762000" cy="3810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6" name="Google Shape;336;p29"/>
          <p:cNvSpPr txBox="1"/>
          <p:nvPr/>
        </p:nvSpPr>
        <p:spPr>
          <a:xfrm>
            <a:off x="1730454" y="3209925"/>
            <a:ext cx="8731091"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8FAFC"/>
                </a:solidFill>
                <a:latin typeface="Montserrat"/>
                <a:ea typeface="Montserrat"/>
                <a:cs typeface="Montserrat"/>
                <a:sym typeface="Montserrat"/>
              </a:rPr>
              <a:t>Phase III: Expansion Roadmap</a:t>
            </a:r>
            <a:endParaRPr/>
          </a:p>
        </p:txBody>
      </p:sp>
      <p:sp>
        <p:nvSpPr>
          <p:cNvPr id="337" name="Google Shape;337;p29"/>
          <p:cNvSpPr txBox="1"/>
          <p:nvPr/>
        </p:nvSpPr>
        <p:spPr>
          <a:xfrm>
            <a:off x="4005262" y="3857625"/>
            <a:ext cx="4181475" cy="2571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F8FAFC"/>
                </a:solidFill>
                <a:latin typeface="Inter"/>
                <a:ea typeface="Inter"/>
                <a:cs typeface="Inter"/>
                <a:sym typeface="Inter"/>
              </a:rPr>
              <a:t>Phase 2 Services, GIS Integration &amp; Strategic Scale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41" name="Shape 341"/>
        <p:cNvGrpSpPr/>
        <p:nvPr/>
      </p:nvGrpSpPr>
      <p:grpSpPr>
        <a:xfrm>
          <a:off x="0" y="0"/>
          <a:ext cx="0" cy="0"/>
          <a:chOff x="0" y="0"/>
          <a:chExt cx="0" cy="0"/>
        </a:xfrm>
      </p:grpSpPr>
      <p:pic>
        <p:nvPicPr>
          <p:cNvPr descr="image.png" id="342" name="Google Shape;342;p30"/>
          <p:cNvPicPr preferRelativeResize="0"/>
          <p:nvPr/>
        </p:nvPicPr>
        <p:blipFill rotWithShape="1">
          <a:blip r:embed="rId3">
            <a:alphaModFix/>
          </a:blip>
          <a:srcRect b="0" l="0" r="0" t="0"/>
          <a:stretch/>
        </p:blipFill>
        <p:spPr>
          <a:xfrm>
            <a:off x="571500" y="1909762"/>
            <a:ext cx="3492549" cy="3629025"/>
          </a:xfrm>
          <a:prstGeom prst="rect">
            <a:avLst/>
          </a:prstGeom>
          <a:noFill/>
          <a:ln>
            <a:noFill/>
          </a:ln>
        </p:spPr>
      </p:pic>
      <p:pic>
        <p:nvPicPr>
          <p:cNvPr descr="image.png" id="343" name="Google Shape;343;p30"/>
          <p:cNvPicPr preferRelativeResize="0"/>
          <p:nvPr/>
        </p:nvPicPr>
        <p:blipFill rotWithShape="1">
          <a:blip r:embed="rId4">
            <a:alphaModFix/>
          </a:blip>
          <a:srcRect b="0" l="0" r="0" t="0"/>
          <a:stretch/>
        </p:blipFill>
        <p:spPr>
          <a:xfrm>
            <a:off x="4349799" y="1909762"/>
            <a:ext cx="3492549" cy="3629025"/>
          </a:xfrm>
          <a:prstGeom prst="rect">
            <a:avLst/>
          </a:prstGeom>
          <a:noFill/>
          <a:ln>
            <a:noFill/>
          </a:ln>
        </p:spPr>
      </p:pic>
      <p:pic>
        <p:nvPicPr>
          <p:cNvPr descr="image.png" id="344" name="Google Shape;344;p30"/>
          <p:cNvPicPr preferRelativeResize="0"/>
          <p:nvPr/>
        </p:nvPicPr>
        <p:blipFill rotWithShape="1">
          <a:blip r:embed="rId5">
            <a:alphaModFix/>
          </a:blip>
          <a:srcRect b="0" l="0" r="0" t="0"/>
          <a:stretch/>
        </p:blipFill>
        <p:spPr>
          <a:xfrm>
            <a:off x="8128099" y="1909762"/>
            <a:ext cx="3492549" cy="3629025"/>
          </a:xfrm>
          <a:prstGeom prst="rect">
            <a:avLst/>
          </a:prstGeom>
          <a:noFill/>
          <a:ln>
            <a:noFill/>
          </a:ln>
        </p:spPr>
      </p:pic>
      <p:sp>
        <p:nvSpPr>
          <p:cNvPr id="345" name="Google Shape;345;p30"/>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Phase 2 Strategic Expansion Domains</a:t>
            </a:r>
            <a:endParaRPr/>
          </a:p>
        </p:txBody>
      </p:sp>
      <p:sp>
        <p:nvSpPr>
          <p:cNvPr id="346" name="Google Shape;346;p30"/>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47" name="Google Shape;347;p30"/>
          <p:cNvPicPr preferRelativeResize="0"/>
          <p:nvPr/>
        </p:nvPicPr>
        <p:blipFill rotWithShape="1">
          <a:blip r:embed="rId6">
            <a:alphaModFix/>
          </a:blip>
          <a:srcRect b="0" l="0" r="0" t="0"/>
          <a:stretch/>
        </p:blipFill>
        <p:spPr>
          <a:xfrm>
            <a:off x="866775" y="2205037"/>
            <a:ext cx="666750" cy="666750"/>
          </a:xfrm>
          <a:prstGeom prst="rect">
            <a:avLst/>
          </a:prstGeom>
          <a:noFill/>
          <a:ln>
            <a:noFill/>
          </a:ln>
        </p:spPr>
      </p:pic>
      <p:sp>
        <p:nvSpPr>
          <p:cNvPr id="348" name="Google Shape;348;p30"/>
          <p:cNvSpPr txBox="1"/>
          <p:nvPr/>
        </p:nvSpPr>
        <p:spPr>
          <a:xfrm>
            <a:off x="866775" y="3062287"/>
            <a:ext cx="2130266"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Urban Planning</a:t>
            </a:r>
            <a:endParaRPr/>
          </a:p>
        </p:txBody>
      </p:sp>
      <p:sp>
        <p:nvSpPr>
          <p:cNvPr id="349" name="Google Shape;349;p30"/>
          <p:cNvSpPr txBox="1"/>
          <p:nvPr/>
        </p:nvSpPr>
        <p:spPr>
          <a:xfrm>
            <a:off x="866775" y="3509962"/>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12-15 services including GIS-enabled Building Permits, Zoning Changes, and Occupancy Certifications requiring multi-bureau review.</a:t>
            </a:r>
            <a:endParaRPr/>
          </a:p>
        </p:txBody>
      </p:sp>
      <p:pic>
        <p:nvPicPr>
          <p:cNvPr descr="image.png" id="350" name="Google Shape;350;p30"/>
          <p:cNvPicPr preferRelativeResize="0"/>
          <p:nvPr/>
        </p:nvPicPr>
        <p:blipFill rotWithShape="1">
          <a:blip r:embed="rId7">
            <a:alphaModFix/>
          </a:blip>
          <a:srcRect b="0" l="0" r="0" t="0"/>
          <a:stretch/>
        </p:blipFill>
        <p:spPr>
          <a:xfrm>
            <a:off x="4645074" y="2205037"/>
            <a:ext cx="666750" cy="666750"/>
          </a:xfrm>
          <a:prstGeom prst="rect">
            <a:avLst/>
          </a:prstGeom>
          <a:noFill/>
          <a:ln>
            <a:noFill/>
          </a:ln>
        </p:spPr>
      </p:pic>
      <p:sp>
        <p:nvSpPr>
          <p:cNvPr id="351" name="Google Shape;351;p30"/>
          <p:cNvSpPr txBox="1"/>
          <p:nvPr/>
        </p:nvSpPr>
        <p:spPr>
          <a:xfrm>
            <a:off x="4645074" y="3062287"/>
            <a:ext cx="3047099"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Infrastructure &amp; Utilities</a:t>
            </a:r>
            <a:endParaRPr/>
          </a:p>
        </p:txBody>
      </p:sp>
      <p:sp>
        <p:nvSpPr>
          <p:cNvPr id="352" name="Google Shape;352;p30"/>
          <p:cNvSpPr txBox="1"/>
          <p:nvPr/>
        </p:nvSpPr>
        <p:spPr>
          <a:xfrm>
            <a:off x="4645074" y="3814762"/>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6-8 services coordinating multi-agency approvals like Utility Connection approvals, Road Excavation, and Telecom Infrastructure permits.</a:t>
            </a:r>
            <a:endParaRPr/>
          </a:p>
        </p:txBody>
      </p:sp>
      <p:pic>
        <p:nvPicPr>
          <p:cNvPr descr="image.png" id="353" name="Google Shape;353;p30"/>
          <p:cNvPicPr preferRelativeResize="0"/>
          <p:nvPr/>
        </p:nvPicPr>
        <p:blipFill rotWithShape="1">
          <a:blip r:embed="rId8">
            <a:alphaModFix/>
          </a:blip>
          <a:srcRect b="0" l="0" r="0" t="0"/>
          <a:stretch/>
        </p:blipFill>
        <p:spPr>
          <a:xfrm>
            <a:off x="8423374" y="2205037"/>
            <a:ext cx="666750" cy="666750"/>
          </a:xfrm>
          <a:prstGeom prst="rect">
            <a:avLst/>
          </a:prstGeom>
          <a:noFill/>
          <a:ln>
            <a:noFill/>
          </a:ln>
        </p:spPr>
      </p:pic>
      <p:sp>
        <p:nvSpPr>
          <p:cNvPr id="354" name="Google Shape;354;p30"/>
          <p:cNvSpPr txBox="1"/>
          <p:nvPr/>
        </p:nvSpPr>
        <p:spPr>
          <a:xfrm>
            <a:off x="8423374" y="3062287"/>
            <a:ext cx="2950368"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Environment &amp; Safety</a:t>
            </a:r>
            <a:endParaRPr/>
          </a:p>
        </p:txBody>
      </p:sp>
      <p:sp>
        <p:nvSpPr>
          <p:cNvPr id="355" name="Google Shape;355;p30"/>
          <p:cNvSpPr txBox="1"/>
          <p:nvPr/>
        </p:nvSpPr>
        <p:spPr>
          <a:xfrm>
            <a:off x="8423374" y="3509962"/>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10-12 services focusing on compliance, including Environmental Clearance, Fire Safety Certification, and Waste Contractor Licensing.</a:t>
            </a:r>
            <a:endParaRPr/>
          </a:p>
        </p:txBody>
      </p:sp>
      <p:pic>
        <p:nvPicPr>
          <p:cNvPr descr="image.png" id="356" name="Google Shape;356;p30"/>
          <p:cNvPicPr preferRelativeResize="0"/>
          <p:nvPr/>
        </p:nvPicPr>
        <p:blipFill rotWithShape="1">
          <a:blip r:embed="rId9">
            <a:alphaModFix/>
          </a:blip>
          <a:srcRect b="0" l="0" r="0" t="0"/>
          <a:stretch/>
        </p:blipFill>
        <p:spPr>
          <a:xfrm>
            <a:off x="985837" y="2366962"/>
            <a:ext cx="428625" cy="342900"/>
          </a:xfrm>
          <a:prstGeom prst="rect">
            <a:avLst/>
          </a:prstGeom>
          <a:noFill/>
          <a:ln>
            <a:noFill/>
          </a:ln>
        </p:spPr>
      </p:pic>
      <p:pic>
        <p:nvPicPr>
          <p:cNvPr descr="image.png" id="357" name="Google Shape;357;p30"/>
          <p:cNvPicPr preferRelativeResize="0"/>
          <p:nvPr/>
        </p:nvPicPr>
        <p:blipFill rotWithShape="1">
          <a:blip r:embed="rId10">
            <a:alphaModFix/>
          </a:blip>
          <a:srcRect b="0" l="0" r="0" t="0"/>
          <a:stretch/>
        </p:blipFill>
        <p:spPr>
          <a:xfrm>
            <a:off x="4826049" y="2366962"/>
            <a:ext cx="304800" cy="342900"/>
          </a:xfrm>
          <a:prstGeom prst="rect">
            <a:avLst/>
          </a:prstGeom>
          <a:noFill/>
          <a:ln>
            <a:noFill/>
          </a:ln>
        </p:spPr>
      </p:pic>
      <p:pic>
        <p:nvPicPr>
          <p:cNvPr descr="image.png" id="358" name="Google Shape;358;p30"/>
          <p:cNvPicPr preferRelativeResize="0"/>
          <p:nvPr/>
        </p:nvPicPr>
        <p:blipFill rotWithShape="1">
          <a:blip r:embed="rId11">
            <a:alphaModFix/>
          </a:blip>
          <a:srcRect b="0" l="0" r="0" t="0"/>
          <a:stretch/>
        </p:blipFill>
        <p:spPr>
          <a:xfrm>
            <a:off x="8585299" y="2366962"/>
            <a:ext cx="342900" cy="342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62" name="Shape 362"/>
        <p:cNvGrpSpPr/>
        <p:nvPr/>
      </p:nvGrpSpPr>
      <p:grpSpPr>
        <a:xfrm>
          <a:off x="0" y="0"/>
          <a:ext cx="0" cy="0"/>
          <a:chOff x="0" y="0"/>
          <a:chExt cx="0" cy="0"/>
        </a:xfrm>
      </p:grpSpPr>
      <p:pic>
        <p:nvPicPr>
          <p:cNvPr descr="image.png" id="363" name="Google Shape;363;p31"/>
          <p:cNvPicPr preferRelativeResize="0"/>
          <p:nvPr/>
        </p:nvPicPr>
        <p:blipFill rotWithShape="1">
          <a:blip r:embed="rId3">
            <a:alphaModFix/>
          </a:blip>
          <a:srcRect b="0" l="0" r="0" t="0"/>
          <a:stretch/>
        </p:blipFill>
        <p:spPr>
          <a:xfrm>
            <a:off x="571500" y="2400300"/>
            <a:ext cx="11049000" cy="2647950"/>
          </a:xfrm>
          <a:prstGeom prst="rect">
            <a:avLst/>
          </a:prstGeom>
          <a:noFill/>
          <a:ln>
            <a:noFill/>
          </a:ln>
        </p:spPr>
      </p:pic>
      <p:sp>
        <p:nvSpPr>
          <p:cNvPr id="364" name="Google Shape;364;p31"/>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Integration Complexity Matrix (Phase 2)</a:t>
            </a:r>
            <a:endParaRPr/>
          </a:p>
        </p:txBody>
      </p:sp>
      <p:sp>
        <p:nvSpPr>
          <p:cNvPr id="365" name="Google Shape;365;p31"/>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366" name="Google Shape;366;p31"/>
          <p:cNvGraphicFramePr/>
          <p:nvPr/>
        </p:nvGraphicFramePr>
        <p:xfrm>
          <a:off x="581025" y="2409825"/>
          <a:ext cx="3000000" cy="3000000"/>
        </p:xfrm>
        <a:graphic>
          <a:graphicData uri="http://schemas.openxmlformats.org/drawingml/2006/table">
            <a:tbl>
              <a:tblPr bandRow="1" firstRow="1">
                <a:noFill/>
                <a:tableStyleId>{5AC119ED-5815-4C41-8F13-C28447212DCB}</a:tableStyleId>
              </a:tblPr>
              <a:tblGrid>
                <a:gridCol w="2829225"/>
                <a:gridCol w="3454450"/>
                <a:gridCol w="3177625"/>
                <a:gridCol w="1568650"/>
              </a:tblGrid>
              <a:tr h="525775">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Phase 2 Service 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Workflow Characteristic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Key Tech Dependency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Complexity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Building Permit Application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Multi-office sequential routing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GIS Zoning Layer, Structural DB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High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Zoning Change Application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Committee review, Public notice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GIS Map Integration, DMS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High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Fire Safety Certification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Inspection scheduling, Validation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Workflow Engine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Medium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Utility Relocation Request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Cross-agency APIs (Water/Power)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External API Gateway Access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Very High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367" name="Google Shape;367;p31"/>
          <p:cNvSpPr/>
          <p:nvPr/>
        </p:nvSpPr>
        <p:spPr>
          <a:xfrm>
            <a:off x="581025" y="2900362"/>
            <a:ext cx="282922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8" name="Google Shape;368;p31"/>
          <p:cNvSpPr/>
          <p:nvPr/>
        </p:nvSpPr>
        <p:spPr>
          <a:xfrm>
            <a:off x="3410247" y="2900362"/>
            <a:ext cx="345444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31"/>
          <p:cNvSpPr/>
          <p:nvPr/>
        </p:nvSpPr>
        <p:spPr>
          <a:xfrm>
            <a:off x="6864697" y="2900362"/>
            <a:ext cx="317762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31"/>
          <p:cNvSpPr/>
          <p:nvPr/>
        </p:nvSpPr>
        <p:spPr>
          <a:xfrm>
            <a:off x="10042326" y="2900362"/>
            <a:ext cx="156864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1" name="Google Shape;371;p31"/>
          <p:cNvSpPr/>
          <p:nvPr/>
        </p:nvSpPr>
        <p:spPr>
          <a:xfrm>
            <a:off x="581025" y="3433762"/>
            <a:ext cx="282922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2" name="Google Shape;372;p31"/>
          <p:cNvSpPr/>
          <p:nvPr/>
        </p:nvSpPr>
        <p:spPr>
          <a:xfrm>
            <a:off x="3410247" y="3433762"/>
            <a:ext cx="345444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3" name="Google Shape;373;p31"/>
          <p:cNvSpPr/>
          <p:nvPr/>
        </p:nvSpPr>
        <p:spPr>
          <a:xfrm>
            <a:off x="6864697" y="3433762"/>
            <a:ext cx="317762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p31"/>
          <p:cNvSpPr/>
          <p:nvPr/>
        </p:nvSpPr>
        <p:spPr>
          <a:xfrm>
            <a:off x="10042326" y="3433762"/>
            <a:ext cx="156864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31"/>
          <p:cNvSpPr/>
          <p:nvPr/>
        </p:nvSpPr>
        <p:spPr>
          <a:xfrm>
            <a:off x="581025" y="3967162"/>
            <a:ext cx="282922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6" name="Google Shape;376;p31"/>
          <p:cNvSpPr/>
          <p:nvPr/>
        </p:nvSpPr>
        <p:spPr>
          <a:xfrm>
            <a:off x="3410247" y="3967162"/>
            <a:ext cx="345444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31"/>
          <p:cNvSpPr/>
          <p:nvPr/>
        </p:nvSpPr>
        <p:spPr>
          <a:xfrm>
            <a:off x="6864697" y="3967162"/>
            <a:ext cx="317762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31"/>
          <p:cNvSpPr/>
          <p:nvPr/>
        </p:nvSpPr>
        <p:spPr>
          <a:xfrm>
            <a:off x="10042326" y="3967162"/>
            <a:ext cx="156864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31"/>
          <p:cNvSpPr/>
          <p:nvPr/>
        </p:nvSpPr>
        <p:spPr>
          <a:xfrm>
            <a:off x="581025" y="4500562"/>
            <a:ext cx="282922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0" name="Google Shape;380;p31"/>
          <p:cNvSpPr/>
          <p:nvPr/>
        </p:nvSpPr>
        <p:spPr>
          <a:xfrm>
            <a:off x="3410247" y="4500562"/>
            <a:ext cx="345444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31"/>
          <p:cNvSpPr/>
          <p:nvPr/>
        </p:nvSpPr>
        <p:spPr>
          <a:xfrm>
            <a:off x="6864697" y="4500562"/>
            <a:ext cx="317762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2" name="Google Shape;382;p31"/>
          <p:cNvSpPr/>
          <p:nvPr/>
        </p:nvSpPr>
        <p:spPr>
          <a:xfrm>
            <a:off x="10042326" y="4500562"/>
            <a:ext cx="156864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86" name="Shape 386"/>
        <p:cNvGrpSpPr/>
        <p:nvPr/>
      </p:nvGrpSpPr>
      <p:grpSpPr>
        <a:xfrm>
          <a:off x="0" y="0"/>
          <a:ext cx="0" cy="0"/>
          <a:chOff x="0" y="0"/>
          <a:chExt cx="0" cy="0"/>
        </a:xfrm>
      </p:grpSpPr>
      <p:pic>
        <p:nvPicPr>
          <p:cNvPr descr="image.png" id="387" name="Google Shape;387;p32"/>
          <p:cNvPicPr preferRelativeResize="0"/>
          <p:nvPr/>
        </p:nvPicPr>
        <p:blipFill rotWithShape="1">
          <a:blip r:embed="rId3">
            <a:alphaModFix/>
          </a:blip>
          <a:srcRect b="0" l="0" r="0" t="0"/>
          <a:stretch/>
        </p:blipFill>
        <p:spPr>
          <a:xfrm>
            <a:off x="571500" y="1066800"/>
            <a:ext cx="11049000" cy="5314950"/>
          </a:xfrm>
          <a:prstGeom prst="rect">
            <a:avLst/>
          </a:prstGeom>
          <a:noFill/>
          <a:ln>
            <a:noFill/>
          </a:ln>
        </p:spPr>
      </p:pic>
      <p:sp>
        <p:nvSpPr>
          <p:cNvPr id="388" name="Google Shape;388;p32"/>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Infrastructure Scalability Multipliers</a:t>
            </a:r>
            <a:endParaRPr/>
          </a:p>
        </p:txBody>
      </p:sp>
      <p:sp>
        <p:nvSpPr>
          <p:cNvPr id="389" name="Google Shape;389;p32"/>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0" name="Google Shape;390;p32"/>
          <p:cNvSpPr txBox="1"/>
          <p:nvPr/>
        </p:nvSpPr>
        <p:spPr>
          <a:xfrm>
            <a:off x="571500" y="4300537"/>
            <a:ext cx="1104900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475569"/>
                </a:solidFill>
                <a:latin typeface="Inter"/>
                <a:ea typeface="Inter"/>
                <a:cs typeface="Inter"/>
                <a:sym typeface="Inter"/>
              </a:rPr>
              <a:t>Phase 2 requires a projected 1.5x - 2.0x increase in IT processing power and a 3.0x increase in storage due to GIS layers and large-format document retention.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94" name="Shape 394"/>
        <p:cNvGrpSpPr/>
        <p:nvPr/>
      </p:nvGrpSpPr>
      <p:grpSpPr>
        <a:xfrm>
          <a:off x="0" y="0"/>
          <a:ext cx="0" cy="0"/>
          <a:chOff x="0" y="0"/>
          <a:chExt cx="0" cy="0"/>
        </a:xfrm>
      </p:grpSpPr>
      <p:sp>
        <p:nvSpPr>
          <p:cNvPr id="395" name="Google Shape;395;p33"/>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Phase 2 Target Rollout Timeline</a:t>
            </a:r>
            <a:endParaRPr/>
          </a:p>
        </p:txBody>
      </p:sp>
      <p:sp>
        <p:nvSpPr>
          <p:cNvPr id="396" name="Google Shape;396;p33"/>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7" name="Google Shape;397;p33"/>
          <p:cNvSpPr/>
          <p:nvPr/>
        </p:nvSpPr>
        <p:spPr>
          <a:xfrm>
            <a:off x="571500" y="3705225"/>
            <a:ext cx="11049000" cy="381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8" name="Google Shape;398;p33"/>
          <p:cNvSpPr txBox="1"/>
          <p:nvPr/>
        </p:nvSpPr>
        <p:spPr>
          <a:xfrm>
            <a:off x="502443" y="4057650"/>
            <a:ext cx="2900362"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2C59"/>
                </a:solidFill>
                <a:latin typeface="Montserrat"/>
                <a:ea typeface="Montserrat"/>
                <a:cs typeface="Montserrat"/>
                <a:sym typeface="Montserrat"/>
              </a:rPr>
              <a:t>Month 6</a:t>
            </a:r>
            <a:endParaRPr/>
          </a:p>
        </p:txBody>
      </p:sp>
      <p:sp>
        <p:nvSpPr>
          <p:cNvPr id="399" name="Google Shape;399;p33"/>
          <p:cNvSpPr txBox="1"/>
          <p:nvPr/>
        </p:nvSpPr>
        <p:spPr>
          <a:xfrm>
            <a:off x="571500" y="4381500"/>
            <a:ext cx="2762250" cy="428625"/>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0F172A"/>
                </a:solidFill>
                <a:latin typeface="Inter"/>
                <a:ea typeface="Inter"/>
                <a:cs typeface="Inter"/>
                <a:sym typeface="Inter"/>
              </a:rPr>
              <a:t>Phase 1 Operations Stabilized. Overall SLA Compliance exceeds 80%.</a:t>
            </a:r>
            <a:endParaRPr/>
          </a:p>
        </p:txBody>
      </p:sp>
      <p:sp>
        <p:nvSpPr>
          <p:cNvPr id="400" name="Google Shape;400;p33"/>
          <p:cNvSpPr txBox="1"/>
          <p:nvPr/>
        </p:nvSpPr>
        <p:spPr>
          <a:xfrm>
            <a:off x="3264693" y="2495550"/>
            <a:ext cx="2900362"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2C59"/>
                </a:solidFill>
                <a:latin typeface="Montserrat"/>
                <a:ea typeface="Montserrat"/>
                <a:cs typeface="Montserrat"/>
                <a:sym typeface="Montserrat"/>
              </a:rPr>
              <a:t>Months 7-12 (Wave 2A)</a:t>
            </a:r>
            <a:endParaRPr/>
          </a:p>
        </p:txBody>
      </p:sp>
      <p:sp>
        <p:nvSpPr>
          <p:cNvPr id="401" name="Google Shape;401;p33"/>
          <p:cNvSpPr txBox="1"/>
          <p:nvPr/>
        </p:nvSpPr>
        <p:spPr>
          <a:xfrm>
            <a:off x="3333750" y="2819400"/>
            <a:ext cx="2762250" cy="428625"/>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0F172A"/>
                </a:solidFill>
                <a:latin typeface="Inter"/>
                <a:ea typeface="Inter"/>
                <a:cs typeface="Inter"/>
                <a:sym typeface="Inter"/>
              </a:rPr>
              <a:t>GIS integration launch. Building Permits &amp; Zoning changes digitized.</a:t>
            </a:r>
            <a:endParaRPr/>
          </a:p>
        </p:txBody>
      </p:sp>
      <p:sp>
        <p:nvSpPr>
          <p:cNvPr id="402" name="Google Shape;402;p33"/>
          <p:cNvSpPr txBox="1"/>
          <p:nvPr/>
        </p:nvSpPr>
        <p:spPr>
          <a:xfrm>
            <a:off x="6026943" y="4057650"/>
            <a:ext cx="2900362"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2C59"/>
                </a:solidFill>
                <a:latin typeface="Montserrat"/>
                <a:ea typeface="Montserrat"/>
                <a:cs typeface="Montserrat"/>
                <a:sym typeface="Montserrat"/>
              </a:rPr>
              <a:t>Months 12-18 (Wave 2B)</a:t>
            </a:r>
            <a:endParaRPr/>
          </a:p>
        </p:txBody>
      </p:sp>
      <p:sp>
        <p:nvSpPr>
          <p:cNvPr id="403" name="Google Shape;403;p33"/>
          <p:cNvSpPr txBox="1"/>
          <p:nvPr/>
        </p:nvSpPr>
        <p:spPr>
          <a:xfrm>
            <a:off x="6096000" y="4381500"/>
            <a:ext cx="2762250" cy="428625"/>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0F172A"/>
                </a:solidFill>
                <a:latin typeface="Inter"/>
                <a:ea typeface="Inter"/>
                <a:cs typeface="Inter"/>
                <a:sym typeface="Inter"/>
              </a:rPr>
              <a:t>Utility coordination &amp; public safety compliance modules operationalized.</a:t>
            </a:r>
            <a:endParaRPr/>
          </a:p>
        </p:txBody>
      </p:sp>
      <p:sp>
        <p:nvSpPr>
          <p:cNvPr id="404" name="Google Shape;404;p33"/>
          <p:cNvSpPr txBox="1"/>
          <p:nvPr/>
        </p:nvSpPr>
        <p:spPr>
          <a:xfrm>
            <a:off x="8789193" y="2495550"/>
            <a:ext cx="2900362"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2C59"/>
                </a:solidFill>
                <a:latin typeface="Montserrat"/>
                <a:ea typeface="Montserrat"/>
                <a:cs typeface="Montserrat"/>
                <a:sym typeface="Montserrat"/>
              </a:rPr>
              <a:t>Months 18-24 (Wave 2C)</a:t>
            </a:r>
            <a:endParaRPr/>
          </a:p>
        </p:txBody>
      </p:sp>
      <p:sp>
        <p:nvSpPr>
          <p:cNvPr id="405" name="Google Shape;405;p33"/>
          <p:cNvSpPr txBox="1"/>
          <p:nvPr/>
        </p:nvSpPr>
        <p:spPr>
          <a:xfrm>
            <a:off x="8858250" y="2819400"/>
            <a:ext cx="2762250" cy="428625"/>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0F172A"/>
                </a:solidFill>
                <a:latin typeface="Inter"/>
                <a:ea typeface="Inter"/>
                <a:cs typeface="Inter"/>
                <a:sym typeface="Inter"/>
              </a:rPr>
              <a:t>Executive Governance Dashboards &amp; predictive city analytics deployed.</a:t>
            </a:r>
            <a:endParaRPr/>
          </a:p>
        </p:txBody>
      </p:sp>
      <p:sp>
        <p:nvSpPr>
          <p:cNvPr id="406" name="Google Shape;406;p33"/>
          <p:cNvSpPr/>
          <p:nvPr/>
        </p:nvSpPr>
        <p:spPr>
          <a:xfrm>
            <a:off x="1838325" y="3609975"/>
            <a:ext cx="228600" cy="228600"/>
          </a:xfrm>
          <a:prstGeom prst="roundRect">
            <a:avLst>
              <a:gd fmla="val 50000" name="adj"/>
            </a:avLst>
          </a:prstGeom>
          <a:noFill/>
          <a:ln cap="flat" cmpd="sng" w="47625">
            <a:solidFill>
              <a:srgbClr val="0EA5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33"/>
          <p:cNvSpPr/>
          <p:nvPr/>
        </p:nvSpPr>
        <p:spPr>
          <a:xfrm>
            <a:off x="4600575" y="3609975"/>
            <a:ext cx="228600" cy="228600"/>
          </a:xfrm>
          <a:prstGeom prst="roundRect">
            <a:avLst>
              <a:gd fmla="val 50000" name="adj"/>
            </a:avLst>
          </a:prstGeom>
          <a:noFill/>
          <a:ln cap="flat" cmpd="sng" w="47625">
            <a:solidFill>
              <a:srgbClr val="0EA5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8" name="Google Shape;408;p33"/>
          <p:cNvSpPr/>
          <p:nvPr/>
        </p:nvSpPr>
        <p:spPr>
          <a:xfrm>
            <a:off x="7362825" y="3609975"/>
            <a:ext cx="228600" cy="228600"/>
          </a:xfrm>
          <a:prstGeom prst="roundRect">
            <a:avLst>
              <a:gd fmla="val 50000" name="adj"/>
            </a:avLst>
          </a:prstGeom>
          <a:noFill/>
          <a:ln cap="flat" cmpd="sng" w="47625">
            <a:solidFill>
              <a:srgbClr val="0EA5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33"/>
          <p:cNvSpPr/>
          <p:nvPr/>
        </p:nvSpPr>
        <p:spPr>
          <a:xfrm>
            <a:off x="10125075" y="3609975"/>
            <a:ext cx="228600" cy="228600"/>
          </a:xfrm>
          <a:prstGeom prst="roundRect">
            <a:avLst>
              <a:gd fmla="val 50000" name="adj"/>
            </a:avLst>
          </a:prstGeom>
          <a:noFill/>
          <a:ln cap="flat" cmpd="sng" w="47625">
            <a:solidFill>
              <a:srgbClr val="0EA5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descr="image.png" id="414" name="Google Shape;414;p3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15" name="Google Shape;415;p34"/>
          <p:cNvSpPr/>
          <p:nvPr/>
        </p:nvSpPr>
        <p:spPr>
          <a:xfrm>
            <a:off x="5715000" y="2886075"/>
            <a:ext cx="762000" cy="3810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6" name="Google Shape;416;p34"/>
          <p:cNvSpPr txBox="1"/>
          <p:nvPr/>
        </p:nvSpPr>
        <p:spPr>
          <a:xfrm>
            <a:off x="857845" y="3209925"/>
            <a:ext cx="10476309"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8FAFC"/>
                </a:solidFill>
                <a:latin typeface="Montserrat"/>
                <a:ea typeface="Montserrat"/>
                <a:cs typeface="Montserrat"/>
                <a:sym typeface="Montserrat"/>
              </a:rPr>
              <a:t>Phase IV: Technology &amp; Architecture</a:t>
            </a:r>
            <a:endParaRPr/>
          </a:p>
        </p:txBody>
      </p:sp>
      <p:sp>
        <p:nvSpPr>
          <p:cNvPr id="417" name="Google Shape;417;p34"/>
          <p:cNvSpPr txBox="1"/>
          <p:nvPr/>
        </p:nvSpPr>
        <p:spPr>
          <a:xfrm>
            <a:off x="3529012" y="3857625"/>
            <a:ext cx="5133975" cy="2571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F8FAFC"/>
                </a:solidFill>
                <a:latin typeface="Inter"/>
                <a:ea typeface="Inter"/>
                <a:cs typeface="Inter"/>
                <a:sym typeface="Inter"/>
              </a:rPr>
              <a:t>Enterprise Blueprint, API Governance &amp; Security Requirements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21" name="Shape 421"/>
        <p:cNvGrpSpPr/>
        <p:nvPr/>
      </p:nvGrpSpPr>
      <p:grpSpPr>
        <a:xfrm>
          <a:off x="0" y="0"/>
          <a:ext cx="0" cy="0"/>
          <a:chOff x="0" y="0"/>
          <a:chExt cx="0" cy="0"/>
        </a:xfrm>
      </p:grpSpPr>
      <p:pic>
        <p:nvPicPr>
          <p:cNvPr descr="image.png" id="422" name="Google Shape;422;p35"/>
          <p:cNvPicPr preferRelativeResize="0"/>
          <p:nvPr/>
        </p:nvPicPr>
        <p:blipFill rotWithShape="1">
          <a:blip r:embed="rId3">
            <a:alphaModFix/>
          </a:blip>
          <a:srcRect b="0" l="0" r="0" t="0"/>
          <a:stretch/>
        </p:blipFill>
        <p:spPr>
          <a:xfrm>
            <a:off x="571500" y="1695450"/>
            <a:ext cx="3492549" cy="4057650"/>
          </a:xfrm>
          <a:prstGeom prst="rect">
            <a:avLst/>
          </a:prstGeom>
          <a:noFill/>
          <a:ln>
            <a:noFill/>
          </a:ln>
        </p:spPr>
      </p:pic>
      <p:pic>
        <p:nvPicPr>
          <p:cNvPr descr="image.png" id="423" name="Google Shape;423;p35"/>
          <p:cNvPicPr preferRelativeResize="0"/>
          <p:nvPr/>
        </p:nvPicPr>
        <p:blipFill rotWithShape="1">
          <a:blip r:embed="rId4">
            <a:alphaModFix/>
          </a:blip>
          <a:srcRect b="0" l="0" r="0" t="0"/>
          <a:stretch/>
        </p:blipFill>
        <p:spPr>
          <a:xfrm>
            <a:off x="4349799" y="1695450"/>
            <a:ext cx="3492549" cy="4057650"/>
          </a:xfrm>
          <a:prstGeom prst="rect">
            <a:avLst/>
          </a:prstGeom>
          <a:noFill/>
          <a:ln>
            <a:noFill/>
          </a:ln>
        </p:spPr>
      </p:pic>
      <p:pic>
        <p:nvPicPr>
          <p:cNvPr descr="image.png" id="424" name="Google Shape;424;p35"/>
          <p:cNvPicPr preferRelativeResize="0"/>
          <p:nvPr/>
        </p:nvPicPr>
        <p:blipFill rotWithShape="1">
          <a:blip r:embed="rId5">
            <a:alphaModFix/>
          </a:blip>
          <a:srcRect b="0" l="0" r="0" t="0"/>
          <a:stretch/>
        </p:blipFill>
        <p:spPr>
          <a:xfrm>
            <a:off x="8128099" y="1695450"/>
            <a:ext cx="3492549" cy="4057650"/>
          </a:xfrm>
          <a:prstGeom prst="rect">
            <a:avLst/>
          </a:prstGeom>
          <a:noFill/>
          <a:ln>
            <a:noFill/>
          </a:ln>
        </p:spPr>
      </p:pic>
      <p:pic>
        <p:nvPicPr>
          <p:cNvPr descr="image.png" id="425" name="Google Shape;425;p35"/>
          <p:cNvPicPr preferRelativeResize="0"/>
          <p:nvPr/>
        </p:nvPicPr>
        <p:blipFill rotWithShape="1">
          <a:blip r:embed="rId6">
            <a:alphaModFix/>
          </a:blip>
          <a:srcRect b="0" l="0" r="0" t="0"/>
          <a:stretch/>
        </p:blipFill>
        <p:spPr>
          <a:xfrm>
            <a:off x="581025" y="1704975"/>
            <a:ext cx="3473499" cy="1905000"/>
          </a:xfrm>
          <a:prstGeom prst="rect">
            <a:avLst/>
          </a:prstGeom>
          <a:noFill/>
          <a:ln>
            <a:noFill/>
          </a:ln>
        </p:spPr>
      </p:pic>
      <p:pic>
        <p:nvPicPr>
          <p:cNvPr descr="image.png" id="426" name="Google Shape;426;p35"/>
          <p:cNvPicPr preferRelativeResize="0"/>
          <p:nvPr/>
        </p:nvPicPr>
        <p:blipFill rotWithShape="1">
          <a:blip r:embed="rId7">
            <a:alphaModFix/>
          </a:blip>
          <a:srcRect b="0" l="0" r="0" t="0"/>
          <a:stretch/>
        </p:blipFill>
        <p:spPr>
          <a:xfrm>
            <a:off x="4359324" y="1704975"/>
            <a:ext cx="3473499" cy="1905000"/>
          </a:xfrm>
          <a:prstGeom prst="rect">
            <a:avLst/>
          </a:prstGeom>
          <a:noFill/>
          <a:ln>
            <a:noFill/>
          </a:ln>
        </p:spPr>
      </p:pic>
      <p:pic>
        <p:nvPicPr>
          <p:cNvPr descr="image.png" id="427" name="Google Shape;427;p35"/>
          <p:cNvPicPr preferRelativeResize="0"/>
          <p:nvPr/>
        </p:nvPicPr>
        <p:blipFill rotWithShape="1">
          <a:blip r:embed="rId8">
            <a:alphaModFix/>
          </a:blip>
          <a:srcRect b="0" l="0" r="0" t="0"/>
          <a:stretch/>
        </p:blipFill>
        <p:spPr>
          <a:xfrm>
            <a:off x="8137624" y="1704975"/>
            <a:ext cx="3473499" cy="1905000"/>
          </a:xfrm>
          <a:prstGeom prst="rect">
            <a:avLst/>
          </a:prstGeom>
          <a:noFill/>
          <a:ln>
            <a:noFill/>
          </a:ln>
        </p:spPr>
      </p:pic>
      <p:sp>
        <p:nvSpPr>
          <p:cNvPr id="428" name="Google Shape;428;p35"/>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Core Enterprise Architecture Layers</a:t>
            </a:r>
            <a:endParaRPr/>
          </a:p>
        </p:txBody>
      </p:sp>
      <p:sp>
        <p:nvSpPr>
          <p:cNvPr id="429" name="Google Shape;429;p35"/>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30" name="Google Shape;430;p35"/>
          <p:cNvPicPr preferRelativeResize="0"/>
          <p:nvPr/>
        </p:nvPicPr>
        <p:blipFill rotWithShape="1">
          <a:blip r:embed="rId9">
            <a:alphaModFix/>
          </a:blip>
          <a:srcRect b="0" l="0" r="0" t="0"/>
          <a:stretch/>
        </p:blipFill>
        <p:spPr>
          <a:xfrm>
            <a:off x="590550" y="1714500"/>
            <a:ext cx="3454449" cy="1885950"/>
          </a:xfrm>
          <a:prstGeom prst="rect">
            <a:avLst/>
          </a:prstGeom>
          <a:noFill/>
          <a:ln>
            <a:noFill/>
          </a:ln>
        </p:spPr>
      </p:pic>
      <p:sp>
        <p:nvSpPr>
          <p:cNvPr id="431" name="Google Shape;431;p35"/>
          <p:cNvSpPr txBox="1"/>
          <p:nvPr/>
        </p:nvSpPr>
        <p:spPr>
          <a:xfrm>
            <a:off x="771525" y="3800475"/>
            <a:ext cx="3247124"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2C59"/>
                </a:solidFill>
                <a:latin typeface="Montserrat"/>
                <a:ea typeface="Montserrat"/>
                <a:cs typeface="Montserrat"/>
                <a:sym typeface="Montserrat"/>
              </a:rPr>
              <a:t>Application Layer</a:t>
            </a:r>
            <a:endParaRPr/>
          </a:p>
        </p:txBody>
      </p:sp>
      <p:sp>
        <p:nvSpPr>
          <p:cNvPr id="432" name="Google Shape;432;p35"/>
          <p:cNvSpPr txBox="1"/>
          <p:nvPr/>
        </p:nvSpPr>
        <p:spPr>
          <a:xfrm>
            <a:off x="771525" y="4124325"/>
            <a:ext cx="30924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Service configuration engine managing SLA timers, approval sequencing, document handling, and the executive monitoring dashboards.</a:t>
            </a:r>
            <a:endParaRPr/>
          </a:p>
        </p:txBody>
      </p:sp>
      <p:pic>
        <p:nvPicPr>
          <p:cNvPr descr="image.png" id="433" name="Google Shape;433;p35"/>
          <p:cNvPicPr preferRelativeResize="0"/>
          <p:nvPr/>
        </p:nvPicPr>
        <p:blipFill rotWithShape="1">
          <a:blip r:embed="rId10">
            <a:alphaModFix/>
          </a:blip>
          <a:srcRect b="0" l="0" r="0" t="0"/>
          <a:stretch/>
        </p:blipFill>
        <p:spPr>
          <a:xfrm>
            <a:off x="4368849" y="1714500"/>
            <a:ext cx="3454449" cy="1885950"/>
          </a:xfrm>
          <a:prstGeom prst="rect">
            <a:avLst/>
          </a:prstGeom>
          <a:noFill/>
          <a:ln>
            <a:noFill/>
          </a:ln>
        </p:spPr>
      </p:pic>
      <p:sp>
        <p:nvSpPr>
          <p:cNvPr id="434" name="Google Shape;434;p35"/>
          <p:cNvSpPr txBox="1"/>
          <p:nvPr/>
        </p:nvSpPr>
        <p:spPr>
          <a:xfrm>
            <a:off x="4549824" y="3800475"/>
            <a:ext cx="3247124"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2C59"/>
                </a:solidFill>
                <a:latin typeface="Montserrat"/>
                <a:ea typeface="Montserrat"/>
                <a:cs typeface="Montserrat"/>
                <a:sym typeface="Montserrat"/>
              </a:rPr>
              <a:t>Integration Layer</a:t>
            </a:r>
            <a:endParaRPr/>
          </a:p>
        </p:txBody>
      </p:sp>
      <p:sp>
        <p:nvSpPr>
          <p:cNvPr id="435" name="Google Shape;435;p35"/>
          <p:cNvSpPr txBox="1"/>
          <p:nvPr/>
        </p:nvSpPr>
        <p:spPr>
          <a:xfrm>
            <a:off x="4549824" y="4124325"/>
            <a:ext cx="3092499"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The central API Gateway acting as the secure traffic controller, enforcing token-based authentication and audit logging.</a:t>
            </a:r>
            <a:endParaRPr/>
          </a:p>
        </p:txBody>
      </p:sp>
      <p:pic>
        <p:nvPicPr>
          <p:cNvPr descr="image.png" id="436" name="Google Shape;436;p35"/>
          <p:cNvPicPr preferRelativeResize="0"/>
          <p:nvPr/>
        </p:nvPicPr>
        <p:blipFill rotWithShape="1">
          <a:blip r:embed="rId11">
            <a:alphaModFix/>
          </a:blip>
          <a:srcRect b="0" l="0" r="0" t="0"/>
          <a:stretch/>
        </p:blipFill>
        <p:spPr>
          <a:xfrm>
            <a:off x="8147149" y="1714500"/>
            <a:ext cx="3454449" cy="1885950"/>
          </a:xfrm>
          <a:prstGeom prst="rect">
            <a:avLst/>
          </a:prstGeom>
          <a:noFill/>
          <a:ln>
            <a:noFill/>
          </a:ln>
        </p:spPr>
      </p:pic>
      <p:sp>
        <p:nvSpPr>
          <p:cNvPr id="437" name="Google Shape;437;p35"/>
          <p:cNvSpPr txBox="1"/>
          <p:nvPr/>
        </p:nvSpPr>
        <p:spPr>
          <a:xfrm>
            <a:off x="8328124" y="3800475"/>
            <a:ext cx="3247124"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2C59"/>
                </a:solidFill>
                <a:latin typeface="Montserrat"/>
                <a:ea typeface="Montserrat"/>
                <a:cs typeface="Montserrat"/>
                <a:sym typeface="Montserrat"/>
              </a:rPr>
              <a:t>Data &amp; Infrastructure</a:t>
            </a:r>
            <a:endParaRPr/>
          </a:p>
        </p:txBody>
      </p:sp>
      <p:sp>
        <p:nvSpPr>
          <p:cNvPr id="438" name="Google Shape;438;p35"/>
          <p:cNvSpPr txBox="1"/>
          <p:nvPr/>
        </p:nvSpPr>
        <p:spPr>
          <a:xfrm>
            <a:off x="8328124" y="4124325"/>
            <a:ext cx="3092499"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Isolated Transaction Databases, Document Storage, and robust hosting infrastructure providing scalability and 99.5% uptime.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42" name="Shape 442"/>
        <p:cNvGrpSpPr/>
        <p:nvPr/>
      </p:nvGrpSpPr>
      <p:grpSpPr>
        <a:xfrm>
          <a:off x="0" y="0"/>
          <a:ext cx="0" cy="0"/>
          <a:chOff x="0" y="0"/>
          <a:chExt cx="0" cy="0"/>
        </a:xfrm>
      </p:grpSpPr>
      <p:pic>
        <p:nvPicPr>
          <p:cNvPr descr="image.png" id="443" name="Google Shape;443;p36"/>
          <p:cNvPicPr preferRelativeResize="0"/>
          <p:nvPr/>
        </p:nvPicPr>
        <p:blipFill rotWithShape="1">
          <a:blip r:embed="rId3">
            <a:alphaModFix/>
          </a:blip>
          <a:srcRect b="0" l="0" r="0" t="0"/>
          <a:stretch/>
        </p:blipFill>
        <p:spPr>
          <a:xfrm>
            <a:off x="571500" y="2133600"/>
            <a:ext cx="11049000" cy="3181350"/>
          </a:xfrm>
          <a:prstGeom prst="rect">
            <a:avLst/>
          </a:prstGeom>
          <a:noFill/>
          <a:ln>
            <a:noFill/>
          </a:ln>
        </p:spPr>
      </p:pic>
      <p:sp>
        <p:nvSpPr>
          <p:cNvPr id="444" name="Google Shape;444;p36"/>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Application Layer Components</a:t>
            </a:r>
            <a:endParaRPr/>
          </a:p>
        </p:txBody>
      </p:sp>
      <p:sp>
        <p:nvSpPr>
          <p:cNvPr id="445" name="Google Shape;445;p36"/>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446" name="Google Shape;446;p36"/>
          <p:cNvGraphicFramePr/>
          <p:nvPr/>
        </p:nvGraphicFramePr>
        <p:xfrm>
          <a:off x="581025" y="2143125"/>
          <a:ext cx="3000000" cy="3000000"/>
        </p:xfrm>
        <a:graphic>
          <a:graphicData uri="http://schemas.openxmlformats.org/drawingml/2006/table">
            <a:tbl>
              <a:tblPr bandRow="1" firstRow="1">
                <a:noFill/>
                <a:tableStyleId>{5AC119ED-5815-4C41-8F13-C28447212DCB}</a:tableStyleId>
              </a:tblPr>
              <a:tblGrid>
                <a:gridCol w="2737850"/>
                <a:gridCol w="5936900"/>
                <a:gridCol w="2355200"/>
              </a:tblGrid>
              <a:tr h="527050">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System Component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Required Capability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Phase 1 Dependency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r>
              <a:tr h="5270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Service Workflow Engine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Multi-service configuration, status tracking, digital approvals.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Mandatory Core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70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Queue Management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Ticket generation, counter routing, linked to SLA timers.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Mandatory Core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270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Payment Gateway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Real-time bank confirmation, automatic receipt generation.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High (Revenue)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70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Identity Management (IAM)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Role-based access, segregation of duties, audit trails.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Security Critical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270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Executive Dashboard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Daily revenue, SLA compliance rates, pending escalation tracking.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Executive Priority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447" name="Google Shape;447;p36"/>
          <p:cNvSpPr/>
          <p:nvPr/>
        </p:nvSpPr>
        <p:spPr>
          <a:xfrm>
            <a:off x="581025" y="2633662"/>
            <a:ext cx="273784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8" name="Google Shape;448;p36"/>
          <p:cNvSpPr/>
          <p:nvPr/>
        </p:nvSpPr>
        <p:spPr>
          <a:xfrm>
            <a:off x="3318867" y="2633662"/>
            <a:ext cx="593690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9" name="Google Shape;449;p36"/>
          <p:cNvSpPr/>
          <p:nvPr/>
        </p:nvSpPr>
        <p:spPr>
          <a:xfrm>
            <a:off x="9255769" y="2633662"/>
            <a:ext cx="235520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0" name="Google Shape;450;p36"/>
          <p:cNvSpPr/>
          <p:nvPr/>
        </p:nvSpPr>
        <p:spPr>
          <a:xfrm>
            <a:off x="581025" y="3167062"/>
            <a:ext cx="273784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36"/>
          <p:cNvSpPr/>
          <p:nvPr/>
        </p:nvSpPr>
        <p:spPr>
          <a:xfrm>
            <a:off x="3318867" y="3167062"/>
            <a:ext cx="593690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2" name="Google Shape;452;p36"/>
          <p:cNvSpPr/>
          <p:nvPr/>
        </p:nvSpPr>
        <p:spPr>
          <a:xfrm>
            <a:off x="9255769" y="3167062"/>
            <a:ext cx="235520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36"/>
          <p:cNvSpPr/>
          <p:nvPr/>
        </p:nvSpPr>
        <p:spPr>
          <a:xfrm>
            <a:off x="581025" y="3700462"/>
            <a:ext cx="273784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4" name="Google Shape;454;p36"/>
          <p:cNvSpPr/>
          <p:nvPr/>
        </p:nvSpPr>
        <p:spPr>
          <a:xfrm>
            <a:off x="3318867" y="3700462"/>
            <a:ext cx="593690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Google Shape;455;p36"/>
          <p:cNvSpPr/>
          <p:nvPr/>
        </p:nvSpPr>
        <p:spPr>
          <a:xfrm>
            <a:off x="9255769" y="3700462"/>
            <a:ext cx="235520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6" name="Google Shape;456;p36"/>
          <p:cNvSpPr/>
          <p:nvPr/>
        </p:nvSpPr>
        <p:spPr>
          <a:xfrm>
            <a:off x="581025" y="4233862"/>
            <a:ext cx="273784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7" name="Google Shape;457;p36"/>
          <p:cNvSpPr/>
          <p:nvPr/>
        </p:nvSpPr>
        <p:spPr>
          <a:xfrm>
            <a:off x="3318867" y="4233862"/>
            <a:ext cx="593690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8" name="Google Shape;458;p36"/>
          <p:cNvSpPr/>
          <p:nvPr/>
        </p:nvSpPr>
        <p:spPr>
          <a:xfrm>
            <a:off x="9255769" y="4233862"/>
            <a:ext cx="235520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9" name="Google Shape;459;p36"/>
          <p:cNvSpPr/>
          <p:nvPr/>
        </p:nvSpPr>
        <p:spPr>
          <a:xfrm>
            <a:off x="581025" y="4767262"/>
            <a:ext cx="273784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0" name="Google Shape;460;p36"/>
          <p:cNvSpPr/>
          <p:nvPr/>
        </p:nvSpPr>
        <p:spPr>
          <a:xfrm>
            <a:off x="3318867" y="4767262"/>
            <a:ext cx="593690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36"/>
          <p:cNvSpPr/>
          <p:nvPr/>
        </p:nvSpPr>
        <p:spPr>
          <a:xfrm>
            <a:off x="9255769" y="4767262"/>
            <a:ext cx="235520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65" name="Shape 465"/>
        <p:cNvGrpSpPr/>
        <p:nvPr/>
      </p:nvGrpSpPr>
      <p:grpSpPr>
        <a:xfrm>
          <a:off x="0" y="0"/>
          <a:ext cx="0" cy="0"/>
          <a:chOff x="0" y="0"/>
          <a:chExt cx="0" cy="0"/>
        </a:xfrm>
      </p:grpSpPr>
      <p:sp>
        <p:nvSpPr>
          <p:cNvPr id="466" name="Google Shape;466;p37"/>
          <p:cNvSpPr txBox="1"/>
          <p:nvPr/>
        </p:nvSpPr>
        <p:spPr>
          <a:xfrm>
            <a:off x="571500" y="571500"/>
            <a:ext cx="5550693" cy="962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Data Exchange Mesh Alignment</a:t>
            </a:r>
            <a:endParaRPr/>
          </a:p>
        </p:txBody>
      </p:sp>
      <p:sp>
        <p:nvSpPr>
          <p:cNvPr id="467" name="Google Shape;467;p37"/>
          <p:cNvSpPr/>
          <p:nvPr/>
        </p:nvSpPr>
        <p:spPr>
          <a:xfrm>
            <a:off x="571500" y="1600200"/>
            <a:ext cx="5286375"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68" name="Google Shape;468;p37"/>
          <p:cNvPicPr preferRelativeResize="0"/>
          <p:nvPr/>
        </p:nvPicPr>
        <p:blipFill rotWithShape="1">
          <a:blip r:embed="rId3">
            <a:alphaModFix/>
          </a:blip>
          <a:srcRect b="0" l="0" r="0" t="0"/>
          <a:stretch/>
        </p:blipFill>
        <p:spPr>
          <a:xfrm>
            <a:off x="6334125" y="0"/>
            <a:ext cx="5857875" cy="6858000"/>
          </a:xfrm>
          <a:prstGeom prst="rect">
            <a:avLst/>
          </a:prstGeom>
          <a:noFill/>
          <a:ln>
            <a:noFill/>
          </a:ln>
        </p:spPr>
      </p:pic>
      <p:sp>
        <p:nvSpPr>
          <p:cNvPr id="469" name="Google Shape;469;p37"/>
          <p:cNvSpPr txBox="1"/>
          <p:nvPr/>
        </p:nvSpPr>
        <p:spPr>
          <a:xfrm>
            <a:off x="1000125" y="1724025"/>
            <a:ext cx="4857750" cy="1362075"/>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None/>
            </a:pPr>
            <a:r>
              <a:rPr b="1" i="0" lang="en-US" sz="1350" u="none" cap="none" strike="noStrike">
                <a:solidFill>
                  <a:srgbClr val="0F2C59"/>
                </a:solidFill>
                <a:latin typeface="Inter"/>
                <a:ea typeface="Inter"/>
                <a:cs typeface="Inter"/>
                <a:sym typeface="Inter"/>
              </a:rPr>
              <a:t>The API Gateway Mandate</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0F172A"/>
                </a:solidFill>
                <a:latin typeface="Inter"/>
                <a:ea typeface="Inter"/>
                <a:cs typeface="Inter"/>
                <a:sym typeface="Inter"/>
              </a:rPr>
              <a:t> Direct database-to-database access is strictly prohibited. All internal and external bureau communication must securely pass through the local API Gateway.</a:t>
            </a:r>
            <a:endParaRPr/>
          </a:p>
        </p:txBody>
      </p:sp>
      <p:sp>
        <p:nvSpPr>
          <p:cNvPr id="470" name="Google Shape;470;p37"/>
          <p:cNvSpPr txBox="1"/>
          <p:nvPr/>
        </p:nvSpPr>
        <p:spPr>
          <a:xfrm>
            <a:off x="1000125" y="3276600"/>
            <a:ext cx="4857750" cy="1362075"/>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None/>
            </a:pPr>
            <a:r>
              <a:rPr b="1" i="0" lang="en-US" sz="1350" u="none" cap="none" strike="noStrike">
                <a:solidFill>
                  <a:srgbClr val="0F2C59"/>
                </a:solidFill>
                <a:latin typeface="Inter"/>
                <a:ea typeface="Inter"/>
                <a:cs typeface="Inter"/>
                <a:sym typeface="Inter"/>
              </a:rPr>
              <a:t>Local-to-National Flow</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0F172A"/>
                </a:solidFill>
                <a:latin typeface="Inter"/>
                <a:ea typeface="Inter"/>
                <a:cs typeface="Inter"/>
                <a:sym typeface="Inter"/>
              </a:rPr>
              <a:t> The Hawassa MESOB architecture is a distinct node that will securely connect to the Federal National MESOB API Mesh for broader interoperability (e.g., National ID).</a:t>
            </a:r>
            <a:endParaRPr/>
          </a:p>
        </p:txBody>
      </p:sp>
      <p:sp>
        <p:nvSpPr>
          <p:cNvPr id="471" name="Google Shape;471;p37"/>
          <p:cNvSpPr txBox="1"/>
          <p:nvPr/>
        </p:nvSpPr>
        <p:spPr>
          <a:xfrm>
            <a:off x="1000125" y="4829175"/>
            <a:ext cx="4857750" cy="1362075"/>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None/>
            </a:pPr>
            <a:r>
              <a:rPr b="1" i="0" lang="en-US" sz="1350" u="none" cap="none" strike="noStrike">
                <a:solidFill>
                  <a:srgbClr val="0F2C59"/>
                </a:solidFill>
                <a:latin typeface="Inter"/>
                <a:ea typeface="Inter"/>
                <a:cs typeface="Inter"/>
                <a:sym typeface="Inter"/>
              </a:rPr>
              <a:t>Zero-Trust Security</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0F172A"/>
                </a:solidFill>
                <a:latin typeface="Inter"/>
                <a:ea typeface="Inter"/>
                <a:cs typeface="Inter"/>
                <a:sym typeface="Inter"/>
              </a:rPr>
              <a:t> Every internal API call requires authentication, authorization validation, and immutable logging to prevent abuse.</a:t>
            </a:r>
            <a:endParaRPr/>
          </a:p>
        </p:txBody>
      </p:sp>
      <p:pic>
        <p:nvPicPr>
          <p:cNvPr descr="image.png" id="472" name="Google Shape;472;p37"/>
          <p:cNvPicPr preferRelativeResize="0"/>
          <p:nvPr/>
        </p:nvPicPr>
        <p:blipFill rotWithShape="1">
          <a:blip r:embed="rId4">
            <a:alphaModFix/>
          </a:blip>
          <a:srcRect b="0" l="0" r="0" t="0"/>
          <a:stretch/>
        </p:blipFill>
        <p:spPr>
          <a:xfrm>
            <a:off x="571500" y="1733550"/>
            <a:ext cx="228600" cy="247650"/>
          </a:xfrm>
          <a:prstGeom prst="rect">
            <a:avLst/>
          </a:prstGeom>
          <a:noFill/>
          <a:ln>
            <a:noFill/>
          </a:ln>
        </p:spPr>
      </p:pic>
      <p:pic>
        <p:nvPicPr>
          <p:cNvPr descr="image.png" id="473" name="Google Shape;473;p37"/>
          <p:cNvPicPr preferRelativeResize="0"/>
          <p:nvPr/>
        </p:nvPicPr>
        <p:blipFill rotWithShape="1">
          <a:blip r:embed="rId5">
            <a:alphaModFix/>
          </a:blip>
          <a:srcRect b="0" l="0" r="0" t="0"/>
          <a:stretch/>
        </p:blipFill>
        <p:spPr>
          <a:xfrm>
            <a:off x="571500" y="3286125"/>
            <a:ext cx="285750" cy="247650"/>
          </a:xfrm>
          <a:prstGeom prst="rect">
            <a:avLst/>
          </a:prstGeom>
          <a:noFill/>
          <a:ln>
            <a:noFill/>
          </a:ln>
        </p:spPr>
      </p:pic>
      <p:pic>
        <p:nvPicPr>
          <p:cNvPr descr="image.png" id="474" name="Google Shape;474;p37"/>
          <p:cNvPicPr preferRelativeResize="0"/>
          <p:nvPr/>
        </p:nvPicPr>
        <p:blipFill rotWithShape="1">
          <a:blip r:embed="rId6">
            <a:alphaModFix/>
          </a:blip>
          <a:srcRect b="0" l="0" r="0" t="0"/>
          <a:stretch/>
        </p:blipFill>
        <p:spPr>
          <a:xfrm>
            <a:off x="571500" y="4838700"/>
            <a:ext cx="228600" cy="2476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78" name="Shape 478"/>
        <p:cNvGrpSpPr/>
        <p:nvPr/>
      </p:nvGrpSpPr>
      <p:grpSpPr>
        <a:xfrm>
          <a:off x="0" y="0"/>
          <a:ext cx="0" cy="0"/>
          <a:chOff x="0" y="0"/>
          <a:chExt cx="0" cy="0"/>
        </a:xfrm>
      </p:grpSpPr>
      <p:pic>
        <p:nvPicPr>
          <p:cNvPr descr="image.png" id="479" name="Google Shape;479;p38"/>
          <p:cNvPicPr preferRelativeResize="0"/>
          <p:nvPr/>
        </p:nvPicPr>
        <p:blipFill rotWithShape="1">
          <a:blip r:embed="rId3">
            <a:alphaModFix/>
          </a:blip>
          <a:srcRect b="0" l="0" r="0" t="0"/>
          <a:stretch/>
        </p:blipFill>
        <p:spPr>
          <a:xfrm>
            <a:off x="571500" y="1909762"/>
            <a:ext cx="3492549" cy="3629025"/>
          </a:xfrm>
          <a:prstGeom prst="rect">
            <a:avLst/>
          </a:prstGeom>
          <a:noFill/>
          <a:ln>
            <a:noFill/>
          </a:ln>
        </p:spPr>
      </p:pic>
      <p:pic>
        <p:nvPicPr>
          <p:cNvPr descr="image.png" id="480" name="Google Shape;480;p38"/>
          <p:cNvPicPr preferRelativeResize="0"/>
          <p:nvPr/>
        </p:nvPicPr>
        <p:blipFill rotWithShape="1">
          <a:blip r:embed="rId4">
            <a:alphaModFix/>
          </a:blip>
          <a:srcRect b="0" l="0" r="0" t="0"/>
          <a:stretch/>
        </p:blipFill>
        <p:spPr>
          <a:xfrm>
            <a:off x="4349799" y="1909762"/>
            <a:ext cx="3492549" cy="3629025"/>
          </a:xfrm>
          <a:prstGeom prst="rect">
            <a:avLst/>
          </a:prstGeom>
          <a:noFill/>
          <a:ln>
            <a:noFill/>
          </a:ln>
        </p:spPr>
      </p:pic>
      <p:pic>
        <p:nvPicPr>
          <p:cNvPr descr="image.png" id="481" name="Google Shape;481;p38"/>
          <p:cNvPicPr preferRelativeResize="0"/>
          <p:nvPr/>
        </p:nvPicPr>
        <p:blipFill rotWithShape="1">
          <a:blip r:embed="rId5">
            <a:alphaModFix/>
          </a:blip>
          <a:srcRect b="0" l="0" r="0" t="0"/>
          <a:stretch/>
        </p:blipFill>
        <p:spPr>
          <a:xfrm>
            <a:off x="8128099" y="1909762"/>
            <a:ext cx="3492549" cy="3629025"/>
          </a:xfrm>
          <a:prstGeom prst="rect">
            <a:avLst/>
          </a:prstGeom>
          <a:noFill/>
          <a:ln>
            <a:noFill/>
          </a:ln>
        </p:spPr>
      </p:pic>
      <p:sp>
        <p:nvSpPr>
          <p:cNvPr id="482" name="Google Shape;482;p38"/>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Bureau Integration Readiness Scenarios</a:t>
            </a:r>
            <a:endParaRPr/>
          </a:p>
        </p:txBody>
      </p:sp>
      <p:sp>
        <p:nvSpPr>
          <p:cNvPr id="483" name="Google Shape;483;p38"/>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84" name="Google Shape;484;p38"/>
          <p:cNvPicPr preferRelativeResize="0"/>
          <p:nvPr/>
        </p:nvPicPr>
        <p:blipFill rotWithShape="1">
          <a:blip r:embed="rId6">
            <a:alphaModFix/>
          </a:blip>
          <a:srcRect b="0" l="0" r="0" t="0"/>
          <a:stretch/>
        </p:blipFill>
        <p:spPr>
          <a:xfrm>
            <a:off x="866775" y="2205037"/>
            <a:ext cx="666750" cy="666750"/>
          </a:xfrm>
          <a:prstGeom prst="rect">
            <a:avLst/>
          </a:prstGeom>
          <a:noFill/>
          <a:ln>
            <a:noFill/>
          </a:ln>
        </p:spPr>
      </p:pic>
      <p:sp>
        <p:nvSpPr>
          <p:cNvPr id="485" name="Google Shape;485;p38"/>
          <p:cNvSpPr txBox="1"/>
          <p:nvPr/>
        </p:nvSpPr>
        <p:spPr>
          <a:xfrm>
            <a:off x="866775" y="3062287"/>
            <a:ext cx="244030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Category A: Exists</a:t>
            </a:r>
            <a:endParaRPr/>
          </a:p>
        </p:txBody>
      </p:sp>
      <p:sp>
        <p:nvSpPr>
          <p:cNvPr id="486" name="Google Shape;486;p38"/>
          <p:cNvSpPr txBox="1"/>
          <p:nvPr/>
        </p:nvSpPr>
        <p:spPr>
          <a:xfrm>
            <a:off x="866775" y="3509962"/>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Bureau currently possesses an active IT system and database (e.g., modern tax system). Requires an API wrapper layer and secure endpoint exposure.</a:t>
            </a:r>
            <a:endParaRPr/>
          </a:p>
        </p:txBody>
      </p:sp>
      <p:pic>
        <p:nvPicPr>
          <p:cNvPr descr="image.png" id="487" name="Google Shape;487;p38"/>
          <p:cNvPicPr preferRelativeResize="0"/>
          <p:nvPr/>
        </p:nvPicPr>
        <p:blipFill rotWithShape="1">
          <a:blip r:embed="rId7">
            <a:alphaModFix/>
          </a:blip>
          <a:srcRect b="0" l="0" r="0" t="0"/>
          <a:stretch/>
        </p:blipFill>
        <p:spPr>
          <a:xfrm>
            <a:off x="4645074" y="2205037"/>
            <a:ext cx="666750" cy="666750"/>
          </a:xfrm>
          <a:prstGeom prst="rect">
            <a:avLst/>
          </a:prstGeom>
          <a:noFill/>
          <a:ln>
            <a:noFill/>
          </a:ln>
        </p:spPr>
      </p:pic>
      <p:sp>
        <p:nvSpPr>
          <p:cNvPr id="488" name="Google Shape;488;p38"/>
          <p:cNvSpPr txBox="1"/>
          <p:nvPr/>
        </p:nvSpPr>
        <p:spPr>
          <a:xfrm>
            <a:off x="4645074" y="3062287"/>
            <a:ext cx="3047099"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Category B: No System</a:t>
            </a:r>
            <a:endParaRPr/>
          </a:p>
        </p:txBody>
      </p:sp>
      <p:sp>
        <p:nvSpPr>
          <p:cNvPr id="489" name="Google Shape;489;p38"/>
          <p:cNvSpPr txBox="1"/>
          <p:nvPr/>
        </p:nvSpPr>
        <p:spPr>
          <a:xfrm>
            <a:off x="4645074" y="3814762"/>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Bureau relies entirely on manual, paper-based workflows. Requires development of a basic relational backend system and API endpoint creation before integration.</a:t>
            </a:r>
            <a:endParaRPr/>
          </a:p>
        </p:txBody>
      </p:sp>
      <p:pic>
        <p:nvPicPr>
          <p:cNvPr descr="image.png" id="490" name="Google Shape;490;p38"/>
          <p:cNvPicPr preferRelativeResize="0"/>
          <p:nvPr/>
        </p:nvPicPr>
        <p:blipFill rotWithShape="1">
          <a:blip r:embed="rId8">
            <a:alphaModFix/>
          </a:blip>
          <a:srcRect b="0" l="0" r="0" t="0"/>
          <a:stretch/>
        </p:blipFill>
        <p:spPr>
          <a:xfrm>
            <a:off x="8423374" y="2205037"/>
            <a:ext cx="666750" cy="666750"/>
          </a:xfrm>
          <a:prstGeom prst="rect">
            <a:avLst/>
          </a:prstGeom>
          <a:noFill/>
          <a:ln>
            <a:noFill/>
          </a:ln>
        </p:spPr>
      </p:pic>
      <p:sp>
        <p:nvSpPr>
          <p:cNvPr id="491" name="Google Shape;491;p38"/>
          <p:cNvSpPr txBox="1"/>
          <p:nvPr/>
        </p:nvSpPr>
        <p:spPr>
          <a:xfrm>
            <a:off x="8423374" y="3062287"/>
            <a:ext cx="2650331"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Category C: Federal</a:t>
            </a:r>
            <a:endParaRPr/>
          </a:p>
        </p:txBody>
      </p:sp>
      <p:sp>
        <p:nvSpPr>
          <p:cNvPr id="492" name="Google Shape;492;p38"/>
          <p:cNvSpPr txBox="1"/>
          <p:nvPr/>
        </p:nvSpPr>
        <p:spPr>
          <a:xfrm>
            <a:off x="8423374" y="3509962"/>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System is hosted at the national level. Integration must be negotiated via the Federal API Gateway rather than direct local database access.</a:t>
            </a:r>
            <a:endParaRPr/>
          </a:p>
        </p:txBody>
      </p:sp>
      <p:pic>
        <p:nvPicPr>
          <p:cNvPr descr="image.png" id="493" name="Google Shape;493;p38"/>
          <p:cNvPicPr preferRelativeResize="0"/>
          <p:nvPr/>
        </p:nvPicPr>
        <p:blipFill rotWithShape="1">
          <a:blip r:embed="rId9">
            <a:alphaModFix/>
          </a:blip>
          <a:srcRect b="0" l="0" r="0" t="0"/>
          <a:stretch/>
        </p:blipFill>
        <p:spPr>
          <a:xfrm>
            <a:off x="1047750" y="2366962"/>
            <a:ext cx="304800" cy="342900"/>
          </a:xfrm>
          <a:prstGeom prst="rect">
            <a:avLst/>
          </a:prstGeom>
          <a:noFill/>
          <a:ln>
            <a:noFill/>
          </a:ln>
        </p:spPr>
      </p:pic>
      <p:pic>
        <p:nvPicPr>
          <p:cNvPr descr="image.png" id="494" name="Google Shape;494;p38"/>
          <p:cNvPicPr preferRelativeResize="0"/>
          <p:nvPr/>
        </p:nvPicPr>
        <p:blipFill rotWithShape="1">
          <a:blip r:embed="rId10">
            <a:alphaModFix/>
          </a:blip>
          <a:srcRect b="0" l="0" r="0" t="0"/>
          <a:stretch/>
        </p:blipFill>
        <p:spPr>
          <a:xfrm>
            <a:off x="4849862" y="2366962"/>
            <a:ext cx="257175" cy="342900"/>
          </a:xfrm>
          <a:prstGeom prst="rect">
            <a:avLst/>
          </a:prstGeom>
          <a:noFill/>
          <a:ln>
            <a:noFill/>
          </a:ln>
        </p:spPr>
      </p:pic>
      <p:pic>
        <p:nvPicPr>
          <p:cNvPr descr="image.png" id="495" name="Google Shape;495;p38"/>
          <p:cNvPicPr preferRelativeResize="0"/>
          <p:nvPr/>
        </p:nvPicPr>
        <p:blipFill rotWithShape="1">
          <a:blip r:embed="rId11">
            <a:alphaModFix/>
          </a:blip>
          <a:srcRect b="0" l="0" r="0" t="0"/>
          <a:stretch/>
        </p:blipFill>
        <p:spPr>
          <a:xfrm>
            <a:off x="8542436" y="2366962"/>
            <a:ext cx="428625" cy="3429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99" name="Shape 499"/>
        <p:cNvGrpSpPr/>
        <p:nvPr/>
      </p:nvGrpSpPr>
      <p:grpSpPr>
        <a:xfrm>
          <a:off x="0" y="0"/>
          <a:ext cx="0" cy="0"/>
          <a:chOff x="0" y="0"/>
          <a:chExt cx="0" cy="0"/>
        </a:xfrm>
      </p:grpSpPr>
      <p:sp>
        <p:nvSpPr>
          <p:cNvPr id="500" name="Google Shape;500;p39"/>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Action Plan: Bureaus WITH Existing IT Systems</a:t>
            </a:r>
            <a:endParaRPr/>
          </a:p>
        </p:txBody>
      </p:sp>
      <p:sp>
        <p:nvSpPr>
          <p:cNvPr id="501" name="Google Shape;501;p39"/>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2" name="Google Shape;502;p39"/>
          <p:cNvSpPr txBox="1"/>
          <p:nvPr/>
        </p:nvSpPr>
        <p:spPr>
          <a:xfrm>
            <a:off x="1000125" y="1871662"/>
            <a:ext cx="10620375" cy="8477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Data Mapping &amp; Cleaning:</a:t>
            </a:r>
            <a:r>
              <a:rPr b="0" i="0" lang="en-US" sz="1350" u="none" cap="none" strike="noStrike">
                <a:solidFill>
                  <a:srgbClr val="0F172A"/>
                </a:solidFill>
                <a:latin typeface="Inter"/>
                <a:ea typeface="Inter"/>
                <a:cs typeface="Inter"/>
                <a:sym typeface="Inter"/>
              </a:rPr>
              <a:t> Bureau IT must formally document their database structure, map required fields for MESOB, and execute a data quality audit to resolve legacy duplicates.</a:t>
            </a:r>
            <a:endParaRPr/>
          </a:p>
        </p:txBody>
      </p:sp>
      <p:sp>
        <p:nvSpPr>
          <p:cNvPr id="503" name="Google Shape;503;p39"/>
          <p:cNvSpPr txBox="1"/>
          <p:nvPr/>
        </p:nvSpPr>
        <p:spPr>
          <a:xfrm>
            <a:off x="1000125" y="2909887"/>
            <a:ext cx="10620375" cy="8477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REST API Exposure:</a:t>
            </a:r>
            <a:r>
              <a:rPr b="0" i="0" lang="en-US" sz="1350" u="none" cap="none" strike="noStrike">
                <a:solidFill>
                  <a:srgbClr val="0F172A"/>
                </a:solidFill>
                <a:latin typeface="Inter"/>
                <a:ea typeface="Inter"/>
                <a:cs typeface="Inter"/>
                <a:sym typeface="Inter"/>
              </a:rPr>
              <a:t> Development of specific endpoints (Read, Write, Event) utilizing JSON formats. APIs must support token-based authentication and encrypted communication (HTTPS/TLS).</a:t>
            </a:r>
            <a:endParaRPr/>
          </a:p>
        </p:txBody>
      </p:sp>
      <p:sp>
        <p:nvSpPr>
          <p:cNvPr id="504" name="Google Shape;504;p39"/>
          <p:cNvSpPr txBox="1"/>
          <p:nvPr/>
        </p:nvSpPr>
        <p:spPr>
          <a:xfrm>
            <a:off x="1000125" y="3948112"/>
            <a:ext cx="10620375" cy="5905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Data Sharing Agreement:</a:t>
            </a:r>
            <a:r>
              <a:rPr b="0" i="0" lang="en-US" sz="1350" u="none" cap="none" strike="noStrike">
                <a:solidFill>
                  <a:srgbClr val="0F172A"/>
                </a:solidFill>
                <a:latin typeface="Inter"/>
                <a:ea typeface="Inter"/>
                <a:cs typeface="Inter"/>
                <a:sym typeface="Inter"/>
              </a:rPr>
              <a:t> Bureau head must formally sign off on legal clearance for data exposure and finalize internal SLA timing commitments.</a:t>
            </a:r>
            <a:endParaRPr/>
          </a:p>
        </p:txBody>
      </p:sp>
      <p:sp>
        <p:nvSpPr>
          <p:cNvPr id="505" name="Google Shape;505;p39"/>
          <p:cNvSpPr txBox="1"/>
          <p:nvPr/>
        </p:nvSpPr>
        <p:spPr>
          <a:xfrm>
            <a:off x="1000125" y="4729162"/>
            <a:ext cx="10620375" cy="8477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Pre-Launch Validation:</a:t>
            </a:r>
            <a:r>
              <a:rPr b="0" i="0" lang="en-US" sz="1350" u="none" cap="none" strike="noStrike">
                <a:solidFill>
                  <a:srgbClr val="0F172A"/>
                </a:solidFill>
                <a:latin typeface="Inter"/>
                <a:ea typeface="Inter"/>
                <a:cs typeface="Inter"/>
                <a:sym typeface="Inter"/>
              </a:rPr>
              <a:t> Successful completion of sandbox API performance testing, error-handling validation, and security penetration testing before connecting to the live gateway.</a:t>
            </a:r>
            <a:endParaRPr/>
          </a:p>
        </p:txBody>
      </p:sp>
      <p:pic>
        <p:nvPicPr>
          <p:cNvPr descr="image.png" id="506" name="Google Shape;506;p39"/>
          <p:cNvPicPr preferRelativeResize="0"/>
          <p:nvPr/>
        </p:nvPicPr>
        <p:blipFill rotWithShape="1">
          <a:blip r:embed="rId3">
            <a:alphaModFix/>
          </a:blip>
          <a:srcRect b="0" l="0" r="0" t="0"/>
          <a:stretch/>
        </p:blipFill>
        <p:spPr>
          <a:xfrm>
            <a:off x="571500" y="1881187"/>
            <a:ext cx="257175" cy="247650"/>
          </a:xfrm>
          <a:prstGeom prst="rect">
            <a:avLst/>
          </a:prstGeom>
          <a:noFill/>
          <a:ln>
            <a:noFill/>
          </a:ln>
        </p:spPr>
      </p:pic>
      <p:pic>
        <p:nvPicPr>
          <p:cNvPr descr="image.png" id="507" name="Google Shape;507;p39"/>
          <p:cNvPicPr preferRelativeResize="0"/>
          <p:nvPr/>
        </p:nvPicPr>
        <p:blipFill rotWithShape="1">
          <a:blip r:embed="rId4">
            <a:alphaModFix/>
          </a:blip>
          <a:srcRect b="0" l="0" r="0" t="0"/>
          <a:stretch/>
        </p:blipFill>
        <p:spPr>
          <a:xfrm>
            <a:off x="571500" y="2919412"/>
            <a:ext cx="285750" cy="247650"/>
          </a:xfrm>
          <a:prstGeom prst="rect">
            <a:avLst/>
          </a:prstGeom>
          <a:noFill/>
          <a:ln>
            <a:noFill/>
          </a:ln>
        </p:spPr>
      </p:pic>
      <p:pic>
        <p:nvPicPr>
          <p:cNvPr descr="image.png" id="508" name="Google Shape;508;p39"/>
          <p:cNvPicPr preferRelativeResize="0"/>
          <p:nvPr/>
        </p:nvPicPr>
        <p:blipFill rotWithShape="1">
          <a:blip r:embed="rId5">
            <a:alphaModFix/>
          </a:blip>
          <a:srcRect b="0" l="0" r="0" t="0"/>
          <a:stretch/>
        </p:blipFill>
        <p:spPr>
          <a:xfrm>
            <a:off x="571500" y="3957637"/>
            <a:ext cx="285750" cy="247650"/>
          </a:xfrm>
          <a:prstGeom prst="rect">
            <a:avLst/>
          </a:prstGeom>
          <a:noFill/>
          <a:ln>
            <a:noFill/>
          </a:ln>
        </p:spPr>
      </p:pic>
      <p:pic>
        <p:nvPicPr>
          <p:cNvPr descr="image.png" id="509" name="Google Shape;509;p39"/>
          <p:cNvPicPr preferRelativeResize="0"/>
          <p:nvPr/>
        </p:nvPicPr>
        <p:blipFill rotWithShape="1">
          <a:blip r:embed="rId6">
            <a:alphaModFix/>
          </a:blip>
          <a:srcRect b="0" l="0" r="0" t="0"/>
          <a:stretch/>
        </p:blipFill>
        <p:spPr>
          <a:xfrm>
            <a:off x="571500" y="4738687"/>
            <a:ext cx="228600" cy="2476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13" name="Shape 513"/>
        <p:cNvGrpSpPr/>
        <p:nvPr/>
      </p:nvGrpSpPr>
      <p:grpSpPr>
        <a:xfrm>
          <a:off x="0" y="0"/>
          <a:ext cx="0" cy="0"/>
          <a:chOff x="0" y="0"/>
          <a:chExt cx="0" cy="0"/>
        </a:xfrm>
      </p:grpSpPr>
      <p:sp>
        <p:nvSpPr>
          <p:cNvPr id="514" name="Google Shape;514;p40"/>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Action Plan: Bureaus WITHOUT IT Systems</a:t>
            </a:r>
            <a:endParaRPr/>
          </a:p>
        </p:txBody>
      </p:sp>
      <p:sp>
        <p:nvSpPr>
          <p:cNvPr id="515" name="Google Shape;515;p40"/>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6" name="Google Shape;516;p40"/>
          <p:cNvSpPr txBox="1"/>
          <p:nvPr/>
        </p:nvSpPr>
        <p:spPr>
          <a:xfrm>
            <a:off x="1000125" y="2000250"/>
            <a:ext cx="10620375" cy="8477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Workflow Simplification First:</a:t>
            </a:r>
            <a:r>
              <a:rPr b="0" i="0" lang="en-US" sz="1350" u="none" cap="none" strike="noStrike">
                <a:solidFill>
                  <a:srgbClr val="0F172A"/>
                </a:solidFill>
                <a:latin typeface="Inter"/>
                <a:ea typeface="Inter"/>
                <a:cs typeface="Inter"/>
                <a:sym typeface="Inter"/>
              </a:rPr>
              <a:t> Do not digitize inefficiency. Redundant approval layers and unnecessary signatures must be eliminated to define a streamlined, SLA-bound process.</a:t>
            </a:r>
            <a:endParaRPr/>
          </a:p>
        </p:txBody>
      </p:sp>
      <p:sp>
        <p:nvSpPr>
          <p:cNvPr id="517" name="Google Shape;517;p40"/>
          <p:cNvSpPr txBox="1"/>
          <p:nvPr/>
        </p:nvSpPr>
        <p:spPr>
          <a:xfrm>
            <a:off x="1000125" y="3038475"/>
            <a:ext cx="10620375" cy="8477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Backend System Creation:</a:t>
            </a:r>
            <a:r>
              <a:rPr b="0" i="0" lang="en-US" sz="1350" u="none" cap="none" strike="noStrike">
                <a:solidFill>
                  <a:srgbClr val="0F172A"/>
                </a:solidFill>
                <a:latin typeface="Inter"/>
                <a:ea typeface="Inter"/>
                <a:cs typeface="Inter"/>
                <a:sym typeface="Inter"/>
              </a:rPr>
              <a:t> A functional relational database and basic service management interface must be developed for the bureau to process requests securely off-site.</a:t>
            </a:r>
            <a:endParaRPr/>
          </a:p>
        </p:txBody>
      </p:sp>
      <p:sp>
        <p:nvSpPr>
          <p:cNvPr id="518" name="Google Shape;518;p40"/>
          <p:cNvSpPr txBox="1"/>
          <p:nvPr/>
        </p:nvSpPr>
        <p:spPr>
          <a:xfrm>
            <a:off x="1000125" y="4076700"/>
            <a:ext cx="10620375" cy="5905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Mandatory Endpoint Generation:</a:t>
            </a:r>
            <a:r>
              <a:rPr b="0" i="0" lang="en-US" sz="1350" u="none" cap="none" strike="noStrike">
                <a:solidFill>
                  <a:srgbClr val="0F172A"/>
                </a:solidFill>
                <a:latin typeface="Inter"/>
                <a:ea typeface="Inter"/>
                <a:cs typeface="Inter"/>
                <a:sym typeface="Inter"/>
              </a:rPr>
              <a:t> The newly created backend must expose structured API endpoints (Create, Update, Status) to the MESOB central hub.</a:t>
            </a:r>
            <a:endParaRPr/>
          </a:p>
        </p:txBody>
      </p:sp>
      <p:sp>
        <p:nvSpPr>
          <p:cNvPr id="519" name="Google Shape;519;p40"/>
          <p:cNvSpPr txBox="1"/>
          <p:nvPr/>
        </p:nvSpPr>
        <p:spPr>
          <a:xfrm>
            <a:off x="1000125" y="4857750"/>
            <a:ext cx="10620375" cy="5905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Institutional Capacity Building:</a:t>
            </a:r>
            <a:r>
              <a:rPr b="0" i="0" lang="en-US" sz="1350" u="none" cap="none" strike="noStrike">
                <a:solidFill>
                  <a:srgbClr val="0F172A"/>
                </a:solidFill>
                <a:latin typeface="Inter"/>
                <a:ea typeface="Inter"/>
                <a:cs typeface="Inter"/>
                <a:sym typeface="Inter"/>
              </a:rPr>
              <a:t> Dedicated training for bureau staff on workflow monitoring, digital approvals, and data entry discipline.</a:t>
            </a:r>
            <a:endParaRPr/>
          </a:p>
        </p:txBody>
      </p:sp>
      <p:pic>
        <p:nvPicPr>
          <p:cNvPr descr="image.png" id="520" name="Google Shape;520;p40"/>
          <p:cNvPicPr preferRelativeResize="0"/>
          <p:nvPr/>
        </p:nvPicPr>
        <p:blipFill rotWithShape="1">
          <a:blip r:embed="rId3">
            <a:alphaModFix/>
          </a:blip>
          <a:srcRect b="0" l="0" r="0" t="0"/>
          <a:stretch/>
        </p:blipFill>
        <p:spPr>
          <a:xfrm>
            <a:off x="571500" y="2009775"/>
            <a:ext cx="228600" cy="247650"/>
          </a:xfrm>
          <a:prstGeom prst="rect">
            <a:avLst/>
          </a:prstGeom>
          <a:noFill/>
          <a:ln>
            <a:noFill/>
          </a:ln>
        </p:spPr>
      </p:pic>
      <p:pic>
        <p:nvPicPr>
          <p:cNvPr descr="image.png" id="521" name="Google Shape;521;p40"/>
          <p:cNvPicPr preferRelativeResize="0"/>
          <p:nvPr/>
        </p:nvPicPr>
        <p:blipFill rotWithShape="1">
          <a:blip r:embed="rId4">
            <a:alphaModFix/>
          </a:blip>
          <a:srcRect b="0" l="0" r="0" t="0"/>
          <a:stretch/>
        </p:blipFill>
        <p:spPr>
          <a:xfrm>
            <a:off x="571500" y="3048000"/>
            <a:ext cx="257175" cy="247650"/>
          </a:xfrm>
          <a:prstGeom prst="rect">
            <a:avLst/>
          </a:prstGeom>
          <a:noFill/>
          <a:ln>
            <a:noFill/>
          </a:ln>
        </p:spPr>
      </p:pic>
      <p:pic>
        <p:nvPicPr>
          <p:cNvPr descr="image.png" id="522" name="Google Shape;522;p40"/>
          <p:cNvPicPr preferRelativeResize="0"/>
          <p:nvPr/>
        </p:nvPicPr>
        <p:blipFill rotWithShape="1">
          <a:blip r:embed="rId5">
            <a:alphaModFix/>
          </a:blip>
          <a:srcRect b="0" l="0" r="0" t="0"/>
          <a:stretch/>
        </p:blipFill>
        <p:spPr>
          <a:xfrm>
            <a:off x="571500" y="4086225"/>
            <a:ext cx="171450" cy="247650"/>
          </a:xfrm>
          <a:prstGeom prst="rect">
            <a:avLst/>
          </a:prstGeom>
          <a:noFill/>
          <a:ln>
            <a:noFill/>
          </a:ln>
        </p:spPr>
      </p:pic>
      <p:pic>
        <p:nvPicPr>
          <p:cNvPr descr="image.png" id="523" name="Google Shape;523;p40"/>
          <p:cNvPicPr preferRelativeResize="0"/>
          <p:nvPr/>
        </p:nvPicPr>
        <p:blipFill rotWithShape="1">
          <a:blip r:embed="rId6">
            <a:alphaModFix/>
          </a:blip>
          <a:srcRect b="0" l="0" r="0" t="0"/>
          <a:stretch/>
        </p:blipFill>
        <p:spPr>
          <a:xfrm>
            <a:off x="571500" y="4867275"/>
            <a:ext cx="285750" cy="2476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27" name="Shape 527"/>
        <p:cNvGrpSpPr/>
        <p:nvPr/>
      </p:nvGrpSpPr>
      <p:grpSpPr>
        <a:xfrm>
          <a:off x="0" y="0"/>
          <a:ext cx="0" cy="0"/>
          <a:chOff x="0" y="0"/>
          <a:chExt cx="0" cy="0"/>
        </a:xfrm>
      </p:grpSpPr>
      <p:pic>
        <p:nvPicPr>
          <p:cNvPr descr="image.png" id="528" name="Google Shape;528;p41"/>
          <p:cNvPicPr preferRelativeResize="0"/>
          <p:nvPr/>
        </p:nvPicPr>
        <p:blipFill rotWithShape="1">
          <a:blip r:embed="rId3">
            <a:alphaModFix/>
          </a:blip>
          <a:srcRect b="0" l="0" r="0" t="0"/>
          <a:stretch/>
        </p:blipFill>
        <p:spPr>
          <a:xfrm>
            <a:off x="571500" y="2243137"/>
            <a:ext cx="5286375" cy="2962275"/>
          </a:xfrm>
          <a:prstGeom prst="rect">
            <a:avLst/>
          </a:prstGeom>
          <a:noFill/>
          <a:ln>
            <a:noFill/>
          </a:ln>
        </p:spPr>
      </p:pic>
      <p:pic>
        <p:nvPicPr>
          <p:cNvPr descr="image.png" id="529" name="Google Shape;529;p41"/>
          <p:cNvPicPr preferRelativeResize="0"/>
          <p:nvPr/>
        </p:nvPicPr>
        <p:blipFill rotWithShape="1">
          <a:blip r:embed="rId4">
            <a:alphaModFix/>
          </a:blip>
          <a:srcRect b="0" l="0" r="0" t="0"/>
          <a:stretch/>
        </p:blipFill>
        <p:spPr>
          <a:xfrm>
            <a:off x="6334125" y="2243137"/>
            <a:ext cx="5286375" cy="2962275"/>
          </a:xfrm>
          <a:prstGeom prst="rect">
            <a:avLst/>
          </a:prstGeom>
          <a:noFill/>
          <a:ln>
            <a:noFill/>
          </a:ln>
        </p:spPr>
      </p:pic>
      <p:sp>
        <p:nvSpPr>
          <p:cNvPr id="530" name="Google Shape;530;p41"/>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Data Center &amp; Hosting Topologies</a:t>
            </a:r>
            <a:endParaRPr/>
          </a:p>
        </p:txBody>
      </p:sp>
      <p:sp>
        <p:nvSpPr>
          <p:cNvPr id="531" name="Google Shape;531;p41"/>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2" name="Google Shape;532;p41"/>
          <p:cNvSpPr txBox="1"/>
          <p:nvPr/>
        </p:nvSpPr>
        <p:spPr>
          <a:xfrm>
            <a:off x="962025" y="2786062"/>
            <a:ext cx="4730591"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EA5E9"/>
                </a:solidFill>
                <a:latin typeface="Montserrat"/>
                <a:ea typeface="Montserrat"/>
                <a:cs typeface="Montserrat"/>
                <a:sym typeface="Montserrat"/>
              </a:rPr>
              <a:t>Model 1: Fully Managed (Telecom)</a:t>
            </a:r>
            <a:endParaRPr/>
          </a:p>
        </p:txBody>
      </p:sp>
      <p:sp>
        <p:nvSpPr>
          <p:cNvPr id="533" name="Google Shape;533;p41"/>
          <p:cNvSpPr txBox="1"/>
          <p:nvPr/>
        </p:nvSpPr>
        <p:spPr>
          <a:xfrm>
            <a:off x="962025" y="3233737"/>
            <a:ext cx="4505325"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MESOB application and databases hosted entirely within a vendor cloud. Ensures rapid deployment and integrated connectivity, but carries high risk of vendor lock-in and complex exit migrations without strict contractual safeguards regarding data export rights.</a:t>
            </a:r>
            <a:endParaRPr/>
          </a:p>
        </p:txBody>
      </p:sp>
      <p:sp>
        <p:nvSpPr>
          <p:cNvPr id="534" name="Google Shape;534;p41"/>
          <p:cNvSpPr txBox="1"/>
          <p:nvPr/>
        </p:nvSpPr>
        <p:spPr>
          <a:xfrm>
            <a:off x="6724650" y="2633662"/>
            <a:ext cx="4730591"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Model 2: Hybrid Hosting (Recommended)</a:t>
            </a:r>
            <a:endParaRPr/>
          </a:p>
        </p:txBody>
      </p:sp>
      <p:sp>
        <p:nvSpPr>
          <p:cNvPr id="535" name="Google Shape;535;p41"/>
          <p:cNvSpPr txBox="1"/>
          <p:nvPr/>
        </p:nvSpPr>
        <p:spPr>
          <a:xfrm>
            <a:off x="6724650" y="3386137"/>
            <a:ext cx="4505325"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Core application processing hosted by the telecom provider, while critical databases (Land, Tax) are replicated or hosted locally at the municipal data center. Maximizes data sovereignty and disaster resilience while maintaining enterprise scalability.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39" name="Shape 539"/>
        <p:cNvGrpSpPr/>
        <p:nvPr/>
      </p:nvGrpSpPr>
      <p:grpSpPr>
        <a:xfrm>
          <a:off x="0" y="0"/>
          <a:ext cx="0" cy="0"/>
          <a:chOff x="0" y="0"/>
          <a:chExt cx="0" cy="0"/>
        </a:xfrm>
      </p:grpSpPr>
      <p:pic>
        <p:nvPicPr>
          <p:cNvPr descr="image.png" id="540" name="Google Shape;540;p42"/>
          <p:cNvPicPr preferRelativeResize="0"/>
          <p:nvPr/>
        </p:nvPicPr>
        <p:blipFill rotWithShape="1">
          <a:blip r:embed="rId3">
            <a:alphaModFix/>
          </a:blip>
          <a:srcRect b="0" l="0" r="0" t="0"/>
          <a:stretch/>
        </p:blipFill>
        <p:spPr>
          <a:xfrm>
            <a:off x="571500" y="1909762"/>
            <a:ext cx="3492549" cy="3629025"/>
          </a:xfrm>
          <a:prstGeom prst="rect">
            <a:avLst/>
          </a:prstGeom>
          <a:noFill/>
          <a:ln>
            <a:noFill/>
          </a:ln>
        </p:spPr>
      </p:pic>
      <p:pic>
        <p:nvPicPr>
          <p:cNvPr descr="image.png" id="541" name="Google Shape;541;p42"/>
          <p:cNvPicPr preferRelativeResize="0"/>
          <p:nvPr/>
        </p:nvPicPr>
        <p:blipFill rotWithShape="1">
          <a:blip r:embed="rId4">
            <a:alphaModFix/>
          </a:blip>
          <a:srcRect b="0" l="0" r="0" t="0"/>
          <a:stretch/>
        </p:blipFill>
        <p:spPr>
          <a:xfrm>
            <a:off x="4349799" y="1909762"/>
            <a:ext cx="3492549" cy="3629025"/>
          </a:xfrm>
          <a:prstGeom prst="rect">
            <a:avLst/>
          </a:prstGeom>
          <a:noFill/>
          <a:ln>
            <a:noFill/>
          </a:ln>
        </p:spPr>
      </p:pic>
      <p:pic>
        <p:nvPicPr>
          <p:cNvPr descr="image.png" id="542" name="Google Shape;542;p42"/>
          <p:cNvPicPr preferRelativeResize="0"/>
          <p:nvPr/>
        </p:nvPicPr>
        <p:blipFill rotWithShape="1">
          <a:blip r:embed="rId5">
            <a:alphaModFix/>
          </a:blip>
          <a:srcRect b="0" l="0" r="0" t="0"/>
          <a:stretch/>
        </p:blipFill>
        <p:spPr>
          <a:xfrm>
            <a:off x="8128099" y="1909762"/>
            <a:ext cx="3492549" cy="3629025"/>
          </a:xfrm>
          <a:prstGeom prst="rect">
            <a:avLst/>
          </a:prstGeom>
          <a:noFill/>
          <a:ln>
            <a:noFill/>
          </a:ln>
        </p:spPr>
      </p:pic>
      <p:sp>
        <p:nvSpPr>
          <p:cNvPr id="543" name="Google Shape;543;p42"/>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Cybersecurity &amp; Data Protection Zoning</a:t>
            </a:r>
            <a:endParaRPr/>
          </a:p>
        </p:txBody>
      </p:sp>
      <p:sp>
        <p:nvSpPr>
          <p:cNvPr id="544" name="Google Shape;544;p42"/>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545" name="Google Shape;545;p42"/>
          <p:cNvPicPr preferRelativeResize="0"/>
          <p:nvPr/>
        </p:nvPicPr>
        <p:blipFill rotWithShape="1">
          <a:blip r:embed="rId6">
            <a:alphaModFix/>
          </a:blip>
          <a:srcRect b="0" l="0" r="0" t="0"/>
          <a:stretch/>
        </p:blipFill>
        <p:spPr>
          <a:xfrm>
            <a:off x="866775" y="2205037"/>
            <a:ext cx="666750" cy="666750"/>
          </a:xfrm>
          <a:prstGeom prst="rect">
            <a:avLst/>
          </a:prstGeom>
          <a:noFill/>
          <a:ln>
            <a:noFill/>
          </a:ln>
        </p:spPr>
      </p:pic>
      <p:sp>
        <p:nvSpPr>
          <p:cNvPr id="546" name="Google Shape;546;p42"/>
          <p:cNvSpPr txBox="1"/>
          <p:nvPr/>
        </p:nvSpPr>
        <p:spPr>
          <a:xfrm>
            <a:off x="866775" y="3062287"/>
            <a:ext cx="2610326"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Zone 1: Public Edge</a:t>
            </a:r>
            <a:endParaRPr/>
          </a:p>
        </p:txBody>
      </p:sp>
      <p:sp>
        <p:nvSpPr>
          <p:cNvPr id="547" name="Google Shape;547;p42"/>
          <p:cNvSpPr txBox="1"/>
          <p:nvPr/>
        </p:nvSpPr>
        <p:spPr>
          <a:xfrm>
            <a:off x="866775" y="3509962"/>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Secures physical service counters and public kiosks. Segmented strictly from internal workflow servers to prevent unauthorized lateral access.</a:t>
            </a:r>
            <a:endParaRPr/>
          </a:p>
        </p:txBody>
      </p:sp>
      <p:pic>
        <p:nvPicPr>
          <p:cNvPr descr="image.png" id="548" name="Google Shape;548;p42"/>
          <p:cNvPicPr preferRelativeResize="0"/>
          <p:nvPr/>
        </p:nvPicPr>
        <p:blipFill rotWithShape="1">
          <a:blip r:embed="rId7">
            <a:alphaModFix/>
          </a:blip>
          <a:srcRect b="0" l="0" r="0" t="0"/>
          <a:stretch/>
        </p:blipFill>
        <p:spPr>
          <a:xfrm>
            <a:off x="4645074" y="2205037"/>
            <a:ext cx="666750" cy="666750"/>
          </a:xfrm>
          <a:prstGeom prst="rect">
            <a:avLst/>
          </a:prstGeom>
          <a:noFill/>
          <a:ln>
            <a:noFill/>
          </a:ln>
        </p:spPr>
      </p:pic>
      <p:sp>
        <p:nvSpPr>
          <p:cNvPr id="549" name="Google Shape;549;p42"/>
          <p:cNvSpPr txBox="1"/>
          <p:nvPr/>
        </p:nvSpPr>
        <p:spPr>
          <a:xfrm>
            <a:off x="4645074" y="3062287"/>
            <a:ext cx="3047099"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Zone 2: App &amp; Integration</a:t>
            </a:r>
            <a:endParaRPr/>
          </a:p>
        </p:txBody>
      </p:sp>
      <p:sp>
        <p:nvSpPr>
          <p:cNvPr id="550" name="Google Shape;550;p42"/>
          <p:cNvSpPr txBox="1"/>
          <p:nvPr/>
        </p:nvSpPr>
        <p:spPr>
          <a:xfrm>
            <a:off x="4645074" y="3814762"/>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Houses the workflow engines and central API Gateway. Enforces Zero-Trust principles, requiring authentication for every transaction request.</a:t>
            </a:r>
            <a:endParaRPr/>
          </a:p>
        </p:txBody>
      </p:sp>
      <p:pic>
        <p:nvPicPr>
          <p:cNvPr descr="image.png" id="551" name="Google Shape;551;p42"/>
          <p:cNvPicPr preferRelativeResize="0"/>
          <p:nvPr/>
        </p:nvPicPr>
        <p:blipFill rotWithShape="1">
          <a:blip r:embed="rId8">
            <a:alphaModFix/>
          </a:blip>
          <a:srcRect b="0" l="0" r="0" t="0"/>
          <a:stretch/>
        </p:blipFill>
        <p:spPr>
          <a:xfrm>
            <a:off x="8423374" y="2205037"/>
            <a:ext cx="666750" cy="666750"/>
          </a:xfrm>
          <a:prstGeom prst="rect">
            <a:avLst/>
          </a:prstGeom>
          <a:noFill/>
          <a:ln>
            <a:noFill/>
          </a:ln>
        </p:spPr>
      </p:pic>
      <p:sp>
        <p:nvSpPr>
          <p:cNvPr id="552" name="Google Shape;552;p42"/>
          <p:cNvSpPr txBox="1"/>
          <p:nvPr/>
        </p:nvSpPr>
        <p:spPr>
          <a:xfrm>
            <a:off x="8423374" y="3062287"/>
            <a:ext cx="3020377"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Zone 3: Core Database</a:t>
            </a:r>
            <a:endParaRPr/>
          </a:p>
        </p:txBody>
      </p:sp>
      <p:sp>
        <p:nvSpPr>
          <p:cNvPr id="553" name="Google Shape;553;p42"/>
          <p:cNvSpPr txBox="1"/>
          <p:nvPr/>
        </p:nvSpPr>
        <p:spPr>
          <a:xfrm>
            <a:off x="8423374" y="3509962"/>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Highly restricted environment holding the Transaction DB and Payment Ledgers. Mandates AES-256 encryption for sensitive data at rest.</a:t>
            </a:r>
            <a:endParaRPr/>
          </a:p>
        </p:txBody>
      </p:sp>
      <p:pic>
        <p:nvPicPr>
          <p:cNvPr descr="image.png" id="554" name="Google Shape;554;p42"/>
          <p:cNvPicPr preferRelativeResize="0"/>
          <p:nvPr/>
        </p:nvPicPr>
        <p:blipFill rotWithShape="1">
          <a:blip r:embed="rId9">
            <a:alphaModFix/>
          </a:blip>
          <a:srcRect b="0" l="0" r="0" t="0"/>
          <a:stretch/>
        </p:blipFill>
        <p:spPr>
          <a:xfrm>
            <a:off x="985837" y="2366962"/>
            <a:ext cx="428625" cy="342900"/>
          </a:xfrm>
          <a:prstGeom prst="rect">
            <a:avLst/>
          </a:prstGeom>
          <a:noFill/>
          <a:ln>
            <a:noFill/>
          </a:ln>
        </p:spPr>
      </p:pic>
      <p:pic>
        <p:nvPicPr>
          <p:cNvPr descr="image.png" id="555" name="Google Shape;555;p42"/>
          <p:cNvPicPr preferRelativeResize="0"/>
          <p:nvPr/>
        </p:nvPicPr>
        <p:blipFill rotWithShape="1">
          <a:blip r:embed="rId10">
            <a:alphaModFix/>
          </a:blip>
          <a:srcRect b="0" l="0" r="0" t="0"/>
          <a:stretch/>
        </p:blipFill>
        <p:spPr>
          <a:xfrm>
            <a:off x="4783187" y="2366962"/>
            <a:ext cx="390525" cy="342900"/>
          </a:xfrm>
          <a:prstGeom prst="rect">
            <a:avLst/>
          </a:prstGeom>
          <a:noFill/>
          <a:ln>
            <a:noFill/>
          </a:ln>
        </p:spPr>
      </p:pic>
      <p:pic>
        <p:nvPicPr>
          <p:cNvPr descr="image.png" id="556" name="Google Shape;556;p42"/>
          <p:cNvPicPr preferRelativeResize="0"/>
          <p:nvPr/>
        </p:nvPicPr>
        <p:blipFill rotWithShape="1">
          <a:blip r:embed="rId11">
            <a:alphaModFix/>
          </a:blip>
          <a:srcRect b="0" l="0" r="0" t="0"/>
          <a:stretch/>
        </p:blipFill>
        <p:spPr>
          <a:xfrm>
            <a:off x="8604349" y="2366962"/>
            <a:ext cx="304800" cy="3429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pic>
        <p:nvPicPr>
          <p:cNvPr descr="image.png" id="561" name="Google Shape;561;p4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62" name="Google Shape;562;p43"/>
          <p:cNvSpPr/>
          <p:nvPr/>
        </p:nvSpPr>
        <p:spPr>
          <a:xfrm>
            <a:off x="5715000" y="2886075"/>
            <a:ext cx="762000" cy="3810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3" name="Google Shape;563;p43"/>
          <p:cNvSpPr txBox="1"/>
          <p:nvPr/>
        </p:nvSpPr>
        <p:spPr>
          <a:xfrm>
            <a:off x="1070371" y="3209925"/>
            <a:ext cx="10051256"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8FAFC"/>
                </a:solidFill>
                <a:latin typeface="Montserrat"/>
                <a:ea typeface="Montserrat"/>
                <a:cs typeface="Montserrat"/>
                <a:sym typeface="Montserrat"/>
              </a:rPr>
              <a:t>Phase V: Building &amp; Physical Setup</a:t>
            </a:r>
            <a:endParaRPr/>
          </a:p>
        </p:txBody>
      </p:sp>
      <p:sp>
        <p:nvSpPr>
          <p:cNvPr id="564" name="Google Shape;564;p43"/>
          <p:cNvSpPr txBox="1"/>
          <p:nvPr/>
        </p:nvSpPr>
        <p:spPr>
          <a:xfrm>
            <a:off x="3762375" y="3857625"/>
            <a:ext cx="4667250" cy="2571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F8FAFC"/>
                </a:solidFill>
                <a:latin typeface="Inter"/>
                <a:ea typeface="Inter"/>
                <a:cs typeface="Inter"/>
                <a:sym typeface="Inter"/>
              </a:rPr>
              <a:t>Spatial Layout, Hardware Placement &amp; Capacity Modeling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68" name="Shape 568"/>
        <p:cNvGrpSpPr/>
        <p:nvPr/>
      </p:nvGrpSpPr>
      <p:grpSpPr>
        <a:xfrm>
          <a:off x="0" y="0"/>
          <a:ext cx="0" cy="0"/>
          <a:chOff x="0" y="0"/>
          <a:chExt cx="0" cy="0"/>
        </a:xfrm>
      </p:grpSpPr>
      <p:sp>
        <p:nvSpPr>
          <p:cNvPr id="569" name="Google Shape;569;p44"/>
          <p:cNvSpPr txBox="1"/>
          <p:nvPr/>
        </p:nvSpPr>
        <p:spPr>
          <a:xfrm>
            <a:off x="571500" y="571500"/>
            <a:ext cx="5550693" cy="962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Spatial Layout &amp; Zoning Plan</a:t>
            </a:r>
            <a:endParaRPr/>
          </a:p>
        </p:txBody>
      </p:sp>
      <p:sp>
        <p:nvSpPr>
          <p:cNvPr id="570" name="Google Shape;570;p44"/>
          <p:cNvSpPr/>
          <p:nvPr/>
        </p:nvSpPr>
        <p:spPr>
          <a:xfrm>
            <a:off x="571500" y="1600200"/>
            <a:ext cx="5286375"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571" name="Google Shape;571;p44"/>
          <p:cNvPicPr preferRelativeResize="0"/>
          <p:nvPr/>
        </p:nvPicPr>
        <p:blipFill rotWithShape="1">
          <a:blip r:embed="rId3">
            <a:alphaModFix/>
          </a:blip>
          <a:srcRect b="0" l="0" r="0" t="0"/>
          <a:stretch/>
        </p:blipFill>
        <p:spPr>
          <a:xfrm>
            <a:off x="6334125" y="0"/>
            <a:ext cx="5857875" cy="6858000"/>
          </a:xfrm>
          <a:prstGeom prst="rect">
            <a:avLst/>
          </a:prstGeom>
          <a:noFill/>
          <a:ln>
            <a:noFill/>
          </a:ln>
        </p:spPr>
      </p:pic>
      <p:sp>
        <p:nvSpPr>
          <p:cNvPr id="572" name="Google Shape;572;p44"/>
          <p:cNvSpPr txBox="1"/>
          <p:nvPr/>
        </p:nvSpPr>
        <p:spPr>
          <a:xfrm>
            <a:off x="571500" y="2128837"/>
            <a:ext cx="5286375" cy="771525"/>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None/>
            </a:pPr>
            <a:r>
              <a:rPr b="1" i="0" lang="en-US" sz="1350" u="none" cap="none" strike="noStrike">
                <a:solidFill>
                  <a:srgbClr val="0F172A"/>
                </a:solidFill>
                <a:latin typeface="Inter"/>
                <a:ea typeface="Inter"/>
                <a:cs typeface="Inter"/>
                <a:sym typeface="Inter"/>
              </a:rPr>
              <a:t>Zone A: Reception &amp; Queue</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0F172A"/>
                </a:solidFill>
                <a:latin typeface="Inter"/>
                <a:ea typeface="Inter"/>
                <a:cs typeface="Inter"/>
                <a:sym typeface="Inter"/>
              </a:rPr>
              <a:t> Entry screening, service kiosks, and seating for 150-250 citizens.</a:t>
            </a:r>
            <a:endParaRPr/>
          </a:p>
        </p:txBody>
      </p:sp>
      <p:sp>
        <p:nvSpPr>
          <p:cNvPr id="573" name="Google Shape;573;p44"/>
          <p:cNvSpPr txBox="1"/>
          <p:nvPr/>
        </p:nvSpPr>
        <p:spPr>
          <a:xfrm>
            <a:off x="571500" y="3043237"/>
            <a:ext cx="5286375" cy="771525"/>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None/>
            </a:pPr>
            <a:r>
              <a:rPr b="1" i="0" lang="en-US" sz="1350" u="none" cap="none" strike="noStrike">
                <a:solidFill>
                  <a:srgbClr val="0F172A"/>
                </a:solidFill>
                <a:latin typeface="Inter"/>
                <a:ea typeface="Inter"/>
                <a:cs typeface="Inter"/>
                <a:sym typeface="Inter"/>
              </a:rPr>
              <a:t>Zone B: Service Counter Hall</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0F172A"/>
                </a:solidFill>
                <a:latin typeface="Inter"/>
                <a:ea typeface="Inter"/>
                <a:cs typeface="Inter"/>
                <a:sym typeface="Inter"/>
              </a:rPr>
              <a:t> 30 modular counters grouped by specific service domains (Land, Revenue, Trade).</a:t>
            </a:r>
            <a:endParaRPr/>
          </a:p>
        </p:txBody>
      </p:sp>
      <p:sp>
        <p:nvSpPr>
          <p:cNvPr id="574" name="Google Shape;574;p44"/>
          <p:cNvSpPr txBox="1"/>
          <p:nvPr/>
        </p:nvSpPr>
        <p:spPr>
          <a:xfrm>
            <a:off x="571500" y="3957637"/>
            <a:ext cx="5286375" cy="771525"/>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None/>
            </a:pPr>
            <a:r>
              <a:rPr b="1" i="0" lang="en-US" sz="1350" u="none" cap="none" strike="noStrike">
                <a:solidFill>
                  <a:srgbClr val="0F172A"/>
                </a:solidFill>
                <a:latin typeface="Inter"/>
                <a:ea typeface="Inter"/>
                <a:cs typeface="Inter"/>
                <a:sym typeface="Inter"/>
              </a:rPr>
              <a:t>Zone C: Bureau Review Offices</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0F172A"/>
                </a:solidFill>
                <a:latin typeface="Inter"/>
                <a:ea typeface="Inter"/>
                <a:cs typeface="Inter"/>
                <a:sym typeface="Inter"/>
              </a:rPr>
              <a:t> Back-office rooms for technical staff executing digital approvals and complex verifications.</a:t>
            </a:r>
            <a:endParaRPr/>
          </a:p>
        </p:txBody>
      </p:sp>
      <p:sp>
        <p:nvSpPr>
          <p:cNvPr id="575" name="Google Shape;575;p44"/>
          <p:cNvSpPr txBox="1"/>
          <p:nvPr/>
        </p:nvSpPr>
        <p:spPr>
          <a:xfrm>
            <a:off x="571500" y="4872037"/>
            <a:ext cx="5286375" cy="771525"/>
          </a:xfrm>
          <a:prstGeom prst="rect">
            <a:avLst/>
          </a:prstGeom>
          <a:noFill/>
          <a:ln>
            <a:noFill/>
          </a:ln>
        </p:spPr>
        <p:txBody>
          <a:bodyPr anchorCtr="0" anchor="t" bIns="0" lIns="0" spcFirstLastPara="1" rIns="0" wrap="square" tIns="0">
            <a:spAutoFit/>
          </a:bodyPr>
          <a:lstStyle/>
          <a:p>
            <a:pPr indent="0" lvl="0" marL="0" marR="0" rtl="0" algn="l">
              <a:lnSpc>
                <a:spcPct val="112500"/>
              </a:lnSpc>
              <a:spcBef>
                <a:spcPts val="0"/>
              </a:spcBef>
              <a:spcAft>
                <a:spcPts val="0"/>
              </a:spcAft>
              <a:buNone/>
            </a:pPr>
            <a:r>
              <a:rPr b="1" i="0" lang="en-US" sz="1350" u="none" cap="none" strike="noStrike">
                <a:solidFill>
                  <a:srgbClr val="0F172A"/>
                </a:solidFill>
                <a:latin typeface="Inter"/>
                <a:ea typeface="Inter"/>
                <a:cs typeface="Inter"/>
                <a:sym typeface="Inter"/>
              </a:rPr>
              <a:t>Zone E: Secure Infrastructure Room</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0F172A"/>
                </a:solidFill>
                <a:latin typeface="Inter"/>
                <a:ea typeface="Inter"/>
                <a:cs typeface="Inter"/>
                <a:sym typeface="Inter"/>
              </a:rPr>
              <a:t> Biometrically secured, climate-controlled room for core network switches, local servers, and UPS.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79" name="Shape 579"/>
        <p:cNvGrpSpPr/>
        <p:nvPr/>
      </p:nvGrpSpPr>
      <p:grpSpPr>
        <a:xfrm>
          <a:off x="0" y="0"/>
          <a:ext cx="0" cy="0"/>
          <a:chOff x="0" y="0"/>
          <a:chExt cx="0" cy="0"/>
        </a:xfrm>
      </p:grpSpPr>
      <p:pic>
        <p:nvPicPr>
          <p:cNvPr descr="image.png" id="580" name="Google Shape;580;p45"/>
          <p:cNvPicPr preferRelativeResize="0"/>
          <p:nvPr/>
        </p:nvPicPr>
        <p:blipFill rotWithShape="1">
          <a:blip r:embed="rId3">
            <a:alphaModFix/>
          </a:blip>
          <a:srcRect b="0" l="0" r="0" t="0"/>
          <a:stretch/>
        </p:blipFill>
        <p:spPr>
          <a:xfrm>
            <a:off x="571500" y="2490787"/>
            <a:ext cx="4972050" cy="2466975"/>
          </a:xfrm>
          <a:prstGeom prst="rect">
            <a:avLst/>
          </a:prstGeom>
          <a:noFill/>
          <a:ln>
            <a:noFill/>
          </a:ln>
        </p:spPr>
      </p:pic>
      <p:sp>
        <p:nvSpPr>
          <p:cNvPr id="581" name="Google Shape;581;p45"/>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Counter Capacity &amp; Staffing Model</a:t>
            </a:r>
            <a:endParaRPr/>
          </a:p>
        </p:txBody>
      </p:sp>
      <p:sp>
        <p:nvSpPr>
          <p:cNvPr id="582" name="Google Shape;582;p45"/>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3" name="Google Shape;583;p45"/>
          <p:cNvSpPr txBox="1"/>
          <p:nvPr/>
        </p:nvSpPr>
        <p:spPr>
          <a:xfrm>
            <a:off x="857250" y="2967037"/>
            <a:ext cx="4400550" cy="11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000" u="none" cap="none" strike="noStrike">
                <a:solidFill>
                  <a:srgbClr val="000000"/>
                </a:solidFill>
                <a:latin typeface="Montserrat"/>
                <a:ea typeface="Montserrat"/>
                <a:cs typeface="Montserrat"/>
                <a:sym typeface="Montserrat"/>
              </a:rPr>
              <a:t>30</a:t>
            </a:r>
            <a:endParaRPr/>
          </a:p>
        </p:txBody>
      </p:sp>
      <p:sp>
        <p:nvSpPr>
          <p:cNvPr id="584" name="Google Shape;584;p45"/>
          <p:cNvSpPr txBox="1"/>
          <p:nvPr/>
        </p:nvSpPr>
        <p:spPr>
          <a:xfrm>
            <a:off x="857250" y="4205287"/>
            <a:ext cx="4400550"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0EA5E9"/>
                </a:solidFill>
                <a:latin typeface="Inter SemiBold"/>
                <a:ea typeface="Inter SemiBold"/>
                <a:cs typeface="Inter SemiBold"/>
                <a:sym typeface="Inter SemiBold"/>
              </a:rPr>
              <a:t>ACTIVE SERVICE COUNTERS</a:t>
            </a:r>
            <a:endParaRPr/>
          </a:p>
        </p:txBody>
      </p:sp>
      <p:sp>
        <p:nvSpPr>
          <p:cNvPr id="585" name="Google Shape;585;p45"/>
          <p:cNvSpPr txBox="1"/>
          <p:nvPr/>
        </p:nvSpPr>
        <p:spPr>
          <a:xfrm>
            <a:off x="5924550" y="2338387"/>
            <a:ext cx="5980747"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Throughput Capabilities</a:t>
            </a:r>
            <a:endParaRPr/>
          </a:p>
        </p:txBody>
      </p:sp>
      <p:sp>
        <p:nvSpPr>
          <p:cNvPr id="586" name="Google Shape;586;p45"/>
          <p:cNvSpPr txBox="1"/>
          <p:nvPr/>
        </p:nvSpPr>
        <p:spPr>
          <a:xfrm>
            <a:off x="5924550" y="2786062"/>
            <a:ext cx="5695950"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Assuming an average transaction time of 15 minutes, 30 active counters operating for an 8-hour shift yield a target throughput of </a:t>
            </a:r>
            <a:r>
              <a:rPr b="1" i="0" lang="en-US" sz="1350" u="none" cap="none" strike="noStrike">
                <a:solidFill>
                  <a:srgbClr val="0F172A"/>
                </a:solidFill>
                <a:latin typeface="Inter"/>
                <a:ea typeface="Inter"/>
                <a:cs typeface="Inter"/>
                <a:sym typeface="Inter"/>
              </a:rPr>
              <a:t>960 to 1,200 transactions daily</a:t>
            </a:r>
            <a:r>
              <a:rPr b="0" i="0" lang="en-US" sz="1350" u="none" cap="none" strike="noStrike">
                <a:solidFill>
                  <a:srgbClr val="0F172A"/>
                </a:solidFill>
                <a:latin typeface="Inter"/>
                <a:ea typeface="Inter"/>
                <a:cs typeface="Inter"/>
                <a:sym typeface="Inter"/>
              </a:rPr>
              <a:t>.</a:t>
            </a:r>
            <a:endParaRPr/>
          </a:p>
        </p:txBody>
      </p:sp>
      <p:sp>
        <p:nvSpPr>
          <p:cNvPr id="587" name="Google Shape;587;p45"/>
          <p:cNvSpPr txBox="1"/>
          <p:nvPr/>
        </p:nvSpPr>
        <p:spPr>
          <a:xfrm>
            <a:off x="5924550" y="3748087"/>
            <a:ext cx="5980747"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Required Manpower</a:t>
            </a:r>
            <a:endParaRPr/>
          </a:p>
        </p:txBody>
      </p:sp>
      <p:sp>
        <p:nvSpPr>
          <p:cNvPr id="588" name="Google Shape;588;p45"/>
          <p:cNvSpPr txBox="1"/>
          <p:nvPr/>
        </p:nvSpPr>
        <p:spPr>
          <a:xfrm>
            <a:off x="5924550" y="4195762"/>
            <a:ext cx="5695950"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Total required staff: </a:t>
            </a:r>
            <a:r>
              <a:rPr b="1" i="0" lang="en-US" sz="1350" u="none" cap="none" strike="noStrike">
                <a:solidFill>
                  <a:srgbClr val="0F172A"/>
                </a:solidFill>
                <a:latin typeface="Inter"/>
                <a:ea typeface="Inter"/>
                <a:cs typeface="Inter"/>
                <a:sym typeface="Inter"/>
              </a:rPr>
              <a:t>55–70 personnel</a:t>
            </a:r>
            <a:r>
              <a:rPr b="0" i="0" lang="en-US" sz="1350" u="none" cap="none" strike="noStrike">
                <a:solidFill>
                  <a:srgbClr val="0F172A"/>
                </a:solidFill>
                <a:latin typeface="Inter"/>
                <a:ea typeface="Inter"/>
                <a:cs typeface="Inter"/>
                <a:sym typeface="Inter"/>
              </a:rPr>
              <a:t>. Includes 30 counter officers, 5 floating backups, 15 back-office bureau reviewers, IT support, and SLA monitors.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92" name="Shape 592"/>
        <p:cNvGrpSpPr/>
        <p:nvPr/>
      </p:nvGrpSpPr>
      <p:grpSpPr>
        <a:xfrm>
          <a:off x="0" y="0"/>
          <a:ext cx="0" cy="0"/>
          <a:chOff x="0" y="0"/>
          <a:chExt cx="0" cy="0"/>
        </a:xfrm>
      </p:grpSpPr>
      <p:sp>
        <p:nvSpPr>
          <p:cNvPr id="593" name="Google Shape;593;p46"/>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Internal Network Topology Requirements</a:t>
            </a:r>
            <a:endParaRPr/>
          </a:p>
        </p:txBody>
      </p:sp>
      <p:sp>
        <p:nvSpPr>
          <p:cNvPr id="594" name="Google Shape;594;p46"/>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5" name="Google Shape;595;p46"/>
          <p:cNvSpPr txBox="1"/>
          <p:nvPr/>
        </p:nvSpPr>
        <p:spPr>
          <a:xfrm>
            <a:off x="1000125" y="2262187"/>
            <a:ext cx="10620375" cy="8477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Structured Cabling &amp; Core Redundancy:</a:t>
            </a:r>
            <a:r>
              <a:rPr b="0" i="0" lang="en-US" sz="1350" u="none" cap="none" strike="noStrike">
                <a:solidFill>
                  <a:srgbClr val="0F172A"/>
                </a:solidFill>
                <a:latin typeface="Inter"/>
                <a:ea typeface="Inter"/>
                <a:cs typeface="Inter"/>
                <a:sym typeface="Inter"/>
              </a:rPr>
              <a:t> Enterprise-grade CAT6 wiring terminating at a central Layer 3 core switch. Requires dual internet fiber uplinks with automatic failover to guarantee continuous operation.</a:t>
            </a:r>
            <a:endParaRPr/>
          </a:p>
        </p:txBody>
      </p:sp>
      <p:sp>
        <p:nvSpPr>
          <p:cNvPr id="596" name="Google Shape;596;p46"/>
          <p:cNvSpPr txBox="1"/>
          <p:nvPr/>
        </p:nvSpPr>
        <p:spPr>
          <a:xfrm>
            <a:off x="1000125" y="3300412"/>
            <a:ext cx="10620375" cy="8477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Strict VLAN Segmentation:</a:t>
            </a:r>
            <a:r>
              <a:rPr b="0" i="0" lang="en-US" sz="1350" u="none" cap="none" strike="noStrike">
                <a:solidFill>
                  <a:srgbClr val="0F172A"/>
                </a:solidFill>
                <a:latin typeface="Inter"/>
                <a:ea typeface="Inter"/>
                <a:cs typeface="Inter"/>
                <a:sym typeface="Inter"/>
              </a:rPr>
              <a:t> Network traffic must be logically separated into distinct VLANs (Service Counters, Bureau Offices, Server/Infra, Management, CCTV) to prevent internal lateral movement vulnerabilities.</a:t>
            </a:r>
            <a:endParaRPr/>
          </a:p>
        </p:txBody>
      </p:sp>
      <p:sp>
        <p:nvSpPr>
          <p:cNvPr id="597" name="Google Shape;597;p46"/>
          <p:cNvSpPr txBox="1"/>
          <p:nvPr/>
        </p:nvSpPr>
        <p:spPr>
          <a:xfrm>
            <a:off x="1000125" y="4338637"/>
            <a:ext cx="10620375" cy="8477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Power Resilience:</a:t>
            </a:r>
            <a:r>
              <a:rPr b="0" i="0" lang="en-US" sz="1350" u="none" cap="none" strike="noStrike">
                <a:solidFill>
                  <a:srgbClr val="0F172A"/>
                </a:solidFill>
                <a:latin typeface="Inter"/>
                <a:ea typeface="Inter"/>
                <a:cs typeface="Inter"/>
                <a:sym typeface="Inter"/>
              </a:rPr>
              <a:t> Every counter and network node must be supported by an uninterruptible power supply (UPS) system backed by a building-wide generator auto-switch to prevent mid-transaction data loss.</a:t>
            </a:r>
            <a:endParaRPr/>
          </a:p>
        </p:txBody>
      </p:sp>
      <p:pic>
        <p:nvPicPr>
          <p:cNvPr descr="image.png" id="598" name="Google Shape;598;p46"/>
          <p:cNvPicPr preferRelativeResize="0"/>
          <p:nvPr/>
        </p:nvPicPr>
        <p:blipFill rotWithShape="1">
          <a:blip r:embed="rId3">
            <a:alphaModFix/>
          </a:blip>
          <a:srcRect b="0" l="0" r="0" t="0"/>
          <a:stretch/>
        </p:blipFill>
        <p:spPr>
          <a:xfrm>
            <a:off x="571500" y="2271712"/>
            <a:ext cx="228600" cy="247650"/>
          </a:xfrm>
          <a:prstGeom prst="rect">
            <a:avLst/>
          </a:prstGeom>
          <a:noFill/>
          <a:ln>
            <a:noFill/>
          </a:ln>
        </p:spPr>
      </p:pic>
      <p:pic>
        <p:nvPicPr>
          <p:cNvPr descr="image.png" id="599" name="Google Shape;599;p46"/>
          <p:cNvPicPr preferRelativeResize="0"/>
          <p:nvPr/>
        </p:nvPicPr>
        <p:blipFill rotWithShape="1">
          <a:blip r:embed="rId4">
            <a:alphaModFix/>
          </a:blip>
          <a:srcRect b="0" l="0" r="0" t="0"/>
          <a:stretch/>
        </p:blipFill>
        <p:spPr>
          <a:xfrm>
            <a:off x="571500" y="3309937"/>
            <a:ext cx="285750" cy="247650"/>
          </a:xfrm>
          <a:prstGeom prst="rect">
            <a:avLst/>
          </a:prstGeom>
          <a:noFill/>
          <a:ln>
            <a:noFill/>
          </a:ln>
        </p:spPr>
      </p:pic>
      <p:pic>
        <p:nvPicPr>
          <p:cNvPr descr="image.png" id="600" name="Google Shape;600;p46"/>
          <p:cNvPicPr preferRelativeResize="0"/>
          <p:nvPr/>
        </p:nvPicPr>
        <p:blipFill rotWithShape="1">
          <a:blip r:embed="rId5">
            <a:alphaModFix/>
          </a:blip>
          <a:srcRect b="0" l="0" r="0" t="0"/>
          <a:stretch/>
        </p:blipFill>
        <p:spPr>
          <a:xfrm>
            <a:off x="571500" y="4348162"/>
            <a:ext cx="257175" cy="2476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04" name="Shape 604"/>
        <p:cNvGrpSpPr/>
        <p:nvPr/>
      </p:nvGrpSpPr>
      <p:grpSpPr>
        <a:xfrm>
          <a:off x="0" y="0"/>
          <a:ext cx="0" cy="0"/>
          <a:chOff x="0" y="0"/>
          <a:chExt cx="0" cy="0"/>
        </a:xfrm>
      </p:grpSpPr>
      <p:pic>
        <p:nvPicPr>
          <p:cNvPr descr="image.png" id="605" name="Google Shape;605;p47"/>
          <p:cNvPicPr preferRelativeResize="0"/>
          <p:nvPr/>
        </p:nvPicPr>
        <p:blipFill rotWithShape="1">
          <a:blip r:embed="rId3">
            <a:alphaModFix/>
          </a:blip>
          <a:srcRect b="0" l="0" r="0" t="0"/>
          <a:stretch/>
        </p:blipFill>
        <p:spPr>
          <a:xfrm>
            <a:off x="571500" y="1885950"/>
            <a:ext cx="11049000" cy="3676650"/>
          </a:xfrm>
          <a:prstGeom prst="rect">
            <a:avLst/>
          </a:prstGeom>
          <a:noFill/>
          <a:ln>
            <a:noFill/>
          </a:ln>
        </p:spPr>
      </p:pic>
      <p:sp>
        <p:nvSpPr>
          <p:cNvPr id="606" name="Google Shape;606;p47"/>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Hardware Placement Plan</a:t>
            </a:r>
            <a:endParaRPr/>
          </a:p>
        </p:txBody>
      </p:sp>
      <p:sp>
        <p:nvSpPr>
          <p:cNvPr id="607" name="Google Shape;607;p47"/>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608" name="Google Shape;608;p47"/>
          <p:cNvGraphicFramePr/>
          <p:nvPr/>
        </p:nvGraphicFramePr>
        <p:xfrm>
          <a:off x="581025" y="1895475"/>
          <a:ext cx="3000000" cy="3000000"/>
        </p:xfrm>
        <a:graphic>
          <a:graphicData uri="http://schemas.openxmlformats.org/drawingml/2006/table">
            <a:tbl>
              <a:tblPr bandRow="1" firstRow="1">
                <a:noFill/>
                <a:tableStyleId>{5AC119ED-5815-4C41-8F13-C28447212DCB}</a:tableStyleId>
              </a:tblPr>
              <a:tblGrid>
                <a:gridCol w="2232425"/>
                <a:gridCol w="5740600"/>
                <a:gridCol w="3056925"/>
              </a:tblGrid>
              <a:tr h="731525">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Location Zone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Required Equipment Profile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Redundancy Notes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r>
              <a:tr h="73152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30 Service Counters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Workstation, Dual Monitors, POS Terminal, Receipt Printer, Document Scanner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Individual UPS units, 5 floating backup sets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152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Bureau Review Offices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High-performance Workstations, Dual Monitors, Network Laser Printers, Large Format Scanner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Centralized network printing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73152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Infrastructure Server Room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Core Switch, Edge Firewall, Application/DB Servers (if local), Storage Array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Climate control, Biometric access lock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3152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Building Wide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Digital Queue Screens, NVR CCTV System (20-30 cameras), Network Patch Panels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30-Day NVR retention buffer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609" name="Google Shape;609;p47"/>
          <p:cNvSpPr/>
          <p:nvPr/>
        </p:nvSpPr>
        <p:spPr>
          <a:xfrm>
            <a:off x="581025" y="2386012"/>
            <a:ext cx="22324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0" name="Google Shape;610;p47"/>
          <p:cNvSpPr/>
          <p:nvPr/>
        </p:nvSpPr>
        <p:spPr>
          <a:xfrm>
            <a:off x="2813446" y="2386012"/>
            <a:ext cx="574059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1" name="Google Shape;611;p47"/>
          <p:cNvSpPr/>
          <p:nvPr/>
        </p:nvSpPr>
        <p:spPr>
          <a:xfrm>
            <a:off x="8554045" y="2386012"/>
            <a:ext cx="305692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2" name="Google Shape;612;p47"/>
          <p:cNvSpPr/>
          <p:nvPr/>
        </p:nvSpPr>
        <p:spPr>
          <a:xfrm>
            <a:off x="581025" y="3176587"/>
            <a:ext cx="22324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3" name="Google Shape;613;p47"/>
          <p:cNvSpPr/>
          <p:nvPr/>
        </p:nvSpPr>
        <p:spPr>
          <a:xfrm>
            <a:off x="2813446" y="3176587"/>
            <a:ext cx="574059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4" name="Google Shape;614;p47"/>
          <p:cNvSpPr/>
          <p:nvPr/>
        </p:nvSpPr>
        <p:spPr>
          <a:xfrm>
            <a:off x="8554045" y="3176587"/>
            <a:ext cx="305692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5" name="Google Shape;615;p47"/>
          <p:cNvSpPr/>
          <p:nvPr/>
        </p:nvSpPr>
        <p:spPr>
          <a:xfrm>
            <a:off x="581025" y="3967162"/>
            <a:ext cx="22324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6" name="Google Shape;616;p47"/>
          <p:cNvSpPr/>
          <p:nvPr/>
        </p:nvSpPr>
        <p:spPr>
          <a:xfrm>
            <a:off x="2813446" y="3967162"/>
            <a:ext cx="574059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7" name="Google Shape;617;p47"/>
          <p:cNvSpPr/>
          <p:nvPr/>
        </p:nvSpPr>
        <p:spPr>
          <a:xfrm>
            <a:off x="8554045" y="3967162"/>
            <a:ext cx="305692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8" name="Google Shape;618;p47"/>
          <p:cNvSpPr/>
          <p:nvPr/>
        </p:nvSpPr>
        <p:spPr>
          <a:xfrm>
            <a:off x="581025" y="4757737"/>
            <a:ext cx="22324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9" name="Google Shape;619;p47"/>
          <p:cNvSpPr/>
          <p:nvPr/>
        </p:nvSpPr>
        <p:spPr>
          <a:xfrm>
            <a:off x="2813446" y="4757737"/>
            <a:ext cx="574059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0" name="Google Shape;620;p47"/>
          <p:cNvSpPr/>
          <p:nvPr/>
        </p:nvSpPr>
        <p:spPr>
          <a:xfrm>
            <a:off x="8554045" y="4757737"/>
            <a:ext cx="305692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24" name="Shape 624"/>
        <p:cNvGrpSpPr/>
        <p:nvPr/>
      </p:nvGrpSpPr>
      <p:grpSpPr>
        <a:xfrm>
          <a:off x="0" y="0"/>
          <a:ext cx="0" cy="0"/>
          <a:chOff x="0" y="0"/>
          <a:chExt cx="0" cy="0"/>
        </a:xfrm>
      </p:grpSpPr>
      <p:pic>
        <p:nvPicPr>
          <p:cNvPr descr="image.png" id="625" name="Google Shape;625;p48"/>
          <p:cNvPicPr preferRelativeResize="0"/>
          <p:nvPr/>
        </p:nvPicPr>
        <p:blipFill rotWithShape="1">
          <a:blip r:embed="rId3">
            <a:alphaModFix/>
          </a:blip>
          <a:srcRect b="0" l="0" r="0" t="0"/>
          <a:stretch/>
        </p:blipFill>
        <p:spPr>
          <a:xfrm>
            <a:off x="571500" y="1933575"/>
            <a:ext cx="3492549" cy="3581400"/>
          </a:xfrm>
          <a:prstGeom prst="rect">
            <a:avLst/>
          </a:prstGeom>
          <a:noFill/>
          <a:ln>
            <a:noFill/>
          </a:ln>
        </p:spPr>
      </p:pic>
      <p:pic>
        <p:nvPicPr>
          <p:cNvPr descr="image.png" id="626" name="Google Shape;626;p48"/>
          <p:cNvPicPr preferRelativeResize="0"/>
          <p:nvPr/>
        </p:nvPicPr>
        <p:blipFill rotWithShape="1">
          <a:blip r:embed="rId4">
            <a:alphaModFix/>
          </a:blip>
          <a:srcRect b="0" l="0" r="0" t="0"/>
          <a:stretch/>
        </p:blipFill>
        <p:spPr>
          <a:xfrm>
            <a:off x="4349799" y="1933575"/>
            <a:ext cx="3492549" cy="3581400"/>
          </a:xfrm>
          <a:prstGeom prst="rect">
            <a:avLst/>
          </a:prstGeom>
          <a:noFill/>
          <a:ln>
            <a:noFill/>
          </a:ln>
        </p:spPr>
      </p:pic>
      <p:pic>
        <p:nvPicPr>
          <p:cNvPr descr="image.png" id="627" name="Google Shape;627;p48"/>
          <p:cNvPicPr preferRelativeResize="0"/>
          <p:nvPr/>
        </p:nvPicPr>
        <p:blipFill rotWithShape="1">
          <a:blip r:embed="rId5">
            <a:alphaModFix/>
          </a:blip>
          <a:srcRect b="0" l="0" r="0" t="0"/>
          <a:stretch/>
        </p:blipFill>
        <p:spPr>
          <a:xfrm>
            <a:off x="8128099" y="1933575"/>
            <a:ext cx="3492549" cy="3581400"/>
          </a:xfrm>
          <a:prstGeom prst="rect">
            <a:avLst/>
          </a:prstGeom>
          <a:noFill/>
          <a:ln>
            <a:noFill/>
          </a:ln>
        </p:spPr>
      </p:pic>
      <p:sp>
        <p:nvSpPr>
          <p:cNvPr id="628" name="Google Shape;628;p48"/>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Integrated Queue &amp; Citizen Analytics</a:t>
            </a:r>
            <a:endParaRPr/>
          </a:p>
        </p:txBody>
      </p:sp>
      <p:sp>
        <p:nvSpPr>
          <p:cNvPr id="629" name="Google Shape;629;p48"/>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630" name="Google Shape;630;p48"/>
          <p:cNvPicPr preferRelativeResize="0"/>
          <p:nvPr/>
        </p:nvPicPr>
        <p:blipFill rotWithShape="1">
          <a:blip r:embed="rId6">
            <a:alphaModFix/>
          </a:blip>
          <a:srcRect b="0" l="0" r="0" t="0"/>
          <a:stretch/>
        </p:blipFill>
        <p:spPr>
          <a:xfrm>
            <a:off x="866775" y="2228850"/>
            <a:ext cx="666750" cy="666750"/>
          </a:xfrm>
          <a:prstGeom prst="rect">
            <a:avLst/>
          </a:prstGeom>
          <a:noFill/>
          <a:ln>
            <a:noFill/>
          </a:ln>
        </p:spPr>
      </p:pic>
      <p:sp>
        <p:nvSpPr>
          <p:cNvPr id="631" name="Google Shape;631;p48"/>
          <p:cNvSpPr txBox="1"/>
          <p:nvPr/>
        </p:nvSpPr>
        <p:spPr>
          <a:xfrm>
            <a:off x="866775" y="3086100"/>
            <a:ext cx="2370296"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Intelligent Kiosks</a:t>
            </a:r>
            <a:endParaRPr/>
          </a:p>
        </p:txBody>
      </p:sp>
      <p:sp>
        <p:nvSpPr>
          <p:cNvPr id="632" name="Google Shape;632;p48"/>
          <p:cNvSpPr txBox="1"/>
          <p:nvPr/>
        </p:nvSpPr>
        <p:spPr>
          <a:xfrm>
            <a:off x="866775" y="3533775"/>
            <a:ext cx="2901999" cy="1543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Interactive terminals allowing citizens to select service categories. Automatically generates digital tickets and routes to the optimal counter to prevent bottlenecking.</a:t>
            </a:r>
            <a:endParaRPr/>
          </a:p>
        </p:txBody>
      </p:sp>
      <p:pic>
        <p:nvPicPr>
          <p:cNvPr descr="image.png" id="633" name="Google Shape;633;p48"/>
          <p:cNvPicPr preferRelativeResize="0"/>
          <p:nvPr/>
        </p:nvPicPr>
        <p:blipFill rotWithShape="1">
          <a:blip r:embed="rId7">
            <a:alphaModFix/>
          </a:blip>
          <a:srcRect b="0" l="0" r="0" t="0"/>
          <a:stretch/>
        </p:blipFill>
        <p:spPr>
          <a:xfrm>
            <a:off x="4645074" y="2228850"/>
            <a:ext cx="666750" cy="666750"/>
          </a:xfrm>
          <a:prstGeom prst="rect">
            <a:avLst/>
          </a:prstGeom>
          <a:noFill/>
          <a:ln>
            <a:noFill/>
          </a:ln>
        </p:spPr>
      </p:pic>
      <p:sp>
        <p:nvSpPr>
          <p:cNvPr id="634" name="Google Shape;634;p48"/>
          <p:cNvSpPr txBox="1"/>
          <p:nvPr/>
        </p:nvSpPr>
        <p:spPr>
          <a:xfrm>
            <a:off x="4645074" y="3086100"/>
            <a:ext cx="212026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SLA Integration</a:t>
            </a:r>
            <a:endParaRPr/>
          </a:p>
        </p:txBody>
      </p:sp>
      <p:sp>
        <p:nvSpPr>
          <p:cNvPr id="635" name="Google Shape;635;p48"/>
          <p:cNvSpPr txBox="1"/>
          <p:nvPr/>
        </p:nvSpPr>
        <p:spPr>
          <a:xfrm>
            <a:off x="4645074" y="3533775"/>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The queue system does not operate in isolation. Issuing a ticket instantly initializes the workflow instance and SLA tracking timer within the core application.</a:t>
            </a:r>
            <a:endParaRPr/>
          </a:p>
        </p:txBody>
      </p:sp>
      <p:pic>
        <p:nvPicPr>
          <p:cNvPr descr="image.png" id="636" name="Google Shape;636;p48"/>
          <p:cNvPicPr preferRelativeResize="0"/>
          <p:nvPr/>
        </p:nvPicPr>
        <p:blipFill rotWithShape="1">
          <a:blip r:embed="rId8">
            <a:alphaModFix/>
          </a:blip>
          <a:srcRect b="0" l="0" r="0" t="0"/>
          <a:stretch/>
        </p:blipFill>
        <p:spPr>
          <a:xfrm>
            <a:off x="8423374" y="2228850"/>
            <a:ext cx="666750" cy="666750"/>
          </a:xfrm>
          <a:prstGeom prst="rect">
            <a:avLst/>
          </a:prstGeom>
          <a:noFill/>
          <a:ln>
            <a:noFill/>
          </a:ln>
        </p:spPr>
      </p:pic>
      <p:sp>
        <p:nvSpPr>
          <p:cNvPr id="637" name="Google Shape;637;p48"/>
          <p:cNvSpPr txBox="1"/>
          <p:nvPr/>
        </p:nvSpPr>
        <p:spPr>
          <a:xfrm>
            <a:off x="8423374" y="3086100"/>
            <a:ext cx="292036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Performance Capture</a:t>
            </a:r>
            <a:endParaRPr/>
          </a:p>
        </p:txBody>
      </p:sp>
      <p:sp>
        <p:nvSpPr>
          <p:cNvPr id="638" name="Google Shape;638;p48"/>
          <p:cNvSpPr txBox="1"/>
          <p:nvPr/>
        </p:nvSpPr>
        <p:spPr>
          <a:xfrm>
            <a:off x="8423374" y="3533775"/>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Continuously tracks wait times, counter utilization, and peak-hour volume, feeding data directly to the Mayor's executive oversight dashboard.</a:t>
            </a:r>
            <a:endParaRPr/>
          </a:p>
        </p:txBody>
      </p:sp>
      <p:pic>
        <p:nvPicPr>
          <p:cNvPr descr="image.png" id="639" name="Google Shape;639;p48"/>
          <p:cNvPicPr preferRelativeResize="0"/>
          <p:nvPr/>
        </p:nvPicPr>
        <p:blipFill rotWithShape="1">
          <a:blip r:embed="rId9">
            <a:alphaModFix/>
          </a:blip>
          <a:srcRect b="0" l="0" r="0" t="0"/>
          <a:stretch/>
        </p:blipFill>
        <p:spPr>
          <a:xfrm>
            <a:off x="1004887" y="2390775"/>
            <a:ext cx="390525" cy="342900"/>
          </a:xfrm>
          <a:prstGeom prst="rect">
            <a:avLst/>
          </a:prstGeom>
          <a:noFill/>
          <a:ln>
            <a:noFill/>
          </a:ln>
        </p:spPr>
      </p:pic>
      <p:pic>
        <p:nvPicPr>
          <p:cNvPr descr="image.png" id="640" name="Google Shape;640;p48"/>
          <p:cNvPicPr preferRelativeResize="0"/>
          <p:nvPr/>
        </p:nvPicPr>
        <p:blipFill rotWithShape="1">
          <a:blip r:embed="rId10">
            <a:alphaModFix/>
          </a:blip>
          <a:srcRect b="0" l="0" r="0" t="0"/>
          <a:stretch/>
        </p:blipFill>
        <p:spPr>
          <a:xfrm>
            <a:off x="4826049" y="2390775"/>
            <a:ext cx="304800" cy="342900"/>
          </a:xfrm>
          <a:prstGeom prst="rect">
            <a:avLst/>
          </a:prstGeom>
          <a:noFill/>
          <a:ln>
            <a:noFill/>
          </a:ln>
        </p:spPr>
      </p:pic>
      <p:pic>
        <p:nvPicPr>
          <p:cNvPr descr="image.png" id="641" name="Google Shape;641;p48"/>
          <p:cNvPicPr preferRelativeResize="0"/>
          <p:nvPr/>
        </p:nvPicPr>
        <p:blipFill rotWithShape="1">
          <a:blip r:embed="rId11">
            <a:alphaModFix/>
          </a:blip>
          <a:srcRect b="0" l="0" r="0" t="0"/>
          <a:stretch/>
        </p:blipFill>
        <p:spPr>
          <a:xfrm>
            <a:off x="8561486" y="2390775"/>
            <a:ext cx="390525" cy="3429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pic>
        <p:nvPicPr>
          <p:cNvPr descr="image.png" id="646" name="Google Shape;646;p4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47" name="Google Shape;647;p49"/>
          <p:cNvSpPr/>
          <p:nvPr/>
        </p:nvSpPr>
        <p:spPr>
          <a:xfrm>
            <a:off x="5715000" y="2562225"/>
            <a:ext cx="762000" cy="3810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49"/>
          <p:cNvSpPr txBox="1"/>
          <p:nvPr/>
        </p:nvSpPr>
        <p:spPr>
          <a:xfrm>
            <a:off x="295275" y="2886075"/>
            <a:ext cx="11601450" cy="129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8FAFC"/>
                </a:solidFill>
                <a:latin typeface="Montserrat"/>
                <a:ea typeface="Montserrat"/>
                <a:cs typeface="Montserrat"/>
                <a:sym typeface="Montserrat"/>
              </a:rPr>
              <a:t>Phase VI: Procurement &amp; Financial Model</a:t>
            </a:r>
            <a:endParaRPr/>
          </a:p>
        </p:txBody>
      </p:sp>
      <p:sp>
        <p:nvSpPr>
          <p:cNvPr id="649" name="Google Shape;649;p49"/>
          <p:cNvSpPr txBox="1"/>
          <p:nvPr/>
        </p:nvSpPr>
        <p:spPr>
          <a:xfrm>
            <a:off x="3805237" y="4181475"/>
            <a:ext cx="4581525" cy="2571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F8FAFC"/>
                </a:solidFill>
                <a:latin typeface="Inter"/>
                <a:ea typeface="Inter"/>
                <a:cs typeface="Inter"/>
                <a:sym typeface="Inter"/>
              </a:rPr>
              <a:t>Comprehensive BoQ Mapping &amp; Investment Safeguards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53" name="Shape 653"/>
        <p:cNvGrpSpPr/>
        <p:nvPr/>
      </p:nvGrpSpPr>
      <p:grpSpPr>
        <a:xfrm>
          <a:off x="0" y="0"/>
          <a:ext cx="0" cy="0"/>
          <a:chOff x="0" y="0"/>
          <a:chExt cx="0" cy="0"/>
        </a:xfrm>
      </p:grpSpPr>
      <p:pic>
        <p:nvPicPr>
          <p:cNvPr descr="image.png" id="654" name="Google Shape;654;p50"/>
          <p:cNvPicPr preferRelativeResize="0"/>
          <p:nvPr/>
        </p:nvPicPr>
        <p:blipFill rotWithShape="1">
          <a:blip r:embed="rId3">
            <a:alphaModFix/>
          </a:blip>
          <a:srcRect b="0" l="0" r="0" t="0"/>
          <a:stretch/>
        </p:blipFill>
        <p:spPr>
          <a:xfrm>
            <a:off x="571500" y="1066800"/>
            <a:ext cx="11049000" cy="5314950"/>
          </a:xfrm>
          <a:prstGeom prst="rect">
            <a:avLst/>
          </a:prstGeom>
          <a:noFill/>
          <a:ln>
            <a:noFill/>
          </a:ln>
        </p:spPr>
      </p:pic>
      <p:sp>
        <p:nvSpPr>
          <p:cNvPr id="655" name="Google Shape;655;p50"/>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Total Infrastructure Procurement Focus</a:t>
            </a:r>
            <a:endParaRPr/>
          </a:p>
        </p:txBody>
      </p:sp>
      <p:sp>
        <p:nvSpPr>
          <p:cNvPr id="656" name="Google Shape;656;p50"/>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60" name="Shape 660"/>
        <p:cNvGrpSpPr/>
        <p:nvPr/>
      </p:nvGrpSpPr>
      <p:grpSpPr>
        <a:xfrm>
          <a:off x="0" y="0"/>
          <a:ext cx="0" cy="0"/>
          <a:chOff x="0" y="0"/>
          <a:chExt cx="0" cy="0"/>
        </a:xfrm>
      </p:grpSpPr>
      <p:pic>
        <p:nvPicPr>
          <p:cNvPr descr="image.png" id="661" name="Google Shape;661;p51"/>
          <p:cNvPicPr preferRelativeResize="0"/>
          <p:nvPr/>
        </p:nvPicPr>
        <p:blipFill rotWithShape="1">
          <a:blip r:embed="rId3">
            <a:alphaModFix/>
          </a:blip>
          <a:srcRect b="0" l="0" r="0" t="0"/>
          <a:stretch/>
        </p:blipFill>
        <p:spPr>
          <a:xfrm>
            <a:off x="571500" y="2400300"/>
            <a:ext cx="11049000" cy="2647950"/>
          </a:xfrm>
          <a:prstGeom prst="rect">
            <a:avLst/>
          </a:prstGeom>
          <a:noFill/>
          <a:ln>
            <a:noFill/>
          </a:ln>
        </p:spPr>
      </p:pic>
      <p:sp>
        <p:nvSpPr>
          <p:cNvPr id="662" name="Google Shape;662;p51"/>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Hardware Bill of Quantities (BoQ) Breakdown</a:t>
            </a:r>
            <a:endParaRPr/>
          </a:p>
        </p:txBody>
      </p:sp>
      <p:sp>
        <p:nvSpPr>
          <p:cNvPr id="663" name="Google Shape;663;p51"/>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664" name="Google Shape;664;p51"/>
          <p:cNvGraphicFramePr/>
          <p:nvPr/>
        </p:nvGraphicFramePr>
        <p:xfrm>
          <a:off x="581025" y="2409825"/>
          <a:ext cx="3000000" cy="3000000"/>
        </p:xfrm>
        <a:graphic>
          <a:graphicData uri="http://schemas.openxmlformats.org/drawingml/2006/table">
            <a:tbl>
              <a:tblPr bandRow="1" firstRow="1">
                <a:noFill/>
                <a:tableStyleId>{5AC119ED-5815-4C41-8F13-C28447212DCB}</a:tableStyleId>
              </a:tblPr>
              <a:tblGrid>
                <a:gridCol w="3368725"/>
                <a:gridCol w="1968400"/>
                <a:gridCol w="5692825"/>
              </a:tblGrid>
              <a:tr h="525775">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Item Category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Est. Quantity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Technical Purpose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Desktop Workstations (i5+)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55 - 60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Equipping 30 counters, back-offices, and management.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Dual Display Monitors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55 - 60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Vital for simultaneous system review and document viewing.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Network Core &amp; Access Switches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1 Core / 8 Access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Establishing high-capacity structured building network.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Document Scanners &amp; Printers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30 Small / 2 Large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Digitizing citizen documents directly at the point of entry.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665" name="Google Shape;665;p51"/>
          <p:cNvSpPr/>
          <p:nvPr/>
        </p:nvSpPr>
        <p:spPr>
          <a:xfrm>
            <a:off x="581025" y="2900362"/>
            <a:ext cx="336872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6" name="Google Shape;666;p51"/>
          <p:cNvSpPr/>
          <p:nvPr/>
        </p:nvSpPr>
        <p:spPr>
          <a:xfrm>
            <a:off x="3949749" y="2900362"/>
            <a:ext cx="19684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7" name="Google Shape;667;p51"/>
          <p:cNvSpPr/>
          <p:nvPr/>
        </p:nvSpPr>
        <p:spPr>
          <a:xfrm>
            <a:off x="5918150" y="2900362"/>
            <a:ext cx="569282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8" name="Google Shape;668;p51"/>
          <p:cNvSpPr/>
          <p:nvPr/>
        </p:nvSpPr>
        <p:spPr>
          <a:xfrm>
            <a:off x="581025" y="3433762"/>
            <a:ext cx="336872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9" name="Google Shape;669;p51"/>
          <p:cNvSpPr/>
          <p:nvPr/>
        </p:nvSpPr>
        <p:spPr>
          <a:xfrm>
            <a:off x="3949749" y="3433762"/>
            <a:ext cx="19684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0" name="Google Shape;670;p51"/>
          <p:cNvSpPr/>
          <p:nvPr/>
        </p:nvSpPr>
        <p:spPr>
          <a:xfrm>
            <a:off x="5918150" y="3433762"/>
            <a:ext cx="569282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1" name="Google Shape;671;p51"/>
          <p:cNvSpPr/>
          <p:nvPr/>
        </p:nvSpPr>
        <p:spPr>
          <a:xfrm>
            <a:off x="581025" y="3967162"/>
            <a:ext cx="336872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2" name="Google Shape;672;p51"/>
          <p:cNvSpPr/>
          <p:nvPr/>
        </p:nvSpPr>
        <p:spPr>
          <a:xfrm>
            <a:off x="3949749" y="3967162"/>
            <a:ext cx="19684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3" name="Google Shape;673;p51"/>
          <p:cNvSpPr/>
          <p:nvPr/>
        </p:nvSpPr>
        <p:spPr>
          <a:xfrm>
            <a:off x="5918150" y="3967162"/>
            <a:ext cx="569282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4" name="Google Shape;674;p51"/>
          <p:cNvSpPr/>
          <p:nvPr/>
        </p:nvSpPr>
        <p:spPr>
          <a:xfrm>
            <a:off x="581025" y="4500562"/>
            <a:ext cx="336872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5" name="Google Shape;675;p51"/>
          <p:cNvSpPr/>
          <p:nvPr/>
        </p:nvSpPr>
        <p:spPr>
          <a:xfrm>
            <a:off x="3949749" y="4500562"/>
            <a:ext cx="19684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6" name="Google Shape;676;p51"/>
          <p:cNvSpPr/>
          <p:nvPr/>
        </p:nvSpPr>
        <p:spPr>
          <a:xfrm>
            <a:off x="5918150" y="4500562"/>
            <a:ext cx="569282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80" name="Shape 680"/>
        <p:cNvGrpSpPr/>
        <p:nvPr/>
      </p:nvGrpSpPr>
      <p:grpSpPr>
        <a:xfrm>
          <a:off x="0" y="0"/>
          <a:ext cx="0" cy="0"/>
          <a:chOff x="0" y="0"/>
          <a:chExt cx="0" cy="0"/>
        </a:xfrm>
      </p:grpSpPr>
      <p:pic>
        <p:nvPicPr>
          <p:cNvPr descr="image.png" id="681" name="Google Shape;681;p52"/>
          <p:cNvPicPr preferRelativeResize="0"/>
          <p:nvPr/>
        </p:nvPicPr>
        <p:blipFill rotWithShape="1">
          <a:blip r:embed="rId3">
            <a:alphaModFix/>
          </a:blip>
          <a:srcRect b="0" l="0" r="0" t="0"/>
          <a:stretch/>
        </p:blipFill>
        <p:spPr>
          <a:xfrm>
            <a:off x="571500" y="2400300"/>
            <a:ext cx="11049000" cy="2647950"/>
          </a:xfrm>
          <a:prstGeom prst="rect">
            <a:avLst/>
          </a:prstGeom>
          <a:noFill/>
          <a:ln>
            <a:noFill/>
          </a:ln>
        </p:spPr>
      </p:pic>
      <p:sp>
        <p:nvSpPr>
          <p:cNvPr id="682" name="Google Shape;682;p52"/>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Software &amp; Licensing BoQ</a:t>
            </a:r>
            <a:endParaRPr/>
          </a:p>
        </p:txBody>
      </p:sp>
      <p:sp>
        <p:nvSpPr>
          <p:cNvPr id="683" name="Google Shape;683;p52"/>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684" name="Google Shape;684;p52"/>
          <p:cNvGraphicFramePr/>
          <p:nvPr/>
        </p:nvGraphicFramePr>
        <p:xfrm>
          <a:off x="581025" y="2409825"/>
          <a:ext cx="3000000" cy="3000000"/>
        </p:xfrm>
        <a:graphic>
          <a:graphicData uri="http://schemas.openxmlformats.org/drawingml/2006/table">
            <a:tbl>
              <a:tblPr bandRow="1" firstRow="1">
                <a:noFill/>
                <a:tableStyleId>{5AC119ED-5815-4C41-8F13-C28447212DCB}</a:tableStyleId>
              </a:tblPr>
              <a:tblGrid>
                <a:gridCol w="3239550"/>
                <a:gridCol w="2092825"/>
                <a:gridCol w="5697575"/>
              </a:tblGrid>
              <a:tr h="525775">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Platform Component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Licensing Model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Operational Function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Service Workflow Engine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Platform License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Orchestrates the routing and approval of all 47 services.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API Gateway Middleware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Enterprise License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Manages integration, traffic, and security between bureaus.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Case Management / User Seats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~70 User Licenses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Access rights for staff processing cases within the engine.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Database Server Licensing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Per Core/Server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Secure structured storage for transactions and ledgers.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685" name="Google Shape;685;p52"/>
          <p:cNvSpPr/>
          <p:nvPr/>
        </p:nvSpPr>
        <p:spPr>
          <a:xfrm>
            <a:off x="581025" y="2900362"/>
            <a:ext cx="323954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6" name="Google Shape;686;p52"/>
          <p:cNvSpPr/>
          <p:nvPr/>
        </p:nvSpPr>
        <p:spPr>
          <a:xfrm>
            <a:off x="3820566" y="2900362"/>
            <a:ext cx="20928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7" name="Google Shape;687;p52"/>
          <p:cNvSpPr/>
          <p:nvPr/>
        </p:nvSpPr>
        <p:spPr>
          <a:xfrm>
            <a:off x="5913387" y="2900362"/>
            <a:ext cx="56975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8" name="Google Shape;688;p52"/>
          <p:cNvSpPr/>
          <p:nvPr/>
        </p:nvSpPr>
        <p:spPr>
          <a:xfrm>
            <a:off x="581025" y="3433762"/>
            <a:ext cx="323954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9" name="Google Shape;689;p52"/>
          <p:cNvSpPr/>
          <p:nvPr/>
        </p:nvSpPr>
        <p:spPr>
          <a:xfrm>
            <a:off x="3820566" y="3433762"/>
            <a:ext cx="20928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0" name="Google Shape;690;p52"/>
          <p:cNvSpPr/>
          <p:nvPr/>
        </p:nvSpPr>
        <p:spPr>
          <a:xfrm>
            <a:off x="5913387" y="3433762"/>
            <a:ext cx="56975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1" name="Google Shape;691;p52"/>
          <p:cNvSpPr/>
          <p:nvPr/>
        </p:nvSpPr>
        <p:spPr>
          <a:xfrm>
            <a:off x="581025" y="3967162"/>
            <a:ext cx="323954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2" name="Google Shape;692;p52"/>
          <p:cNvSpPr/>
          <p:nvPr/>
        </p:nvSpPr>
        <p:spPr>
          <a:xfrm>
            <a:off x="3820566" y="3967162"/>
            <a:ext cx="20928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3" name="Google Shape;693;p52"/>
          <p:cNvSpPr/>
          <p:nvPr/>
        </p:nvSpPr>
        <p:spPr>
          <a:xfrm>
            <a:off x="5913387" y="3967162"/>
            <a:ext cx="56975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4" name="Google Shape;694;p52"/>
          <p:cNvSpPr/>
          <p:nvPr/>
        </p:nvSpPr>
        <p:spPr>
          <a:xfrm>
            <a:off x="581025" y="4500562"/>
            <a:ext cx="323954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5" name="Google Shape;695;p52"/>
          <p:cNvSpPr/>
          <p:nvPr/>
        </p:nvSpPr>
        <p:spPr>
          <a:xfrm>
            <a:off x="3820566" y="4500562"/>
            <a:ext cx="20928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6" name="Google Shape;696;p52"/>
          <p:cNvSpPr/>
          <p:nvPr/>
        </p:nvSpPr>
        <p:spPr>
          <a:xfrm>
            <a:off x="5913387" y="4500562"/>
            <a:ext cx="56975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00" name="Shape 700"/>
        <p:cNvGrpSpPr/>
        <p:nvPr/>
      </p:nvGrpSpPr>
      <p:grpSpPr>
        <a:xfrm>
          <a:off x="0" y="0"/>
          <a:ext cx="0" cy="0"/>
          <a:chOff x="0" y="0"/>
          <a:chExt cx="0" cy="0"/>
        </a:xfrm>
      </p:grpSpPr>
      <p:pic>
        <p:nvPicPr>
          <p:cNvPr descr="image.png" id="701" name="Google Shape;701;p53"/>
          <p:cNvPicPr preferRelativeResize="0"/>
          <p:nvPr/>
        </p:nvPicPr>
        <p:blipFill rotWithShape="1">
          <a:blip r:embed="rId3">
            <a:alphaModFix/>
          </a:blip>
          <a:srcRect b="0" l="0" r="0" t="0"/>
          <a:stretch/>
        </p:blipFill>
        <p:spPr>
          <a:xfrm>
            <a:off x="571500" y="2400300"/>
            <a:ext cx="11049000" cy="2647950"/>
          </a:xfrm>
          <a:prstGeom prst="rect">
            <a:avLst/>
          </a:prstGeom>
          <a:noFill/>
          <a:ln>
            <a:noFill/>
          </a:ln>
        </p:spPr>
      </p:pic>
      <p:sp>
        <p:nvSpPr>
          <p:cNvPr id="702" name="Google Shape;702;p53"/>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Security &amp; Queue System BoQ</a:t>
            </a:r>
            <a:endParaRPr/>
          </a:p>
        </p:txBody>
      </p:sp>
      <p:sp>
        <p:nvSpPr>
          <p:cNvPr id="703" name="Google Shape;703;p53"/>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704" name="Google Shape;704;p53"/>
          <p:cNvGraphicFramePr/>
          <p:nvPr/>
        </p:nvGraphicFramePr>
        <p:xfrm>
          <a:off x="581025" y="2409825"/>
          <a:ext cx="3000000" cy="3000000"/>
        </p:xfrm>
        <a:graphic>
          <a:graphicData uri="http://schemas.openxmlformats.org/drawingml/2006/table">
            <a:tbl>
              <a:tblPr bandRow="1" firstRow="1">
                <a:noFill/>
                <a:tableStyleId>{5AC119ED-5815-4C41-8F13-C28447212DCB}</a:tableStyleId>
              </a:tblPr>
              <a:tblGrid>
                <a:gridCol w="2735175"/>
                <a:gridCol w="2933250"/>
                <a:gridCol w="5361525"/>
              </a:tblGrid>
              <a:tr h="525775">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Security / Queue Item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Specification Required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Risk Mitigated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Enterprise Edge Firewall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Deep packet inspection, VPN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Prevents external cyber intrusions and secures API mesh.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CCTV Surveillance System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20-30 IP Cams + 30-Day NVR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Deters physical tampering and monitors cash handling.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Queue Core Software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Integrated API capabilities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Prevents chaos; ensures fair, timed citizen service flow.</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257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Ticket Kiosks &amp; LCDs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3 Kiosks / 8 Wall Displays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Physical interface for directing citizen hall traffic.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705" name="Google Shape;705;p53"/>
          <p:cNvSpPr/>
          <p:nvPr/>
        </p:nvSpPr>
        <p:spPr>
          <a:xfrm>
            <a:off x="581025" y="2900362"/>
            <a:ext cx="273516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6" name="Google Shape;706;p53"/>
          <p:cNvSpPr/>
          <p:nvPr/>
        </p:nvSpPr>
        <p:spPr>
          <a:xfrm>
            <a:off x="3316188" y="2900362"/>
            <a:ext cx="293325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7" name="Google Shape;707;p53"/>
          <p:cNvSpPr/>
          <p:nvPr/>
        </p:nvSpPr>
        <p:spPr>
          <a:xfrm>
            <a:off x="6249441" y="2900362"/>
            <a:ext cx="536153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8" name="Google Shape;708;p53"/>
          <p:cNvSpPr/>
          <p:nvPr/>
        </p:nvSpPr>
        <p:spPr>
          <a:xfrm>
            <a:off x="581025" y="3433762"/>
            <a:ext cx="273516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9" name="Google Shape;709;p53"/>
          <p:cNvSpPr/>
          <p:nvPr/>
        </p:nvSpPr>
        <p:spPr>
          <a:xfrm>
            <a:off x="3316188" y="3433762"/>
            <a:ext cx="293325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0" name="Google Shape;710;p53"/>
          <p:cNvSpPr/>
          <p:nvPr/>
        </p:nvSpPr>
        <p:spPr>
          <a:xfrm>
            <a:off x="6249441" y="3433762"/>
            <a:ext cx="536153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1" name="Google Shape;711;p53"/>
          <p:cNvSpPr/>
          <p:nvPr/>
        </p:nvSpPr>
        <p:spPr>
          <a:xfrm>
            <a:off x="581025" y="3967162"/>
            <a:ext cx="273516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2" name="Google Shape;712;p53"/>
          <p:cNvSpPr/>
          <p:nvPr/>
        </p:nvSpPr>
        <p:spPr>
          <a:xfrm>
            <a:off x="3316188" y="3967162"/>
            <a:ext cx="293325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3" name="Google Shape;713;p53"/>
          <p:cNvSpPr/>
          <p:nvPr/>
        </p:nvSpPr>
        <p:spPr>
          <a:xfrm>
            <a:off x="6249441" y="3967162"/>
            <a:ext cx="536153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4" name="Google Shape;714;p53"/>
          <p:cNvSpPr/>
          <p:nvPr/>
        </p:nvSpPr>
        <p:spPr>
          <a:xfrm>
            <a:off x="581025" y="4500562"/>
            <a:ext cx="273516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5" name="Google Shape;715;p53"/>
          <p:cNvSpPr/>
          <p:nvPr/>
        </p:nvSpPr>
        <p:spPr>
          <a:xfrm>
            <a:off x="3316188" y="4500562"/>
            <a:ext cx="293325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6" name="Google Shape;716;p53"/>
          <p:cNvSpPr/>
          <p:nvPr/>
        </p:nvSpPr>
        <p:spPr>
          <a:xfrm>
            <a:off x="6249441" y="4500562"/>
            <a:ext cx="536153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20" name="Shape 720"/>
        <p:cNvGrpSpPr/>
        <p:nvPr/>
      </p:nvGrpSpPr>
      <p:grpSpPr>
        <a:xfrm>
          <a:off x="0" y="0"/>
          <a:ext cx="0" cy="0"/>
          <a:chOff x="0" y="0"/>
          <a:chExt cx="0" cy="0"/>
        </a:xfrm>
      </p:grpSpPr>
      <p:pic>
        <p:nvPicPr>
          <p:cNvPr descr="image.png" id="721" name="Google Shape;721;p54"/>
          <p:cNvPicPr preferRelativeResize="0"/>
          <p:nvPr/>
        </p:nvPicPr>
        <p:blipFill rotWithShape="1">
          <a:blip r:embed="rId3">
            <a:alphaModFix/>
          </a:blip>
          <a:srcRect b="0" l="0" r="0" t="0"/>
          <a:stretch/>
        </p:blipFill>
        <p:spPr>
          <a:xfrm>
            <a:off x="571500" y="1066800"/>
            <a:ext cx="11049000" cy="5314950"/>
          </a:xfrm>
          <a:prstGeom prst="rect">
            <a:avLst/>
          </a:prstGeom>
          <a:noFill/>
          <a:ln>
            <a:noFill/>
          </a:ln>
        </p:spPr>
      </p:pic>
      <p:sp>
        <p:nvSpPr>
          <p:cNvPr id="722" name="Google Shape;722;p54"/>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CAPEX vs OPEX Financial Structure Projection</a:t>
            </a:r>
            <a:endParaRPr/>
          </a:p>
        </p:txBody>
      </p:sp>
      <p:sp>
        <p:nvSpPr>
          <p:cNvPr id="723" name="Google Shape;723;p54"/>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4" name="Google Shape;724;p54"/>
          <p:cNvSpPr txBox="1"/>
          <p:nvPr/>
        </p:nvSpPr>
        <p:spPr>
          <a:xfrm>
            <a:off x="571500" y="4300537"/>
            <a:ext cx="1104900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475569"/>
                </a:solidFill>
                <a:latin typeface="Inter"/>
                <a:ea typeface="Inter"/>
                <a:cs typeface="Inter"/>
                <a:sym typeface="Inter"/>
              </a:rPr>
              <a:t>Initial investment is dominated by capital expenditure (hardware/infrastructure), transitioning to recurring operational expenses (cloud hosting, SLAs, licenses) in subsequent years.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28" name="Shape 728"/>
        <p:cNvGrpSpPr/>
        <p:nvPr/>
      </p:nvGrpSpPr>
      <p:grpSpPr>
        <a:xfrm>
          <a:off x="0" y="0"/>
          <a:ext cx="0" cy="0"/>
          <a:chOff x="0" y="0"/>
          <a:chExt cx="0" cy="0"/>
        </a:xfrm>
      </p:grpSpPr>
      <p:pic>
        <p:nvPicPr>
          <p:cNvPr descr="image.png" id="729" name="Google Shape;729;p55"/>
          <p:cNvPicPr preferRelativeResize="0"/>
          <p:nvPr/>
        </p:nvPicPr>
        <p:blipFill rotWithShape="1">
          <a:blip r:embed="rId3">
            <a:alphaModFix/>
          </a:blip>
          <a:srcRect b="0" l="0" r="0" t="0"/>
          <a:stretch/>
        </p:blipFill>
        <p:spPr>
          <a:xfrm>
            <a:off x="571500" y="1066800"/>
            <a:ext cx="11049000" cy="5314950"/>
          </a:xfrm>
          <a:prstGeom prst="rect">
            <a:avLst/>
          </a:prstGeom>
          <a:noFill/>
          <a:ln>
            <a:noFill/>
          </a:ln>
        </p:spPr>
      </p:pic>
      <p:sp>
        <p:nvSpPr>
          <p:cNvPr id="730" name="Google Shape;730;p55"/>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3-Year Financial Commitment Trend (Illustrative)</a:t>
            </a:r>
            <a:endParaRPr/>
          </a:p>
        </p:txBody>
      </p:sp>
      <p:sp>
        <p:nvSpPr>
          <p:cNvPr id="731" name="Google Shape;731;p55"/>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2" name="Google Shape;732;p55"/>
          <p:cNvSpPr txBox="1"/>
          <p:nvPr/>
        </p:nvSpPr>
        <p:spPr>
          <a:xfrm>
            <a:off x="571500" y="5472112"/>
            <a:ext cx="11049000" cy="5143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475569"/>
                </a:solidFill>
                <a:latin typeface="Inter"/>
                <a:ea typeface="Inter"/>
                <a:cs typeface="Inter"/>
                <a:sym typeface="Inter"/>
              </a:rPr>
              <a:t>Costs spike heavily during initial implementation (Year 1), drop to maintenance levels in Year 2, and slightly rise in Year 3 to accommodate Phase 2 scaling needs.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36" name="Shape 736"/>
        <p:cNvGrpSpPr/>
        <p:nvPr/>
      </p:nvGrpSpPr>
      <p:grpSpPr>
        <a:xfrm>
          <a:off x="0" y="0"/>
          <a:ext cx="0" cy="0"/>
          <a:chOff x="0" y="0"/>
          <a:chExt cx="0" cy="0"/>
        </a:xfrm>
      </p:grpSpPr>
      <p:pic>
        <p:nvPicPr>
          <p:cNvPr descr="image.png" id="737" name="Google Shape;737;p56"/>
          <p:cNvPicPr preferRelativeResize="0"/>
          <p:nvPr/>
        </p:nvPicPr>
        <p:blipFill rotWithShape="1">
          <a:blip r:embed="rId3">
            <a:alphaModFix/>
          </a:blip>
          <a:srcRect b="0" l="0" r="0" t="0"/>
          <a:stretch/>
        </p:blipFill>
        <p:spPr>
          <a:xfrm>
            <a:off x="571500" y="2524125"/>
            <a:ext cx="5286375" cy="2400300"/>
          </a:xfrm>
          <a:prstGeom prst="rect">
            <a:avLst/>
          </a:prstGeom>
          <a:noFill/>
          <a:ln>
            <a:noFill/>
          </a:ln>
        </p:spPr>
      </p:pic>
      <p:pic>
        <p:nvPicPr>
          <p:cNvPr descr="image.png" id="738" name="Google Shape;738;p56"/>
          <p:cNvPicPr preferRelativeResize="0"/>
          <p:nvPr/>
        </p:nvPicPr>
        <p:blipFill rotWithShape="1">
          <a:blip r:embed="rId4">
            <a:alphaModFix/>
          </a:blip>
          <a:srcRect b="0" l="0" r="0" t="0"/>
          <a:stretch/>
        </p:blipFill>
        <p:spPr>
          <a:xfrm>
            <a:off x="6334125" y="2524125"/>
            <a:ext cx="5286375" cy="2400300"/>
          </a:xfrm>
          <a:prstGeom prst="rect">
            <a:avLst/>
          </a:prstGeom>
          <a:noFill/>
          <a:ln>
            <a:noFill/>
          </a:ln>
        </p:spPr>
      </p:pic>
      <p:sp>
        <p:nvSpPr>
          <p:cNvPr id="739" name="Google Shape;739;p56"/>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Procurement Safeguards &amp; Controls</a:t>
            </a:r>
            <a:endParaRPr/>
          </a:p>
        </p:txBody>
      </p:sp>
      <p:sp>
        <p:nvSpPr>
          <p:cNvPr id="740" name="Google Shape;740;p56"/>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1" name="Google Shape;741;p56"/>
          <p:cNvSpPr txBox="1"/>
          <p:nvPr/>
        </p:nvSpPr>
        <p:spPr>
          <a:xfrm>
            <a:off x="962025" y="2914650"/>
            <a:ext cx="4730591"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97316"/>
                </a:solidFill>
                <a:latin typeface="Montserrat"/>
                <a:ea typeface="Montserrat"/>
                <a:cs typeface="Montserrat"/>
                <a:sym typeface="Montserrat"/>
              </a:rPr>
              <a:t>Prohibit Opaque Bundling</a:t>
            </a:r>
            <a:endParaRPr/>
          </a:p>
        </p:txBody>
      </p:sp>
      <p:sp>
        <p:nvSpPr>
          <p:cNvPr id="742" name="Google Shape;742;p56"/>
          <p:cNvSpPr txBox="1"/>
          <p:nvPr/>
        </p:nvSpPr>
        <p:spPr>
          <a:xfrm>
            <a:off x="962025" y="3362325"/>
            <a:ext cx="4505325"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Procurement must strictly forbid bundled "black box" package pricing. Every component—Infrastructure, Application, API Integration, and Backend Development—must provide an itemized financial breakdown.</a:t>
            </a:r>
            <a:endParaRPr/>
          </a:p>
        </p:txBody>
      </p:sp>
      <p:sp>
        <p:nvSpPr>
          <p:cNvPr id="743" name="Google Shape;743;p56"/>
          <p:cNvSpPr txBox="1"/>
          <p:nvPr/>
        </p:nvSpPr>
        <p:spPr>
          <a:xfrm>
            <a:off x="6724650" y="2914650"/>
            <a:ext cx="4730591"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API Development Accountability</a:t>
            </a:r>
            <a:endParaRPr/>
          </a:p>
        </p:txBody>
      </p:sp>
      <p:sp>
        <p:nvSpPr>
          <p:cNvPr id="744" name="Google Shape;744;p56"/>
          <p:cNvSpPr txBox="1"/>
          <p:nvPr/>
        </p:nvSpPr>
        <p:spPr>
          <a:xfrm>
            <a:off x="6724650" y="3362325"/>
            <a:ext cx="4505325"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No procurement contract should be signed without explicitly defining who is responsible (City vs. Vendor) for developing backend systems for Category B bureaus and funding the API integration labor.</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48" name="Shape 748"/>
        <p:cNvGrpSpPr/>
        <p:nvPr/>
      </p:nvGrpSpPr>
      <p:grpSpPr>
        <a:xfrm>
          <a:off x="0" y="0"/>
          <a:ext cx="0" cy="0"/>
          <a:chOff x="0" y="0"/>
          <a:chExt cx="0" cy="0"/>
        </a:xfrm>
      </p:grpSpPr>
      <p:sp>
        <p:nvSpPr>
          <p:cNvPr id="749" name="Google Shape;749;p57"/>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Performance-Based Payment Milestone Structure</a:t>
            </a:r>
            <a:endParaRPr/>
          </a:p>
        </p:txBody>
      </p:sp>
      <p:sp>
        <p:nvSpPr>
          <p:cNvPr id="750" name="Google Shape;750;p57"/>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1" name="Google Shape;751;p57"/>
          <p:cNvSpPr/>
          <p:nvPr/>
        </p:nvSpPr>
        <p:spPr>
          <a:xfrm>
            <a:off x="571500" y="3705225"/>
            <a:ext cx="11049000" cy="381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2" name="Google Shape;752;p57"/>
          <p:cNvSpPr txBox="1"/>
          <p:nvPr/>
        </p:nvSpPr>
        <p:spPr>
          <a:xfrm>
            <a:off x="502443" y="4057650"/>
            <a:ext cx="2900362"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2C59"/>
                </a:solidFill>
                <a:latin typeface="Montserrat"/>
                <a:ea typeface="Montserrat"/>
                <a:cs typeface="Montserrat"/>
                <a:sym typeface="Montserrat"/>
              </a:rPr>
              <a:t>1. Contract Sign (15%)</a:t>
            </a:r>
            <a:endParaRPr/>
          </a:p>
        </p:txBody>
      </p:sp>
      <p:sp>
        <p:nvSpPr>
          <p:cNvPr id="753" name="Google Shape;753;p57"/>
          <p:cNvSpPr txBox="1"/>
          <p:nvPr/>
        </p:nvSpPr>
        <p:spPr>
          <a:xfrm>
            <a:off x="571500" y="4381500"/>
            <a:ext cx="2762250" cy="642937"/>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0F172A"/>
                </a:solidFill>
                <a:latin typeface="Inter"/>
                <a:ea typeface="Inter"/>
                <a:cs typeface="Inter"/>
                <a:sym typeface="Inter"/>
              </a:rPr>
              <a:t>Initial disbursement tied exclusively to validated architecture approval and finalized vendor scope contracts.</a:t>
            </a:r>
            <a:endParaRPr/>
          </a:p>
        </p:txBody>
      </p:sp>
      <p:sp>
        <p:nvSpPr>
          <p:cNvPr id="754" name="Google Shape;754;p57"/>
          <p:cNvSpPr txBox="1"/>
          <p:nvPr/>
        </p:nvSpPr>
        <p:spPr>
          <a:xfrm>
            <a:off x="3264693" y="2281237"/>
            <a:ext cx="2900362"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2C59"/>
                </a:solidFill>
                <a:latin typeface="Montserrat"/>
                <a:ea typeface="Montserrat"/>
                <a:cs typeface="Montserrat"/>
                <a:sym typeface="Montserrat"/>
              </a:rPr>
              <a:t>2. Infrastructure (25%)</a:t>
            </a:r>
            <a:endParaRPr/>
          </a:p>
        </p:txBody>
      </p:sp>
      <p:sp>
        <p:nvSpPr>
          <p:cNvPr id="755" name="Google Shape;755;p57"/>
          <p:cNvSpPr txBox="1"/>
          <p:nvPr/>
        </p:nvSpPr>
        <p:spPr>
          <a:xfrm>
            <a:off x="3333750" y="2605087"/>
            <a:ext cx="2762250" cy="642937"/>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0F172A"/>
                </a:solidFill>
                <a:latin typeface="Inter"/>
                <a:ea typeface="Inter"/>
                <a:cs typeface="Inter"/>
                <a:sym typeface="Inter"/>
              </a:rPr>
              <a:t>Released upon successful physical delivery, rack mounting, and network connectivity testing within the building.</a:t>
            </a:r>
            <a:endParaRPr/>
          </a:p>
        </p:txBody>
      </p:sp>
      <p:sp>
        <p:nvSpPr>
          <p:cNvPr id="756" name="Google Shape;756;p57"/>
          <p:cNvSpPr txBox="1"/>
          <p:nvPr/>
        </p:nvSpPr>
        <p:spPr>
          <a:xfrm>
            <a:off x="6026943" y="4057650"/>
            <a:ext cx="2900362"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2C59"/>
                </a:solidFill>
                <a:latin typeface="Montserrat"/>
                <a:ea typeface="Montserrat"/>
                <a:cs typeface="Montserrat"/>
                <a:sym typeface="Montserrat"/>
              </a:rPr>
              <a:t>3. Integration (40%)</a:t>
            </a:r>
            <a:endParaRPr/>
          </a:p>
        </p:txBody>
      </p:sp>
      <p:sp>
        <p:nvSpPr>
          <p:cNvPr id="757" name="Google Shape;757;p57"/>
          <p:cNvSpPr txBox="1"/>
          <p:nvPr/>
        </p:nvSpPr>
        <p:spPr>
          <a:xfrm>
            <a:off x="6096000" y="4381500"/>
            <a:ext cx="2762250" cy="857250"/>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0F172A"/>
                </a:solidFill>
                <a:latin typeface="Inter"/>
                <a:ea typeface="Inter"/>
                <a:cs typeface="Inter"/>
                <a:sym typeface="Inter"/>
              </a:rPr>
              <a:t>Split payments upon successful deployment of application workflows (20%) and verified API bureau connectivity (20%).</a:t>
            </a:r>
            <a:endParaRPr/>
          </a:p>
        </p:txBody>
      </p:sp>
      <p:sp>
        <p:nvSpPr>
          <p:cNvPr id="758" name="Google Shape;758;p57"/>
          <p:cNvSpPr txBox="1"/>
          <p:nvPr/>
        </p:nvSpPr>
        <p:spPr>
          <a:xfrm>
            <a:off x="8789193" y="2281237"/>
            <a:ext cx="2900362"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2C59"/>
                </a:solidFill>
                <a:latin typeface="Montserrat"/>
                <a:ea typeface="Montserrat"/>
                <a:cs typeface="Montserrat"/>
                <a:sym typeface="Montserrat"/>
              </a:rPr>
              <a:t>4. Go-Live &amp; Ops (20%)</a:t>
            </a:r>
            <a:endParaRPr/>
          </a:p>
        </p:txBody>
      </p:sp>
      <p:sp>
        <p:nvSpPr>
          <p:cNvPr id="759" name="Google Shape;759;p57"/>
          <p:cNvSpPr txBox="1"/>
          <p:nvPr/>
        </p:nvSpPr>
        <p:spPr>
          <a:xfrm>
            <a:off x="8858250" y="2605087"/>
            <a:ext cx="2762250" cy="642937"/>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0F172A"/>
                </a:solidFill>
                <a:latin typeface="Inter"/>
                <a:ea typeface="Inter"/>
                <a:cs typeface="Inter"/>
                <a:sym typeface="Inter"/>
              </a:rPr>
              <a:t>Final acceptance testing payment (15%), followed by final holdback release (10%) after 90 days of stable SLA operation.</a:t>
            </a:r>
            <a:endParaRPr/>
          </a:p>
        </p:txBody>
      </p:sp>
      <p:sp>
        <p:nvSpPr>
          <p:cNvPr id="760" name="Google Shape;760;p57"/>
          <p:cNvSpPr/>
          <p:nvPr/>
        </p:nvSpPr>
        <p:spPr>
          <a:xfrm>
            <a:off x="1838325" y="3609975"/>
            <a:ext cx="228600" cy="228600"/>
          </a:xfrm>
          <a:prstGeom prst="roundRect">
            <a:avLst>
              <a:gd fmla="val 50000" name="adj"/>
            </a:avLst>
          </a:prstGeom>
          <a:noFill/>
          <a:ln cap="flat" cmpd="sng" w="47625">
            <a:solidFill>
              <a:srgbClr val="0EA5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1" name="Google Shape;761;p57"/>
          <p:cNvSpPr/>
          <p:nvPr/>
        </p:nvSpPr>
        <p:spPr>
          <a:xfrm>
            <a:off x="4600575" y="3609975"/>
            <a:ext cx="228600" cy="228600"/>
          </a:xfrm>
          <a:prstGeom prst="roundRect">
            <a:avLst>
              <a:gd fmla="val 50000" name="adj"/>
            </a:avLst>
          </a:prstGeom>
          <a:noFill/>
          <a:ln cap="flat" cmpd="sng" w="47625">
            <a:solidFill>
              <a:srgbClr val="0EA5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2" name="Google Shape;762;p57"/>
          <p:cNvSpPr/>
          <p:nvPr/>
        </p:nvSpPr>
        <p:spPr>
          <a:xfrm>
            <a:off x="7362825" y="3609975"/>
            <a:ext cx="228600" cy="228600"/>
          </a:xfrm>
          <a:prstGeom prst="roundRect">
            <a:avLst>
              <a:gd fmla="val 50000" name="adj"/>
            </a:avLst>
          </a:prstGeom>
          <a:noFill/>
          <a:ln cap="flat" cmpd="sng" w="47625">
            <a:solidFill>
              <a:srgbClr val="0EA5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3" name="Google Shape;763;p57"/>
          <p:cNvSpPr/>
          <p:nvPr/>
        </p:nvSpPr>
        <p:spPr>
          <a:xfrm>
            <a:off x="10125075" y="3609975"/>
            <a:ext cx="228600" cy="228600"/>
          </a:xfrm>
          <a:prstGeom prst="roundRect">
            <a:avLst>
              <a:gd fmla="val 50000" name="adj"/>
            </a:avLst>
          </a:prstGeom>
          <a:noFill/>
          <a:ln cap="flat" cmpd="sng" w="47625">
            <a:solidFill>
              <a:srgbClr val="0EA5E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pic>
        <p:nvPicPr>
          <p:cNvPr descr="image.png" id="768" name="Google Shape;768;p5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69" name="Google Shape;769;p58"/>
          <p:cNvSpPr/>
          <p:nvPr/>
        </p:nvSpPr>
        <p:spPr>
          <a:xfrm>
            <a:off x="5715000" y="2886075"/>
            <a:ext cx="762000" cy="3810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0" name="Google Shape;770;p58"/>
          <p:cNvSpPr txBox="1"/>
          <p:nvPr/>
        </p:nvSpPr>
        <p:spPr>
          <a:xfrm>
            <a:off x="2260520" y="3209925"/>
            <a:ext cx="7670958" cy="647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8FAFC"/>
                </a:solidFill>
                <a:latin typeface="Montserrat"/>
                <a:ea typeface="Montserrat"/>
                <a:cs typeface="Montserrat"/>
                <a:sym typeface="Montserrat"/>
              </a:rPr>
              <a:t>Phase VII: Vendor Strategy</a:t>
            </a:r>
            <a:endParaRPr/>
          </a:p>
        </p:txBody>
      </p:sp>
      <p:sp>
        <p:nvSpPr>
          <p:cNvPr id="771" name="Google Shape;771;p58"/>
          <p:cNvSpPr txBox="1"/>
          <p:nvPr/>
        </p:nvSpPr>
        <p:spPr>
          <a:xfrm>
            <a:off x="3548062" y="3857625"/>
            <a:ext cx="5095875" cy="2571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F8FAFC"/>
                </a:solidFill>
                <a:latin typeface="Inter"/>
                <a:ea typeface="Inter"/>
                <a:cs typeface="Inter"/>
                <a:sym typeface="Inter"/>
              </a:rPr>
              <a:t>Engagement Framework, Lock-In Prevention &amp; Final Decisions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75" name="Shape 775"/>
        <p:cNvGrpSpPr/>
        <p:nvPr/>
      </p:nvGrpSpPr>
      <p:grpSpPr>
        <a:xfrm>
          <a:off x="0" y="0"/>
          <a:ext cx="0" cy="0"/>
          <a:chOff x="0" y="0"/>
          <a:chExt cx="0" cy="0"/>
        </a:xfrm>
      </p:grpSpPr>
      <p:pic>
        <p:nvPicPr>
          <p:cNvPr descr="image.png" id="776" name="Google Shape;776;p59"/>
          <p:cNvPicPr preferRelativeResize="0"/>
          <p:nvPr/>
        </p:nvPicPr>
        <p:blipFill rotWithShape="1">
          <a:blip r:embed="rId3">
            <a:alphaModFix/>
          </a:blip>
          <a:srcRect b="0" l="0" r="0" t="0"/>
          <a:stretch/>
        </p:blipFill>
        <p:spPr>
          <a:xfrm>
            <a:off x="571500" y="2395537"/>
            <a:ext cx="5286375" cy="2657475"/>
          </a:xfrm>
          <a:prstGeom prst="rect">
            <a:avLst/>
          </a:prstGeom>
          <a:noFill/>
          <a:ln>
            <a:noFill/>
          </a:ln>
        </p:spPr>
      </p:pic>
      <p:pic>
        <p:nvPicPr>
          <p:cNvPr descr="image.png" id="777" name="Google Shape;777;p59"/>
          <p:cNvPicPr preferRelativeResize="0"/>
          <p:nvPr/>
        </p:nvPicPr>
        <p:blipFill rotWithShape="1">
          <a:blip r:embed="rId4">
            <a:alphaModFix/>
          </a:blip>
          <a:srcRect b="0" l="0" r="0" t="0"/>
          <a:stretch/>
        </p:blipFill>
        <p:spPr>
          <a:xfrm>
            <a:off x="6334125" y="2395537"/>
            <a:ext cx="5286375" cy="2657475"/>
          </a:xfrm>
          <a:prstGeom prst="rect">
            <a:avLst/>
          </a:prstGeom>
          <a:noFill/>
          <a:ln>
            <a:noFill/>
          </a:ln>
        </p:spPr>
      </p:pic>
      <p:sp>
        <p:nvSpPr>
          <p:cNvPr id="778" name="Google Shape;778;p59"/>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Expected Role Boundaries: Ethio Telecom</a:t>
            </a:r>
            <a:endParaRPr/>
          </a:p>
        </p:txBody>
      </p:sp>
      <p:sp>
        <p:nvSpPr>
          <p:cNvPr id="779" name="Google Shape;779;p59"/>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0" name="Google Shape;780;p59"/>
          <p:cNvSpPr txBox="1"/>
          <p:nvPr/>
        </p:nvSpPr>
        <p:spPr>
          <a:xfrm>
            <a:off x="962025" y="2914650"/>
            <a:ext cx="4730591"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Domain A: Infrastructure</a:t>
            </a:r>
            <a:endParaRPr/>
          </a:p>
        </p:txBody>
      </p:sp>
      <p:sp>
        <p:nvSpPr>
          <p:cNvPr id="781" name="Google Shape;781;p59"/>
          <p:cNvSpPr txBox="1"/>
          <p:nvPr/>
        </p:nvSpPr>
        <p:spPr>
          <a:xfrm>
            <a:off x="962025" y="3362325"/>
            <a:ext cx="4505325"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172A"/>
                </a:solidFill>
                <a:latin typeface="Inter"/>
                <a:ea typeface="Inter"/>
                <a:cs typeface="Inter"/>
                <a:sym typeface="Inter"/>
              </a:rPr>
              <a:t>Expected Core Scope:</a:t>
            </a:r>
            <a:r>
              <a:rPr b="0" i="0" lang="en-US" sz="1350" u="none" cap="none" strike="noStrike">
                <a:solidFill>
                  <a:srgbClr val="0F172A"/>
                </a:solidFill>
                <a:latin typeface="Inter"/>
                <a:ea typeface="Inter"/>
                <a:cs typeface="Inter"/>
                <a:sym typeface="Inter"/>
              </a:rPr>
              <a:t> Provision of high-speed fiber connectivity, managed cloud data hosting, server deployment, foundational network security, and queue management hardware/software.</a:t>
            </a:r>
            <a:endParaRPr/>
          </a:p>
        </p:txBody>
      </p:sp>
      <p:sp>
        <p:nvSpPr>
          <p:cNvPr id="782" name="Google Shape;782;p59"/>
          <p:cNvSpPr txBox="1"/>
          <p:nvPr/>
        </p:nvSpPr>
        <p:spPr>
          <a:xfrm>
            <a:off x="6724650" y="2786062"/>
            <a:ext cx="4730591"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Domain B &amp; C: Application &amp; APIs</a:t>
            </a:r>
            <a:endParaRPr/>
          </a:p>
        </p:txBody>
      </p:sp>
      <p:sp>
        <p:nvSpPr>
          <p:cNvPr id="783" name="Google Shape;783;p59"/>
          <p:cNvSpPr txBox="1"/>
          <p:nvPr/>
        </p:nvSpPr>
        <p:spPr>
          <a:xfrm>
            <a:off x="6724650" y="3233737"/>
            <a:ext cx="4505325"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172A"/>
                </a:solidFill>
                <a:latin typeface="Inter"/>
                <a:ea typeface="Inter"/>
                <a:cs typeface="Inter"/>
                <a:sym typeface="Inter"/>
              </a:rPr>
              <a:t>Critical Ambiguity:</a:t>
            </a:r>
            <a:r>
              <a:rPr b="0" i="0" lang="en-US" sz="1350" u="none" cap="none" strike="noStrike">
                <a:solidFill>
                  <a:srgbClr val="0F172A"/>
                </a:solidFill>
                <a:latin typeface="Inter"/>
                <a:ea typeface="Inter"/>
                <a:cs typeface="Inter"/>
                <a:sym typeface="Inter"/>
              </a:rPr>
              <a:t> Must clarify if the vendor is supplying the core workflow engine and API Gateway, AND whether they are contractually obligated to perform the heavy labor of coding individual bureau integrations.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87" name="Shape 787"/>
        <p:cNvGrpSpPr/>
        <p:nvPr/>
      </p:nvGrpSpPr>
      <p:grpSpPr>
        <a:xfrm>
          <a:off x="0" y="0"/>
          <a:ext cx="0" cy="0"/>
          <a:chOff x="0" y="0"/>
          <a:chExt cx="0" cy="0"/>
        </a:xfrm>
      </p:grpSpPr>
      <p:pic>
        <p:nvPicPr>
          <p:cNvPr descr="image.png" id="788" name="Google Shape;788;p60"/>
          <p:cNvPicPr preferRelativeResize="0"/>
          <p:nvPr/>
        </p:nvPicPr>
        <p:blipFill rotWithShape="1">
          <a:blip r:embed="rId3">
            <a:alphaModFix/>
          </a:blip>
          <a:srcRect b="0" l="0" r="0" t="0"/>
          <a:stretch/>
        </p:blipFill>
        <p:spPr>
          <a:xfrm>
            <a:off x="571500" y="2409825"/>
            <a:ext cx="11049000" cy="2628900"/>
          </a:xfrm>
          <a:prstGeom prst="rect">
            <a:avLst/>
          </a:prstGeom>
          <a:noFill/>
          <a:ln>
            <a:noFill/>
          </a:ln>
        </p:spPr>
      </p:pic>
      <p:sp>
        <p:nvSpPr>
          <p:cNvPr id="789" name="Google Shape;789;p60"/>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Vendor Package Clarification Matrix</a:t>
            </a:r>
            <a:endParaRPr/>
          </a:p>
        </p:txBody>
      </p:sp>
      <p:sp>
        <p:nvSpPr>
          <p:cNvPr id="790" name="Google Shape;790;p60"/>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791" name="Google Shape;791;p60"/>
          <p:cNvGraphicFramePr/>
          <p:nvPr/>
        </p:nvGraphicFramePr>
        <p:xfrm>
          <a:off x="581025" y="2419350"/>
          <a:ext cx="3000000" cy="3000000"/>
        </p:xfrm>
        <a:graphic>
          <a:graphicData uri="http://schemas.openxmlformats.org/drawingml/2006/table">
            <a:tbl>
              <a:tblPr bandRow="1" firstRow="1">
                <a:noFill/>
                <a:tableStyleId>{5AC119ED-5815-4C41-8F13-C28447212DCB}</a:tableStyleId>
              </a:tblPr>
              <a:tblGrid>
                <a:gridCol w="1721050"/>
                <a:gridCol w="4300250"/>
                <a:gridCol w="5008650"/>
              </a:tblGrid>
              <a:tr h="652450">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Package 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Typical Inclusions (Needs Verification)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Hawassa Alignment Risk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r>
              <a:tr h="6524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Basic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Connectivity, simple ticketing queue.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Inadequate. Fails to digitize workflows or unify revenue.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524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Standard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Basic workflow, partial hosting, standard templates.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May lack necessary custom API gateway integration tools.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652475">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Platinum (Target)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Full SLA cloud hosting, API integration layer, Analytics.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High cost. Must demand line-item transparency before approval.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792" name="Google Shape;792;p60"/>
          <p:cNvSpPr/>
          <p:nvPr/>
        </p:nvSpPr>
        <p:spPr>
          <a:xfrm>
            <a:off x="581025" y="2909887"/>
            <a:ext cx="172104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3" name="Google Shape;793;p60"/>
          <p:cNvSpPr/>
          <p:nvPr/>
        </p:nvSpPr>
        <p:spPr>
          <a:xfrm>
            <a:off x="2302073" y="2909887"/>
            <a:ext cx="430023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4" name="Google Shape;794;p60"/>
          <p:cNvSpPr/>
          <p:nvPr/>
        </p:nvSpPr>
        <p:spPr>
          <a:xfrm>
            <a:off x="6602313" y="2909887"/>
            <a:ext cx="500866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5" name="Google Shape;795;p60"/>
          <p:cNvSpPr/>
          <p:nvPr/>
        </p:nvSpPr>
        <p:spPr>
          <a:xfrm>
            <a:off x="581025" y="3443287"/>
            <a:ext cx="172104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6" name="Google Shape;796;p60"/>
          <p:cNvSpPr/>
          <p:nvPr/>
        </p:nvSpPr>
        <p:spPr>
          <a:xfrm>
            <a:off x="2302073" y="3443287"/>
            <a:ext cx="430023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7" name="Google Shape;797;p60"/>
          <p:cNvSpPr/>
          <p:nvPr/>
        </p:nvSpPr>
        <p:spPr>
          <a:xfrm>
            <a:off x="6602313" y="3443287"/>
            <a:ext cx="500866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8" name="Google Shape;798;p60"/>
          <p:cNvSpPr/>
          <p:nvPr/>
        </p:nvSpPr>
        <p:spPr>
          <a:xfrm>
            <a:off x="581025" y="4233862"/>
            <a:ext cx="172104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9" name="Google Shape;799;p60"/>
          <p:cNvSpPr/>
          <p:nvPr/>
        </p:nvSpPr>
        <p:spPr>
          <a:xfrm>
            <a:off x="2302073" y="4233862"/>
            <a:ext cx="430023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0" name="Google Shape;800;p60"/>
          <p:cNvSpPr/>
          <p:nvPr/>
        </p:nvSpPr>
        <p:spPr>
          <a:xfrm>
            <a:off x="6602313" y="4233862"/>
            <a:ext cx="500866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04" name="Shape 804"/>
        <p:cNvGrpSpPr/>
        <p:nvPr/>
      </p:nvGrpSpPr>
      <p:grpSpPr>
        <a:xfrm>
          <a:off x="0" y="0"/>
          <a:ext cx="0" cy="0"/>
          <a:chOff x="0" y="0"/>
          <a:chExt cx="0" cy="0"/>
        </a:xfrm>
      </p:grpSpPr>
      <p:pic>
        <p:nvPicPr>
          <p:cNvPr descr="image.png" id="805" name="Google Shape;805;p61"/>
          <p:cNvPicPr preferRelativeResize="0"/>
          <p:nvPr/>
        </p:nvPicPr>
        <p:blipFill rotWithShape="1">
          <a:blip r:embed="rId3">
            <a:alphaModFix/>
          </a:blip>
          <a:srcRect b="0" l="0" r="0" t="0"/>
          <a:stretch/>
        </p:blipFill>
        <p:spPr>
          <a:xfrm>
            <a:off x="571500" y="1933575"/>
            <a:ext cx="3492549" cy="3581400"/>
          </a:xfrm>
          <a:prstGeom prst="rect">
            <a:avLst/>
          </a:prstGeom>
          <a:noFill/>
          <a:ln>
            <a:noFill/>
          </a:ln>
        </p:spPr>
      </p:pic>
      <p:pic>
        <p:nvPicPr>
          <p:cNvPr descr="image.png" id="806" name="Google Shape;806;p61"/>
          <p:cNvPicPr preferRelativeResize="0"/>
          <p:nvPr/>
        </p:nvPicPr>
        <p:blipFill rotWithShape="1">
          <a:blip r:embed="rId4">
            <a:alphaModFix/>
          </a:blip>
          <a:srcRect b="0" l="0" r="0" t="0"/>
          <a:stretch/>
        </p:blipFill>
        <p:spPr>
          <a:xfrm>
            <a:off x="4349799" y="1933575"/>
            <a:ext cx="3492549" cy="3581400"/>
          </a:xfrm>
          <a:prstGeom prst="rect">
            <a:avLst/>
          </a:prstGeom>
          <a:noFill/>
          <a:ln>
            <a:noFill/>
          </a:ln>
        </p:spPr>
      </p:pic>
      <p:pic>
        <p:nvPicPr>
          <p:cNvPr descr="image.png" id="807" name="Google Shape;807;p61"/>
          <p:cNvPicPr preferRelativeResize="0"/>
          <p:nvPr/>
        </p:nvPicPr>
        <p:blipFill rotWithShape="1">
          <a:blip r:embed="rId5">
            <a:alphaModFix/>
          </a:blip>
          <a:srcRect b="0" l="0" r="0" t="0"/>
          <a:stretch/>
        </p:blipFill>
        <p:spPr>
          <a:xfrm>
            <a:off x="8128099" y="1933575"/>
            <a:ext cx="3492549" cy="3581400"/>
          </a:xfrm>
          <a:prstGeom prst="rect">
            <a:avLst/>
          </a:prstGeom>
          <a:noFill/>
          <a:ln>
            <a:noFill/>
          </a:ln>
        </p:spPr>
      </p:pic>
      <p:sp>
        <p:nvSpPr>
          <p:cNvPr id="808" name="Google Shape;808;p61"/>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Service Level Agreement (SLA) Architecture</a:t>
            </a:r>
            <a:endParaRPr/>
          </a:p>
        </p:txBody>
      </p:sp>
      <p:sp>
        <p:nvSpPr>
          <p:cNvPr id="809" name="Google Shape;809;p61"/>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810" name="Google Shape;810;p61"/>
          <p:cNvPicPr preferRelativeResize="0"/>
          <p:nvPr/>
        </p:nvPicPr>
        <p:blipFill rotWithShape="1">
          <a:blip r:embed="rId6">
            <a:alphaModFix/>
          </a:blip>
          <a:srcRect b="0" l="0" r="0" t="0"/>
          <a:stretch/>
        </p:blipFill>
        <p:spPr>
          <a:xfrm>
            <a:off x="866775" y="2228850"/>
            <a:ext cx="666750" cy="666750"/>
          </a:xfrm>
          <a:prstGeom prst="rect">
            <a:avLst/>
          </a:prstGeom>
          <a:noFill/>
          <a:ln>
            <a:noFill/>
          </a:ln>
        </p:spPr>
      </p:pic>
      <p:sp>
        <p:nvSpPr>
          <p:cNvPr id="811" name="Google Shape;811;p61"/>
          <p:cNvSpPr txBox="1"/>
          <p:nvPr/>
        </p:nvSpPr>
        <p:spPr>
          <a:xfrm>
            <a:off x="866775" y="3086100"/>
            <a:ext cx="248031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Infrastructure SLA</a:t>
            </a:r>
            <a:endParaRPr/>
          </a:p>
        </p:txBody>
      </p:sp>
      <p:sp>
        <p:nvSpPr>
          <p:cNvPr id="812" name="Google Shape;812;p61"/>
          <p:cNvSpPr txBox="1"/>
          <p:nvPr/>
        </p:nvSpPr>
        <p:spPr>
          <a:xfrm>
            <a:off x="866775" y="3533775"/>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Demand a contractual uptime guarantee of minimum 99.5%. Includes defined financial penalties for downtime extending beyond acceptable threshold maximums.</a:t>
            </a:r>
            <a:endParaRPr/>
          </a:p>
        </p:txBody>
      </p:sp>
      <p:pic>
        <p:nvPicPr>
          <p:cNvPr descr="image.png" id="813" name="Google Shape;813;p61"/>
          <p:cNvPicPr preferRelativeResize="0"/>
          <p:nvPr/>
        </p:nvPicPr>
        <p:blipFill rotWithShape="1">
          <a:blip r:embed="rId7">
            <a:alphaModFix/>
          </a:blip>
          <a:srcRect b="0" l="0" r="0" t="0"/>
          <a:stretch/>
        </p:blipFill>
        <p:spPr>
          <a:xfrm>
            <a:off x="4645074" y="2228850"/>
            <a:ext cx="666750" cy="666750"/>
          </a:xfrm>
          <a:prstGeom prst="rect">
            <a:avLst/>
          </a:prstGeom>
          <a:noFill/>
          <a:ln>
            <a:noFill/>
          </a:ln>
        </p:spPr>
      </p:pic>
      <p:sp>
        <p:nvSpPr>
          <p:cNvPr id="814" name="Google Shape;814;p61"/>
          <p:cNvSpPr txBox="1"/>
          <p:nvPr/>
        </p:nvSpPr>
        <p:spPr>
          <a:xfrm>
            <a:off x="4645074" y="3086100"/>
            <a:ext cx="2170271"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Application SLA</a:t>
            </a:r>
            <a:endParaRPr/>
          </a:p>
        </p:txBody>
      </p:sp>
      <p:sp>
        <p:nvSpPr>
          <p:cNvPr id="815" name="Google Shape;815;p61"/>
          <p:cNvSpPr txBox="1"/>
          <p:nvPr/>
        </p:nvSpPr>
        <p:spPr>
          <a:xfrm>
            <a:off x="4645074" y="3533775"/>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Mandates maximum transaction processing latencies, API response timing, and defines strict bug resolution and critical patch deployment windows.</a:t>
            </a:r>
            <a:endParaRPr/>
          </a:p>
        </p:txBody>
      </p:sp>
      <p:pic>
        <p:nvPicPr>
          <p:cNvPr descr="image.png" id="816" name="Google Shape;816;p61"/>
          <p:cNvPicPr preferRelativeResize="0"/>
          <p:nvPr/>
        </p:nvPicPr>
        <p:blipFill rotWithShape="1">
          <a:blip r:embed="rId8">
            <a:alphaModFix/>
          </a:blip>
          <a:srcRect b="0" l="0" r="0" t="0"/>
          <a:stretch/>
        </p:blipFill>
        <p:spPr>
          <a:xfrm>
            <a:off x="8423374" y="2228850"/>
            <a:ext cx="666750" cy="666750"/>
          </a:xfrm>
          <a:prstGeom prst="rect">
            <a:avLst/>
          </a:prstGeom>
          <a:noFill/>
          <a:ln>
            <a:noFill/>
          </a:ln>
        </p:spPr>
      </p:pic>
      <p:sp>
        <p:nvSpPr>
          <p:cNvPr id="817" name="Google Shape;817;p61"/>
          <p:cNvSpPr txBox="1"/>
          <p:nvPr/>
        </p:nvSpPr>
        <p:spPr>
          <a:xfrm>
            <a:off x="8423374" y="3086100"/>
            <a:ext cx="1700212"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Support SLA</a:t>
            </a:r>
            <a:endParaRPr/>
          </a:p>
        </p:txBody>
      </p:sp>
      <p:sp>
        <p:nvSpPr>
          <p:cNvPr id="818" name="Google Shape;818;p61"/>
          <p:cNvSpPr txBox="1"/>
          <p:nvPr/>
        </p:nvSpPr>
        <p:spPr>
          <a:xfrm>
            <a:off x="8423374" y="3533775"/>
            <a:ext cx="2901999" cy="1543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Defines 24/7 technical support response times, establishes a dedicated vendor account manager, and outlines an executive escalation path for severe incidents.</a:t>
            </a:r>
            <a:endParaRPr/>
          </a:p>
        </p:txBody>
      </p:sp>
      <p:pic>
        <p:nvPicPr>
          <p:cNvPr descr="image.png" id="819" name="Google Shape;819;p61"/>
          <p:cNvPicPr preferRelativeResize="0"/>
          <p:nvPr/>
        </p:nvPicPr>
        <p:blipFill rotWithShape="1">
          <a:blip r:embed="rId9">
            <a:alphaModFix/>
          </a:blip>
          <a:srcRect b="0" l="0" r="0" t="0"/>
          <a:stretch/>
        </p:blipFill>
        <p:spPr>
          <a:xfrm>
            <a:off x="1028700" y="2390775"/>
            <a:ext cx="342900" cy="342900"/>
          </a:xfrm>
          <a:prstGeom prst="rect">
            <a:avLst/>
          </a:prstGeom>
          <a:noFill/>
          <a:ln>
            <a:noFill/>
          </a:ln>
        </p:spPr>
      </p:pic>
      <p:pic>
        <p:nvPicPr>
          <p:cNvPr descr="image.png" id="820" name="Google Shape;820;p61"/>
          <p:cNvPicPr preferRelativeResize="0"/>
          <p:nvPr/>
        </p:nvPicPr>
        <p:blipFill rotWithShape="1">
          <a:blip r:embed="rId10">
            <a:alphaModFix/>
          </a:blip>
          <a:srcRect b="0" l="0" r="0" t="0"/>
          <a:stretch/>
        </p:blipFill>
        <p:spPr>
          <a:xfrm>
            <a:off x="4764137" y="2390775"/>
            <a:ext cx="428625" cy="342900"/>
          </a:xfrm>
          <a:prstGeom prst="rect">
            <a:avLst/>
          </a:prstGeom>
          <a:noFill/>
          <a:ln>
            <a:noFill/>
          </a:ln>
        </p:spPr>
      </p:pic>
      <p:pic>
        <p:nvPicPr>
          <p:cNvPr descr="image.png" id="821" name="Google Shape;821;p61"/>
          <p:cNvPicPr preferRelativeResize="0"/>
          <p:nvPr/>
        </p:nvPicPr>
        <p:blipFill rotWithShape="1">
          <a:blip r:embed="rId11">
            <a:alphaModFix/>
          </a:blip>
          <a:srcRect b="0" l="0" r="0" t="0"/>
          <a:stretch/>
        </p:blipFill>
        <p:spPr>
          <a:xfrm>
            <a:off x="8585299" y="2390775"/>
            <a:ext cx="342900" cy="3429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25" name="Shape 825"/>
        <p:cNvGrpSpPr/>
        <p:nvPr/>
      </p:nvGrpSpPr>
      <p:grpSpPr>
        <a:xfrm>
          <a:off x="0" y="0"/>
          <a:ext cx="0" cy="0"/>
          <a:chOff x="0" y="0"/>
          <a:chExt cx="0" cy="0"/>
        </a:xfrm>
      </p:grpSpPr>
      <p:sp>
        <p:nvSpPr>
          <p:cNvPr id="826" name="Google Shape;826;p62"/>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Vendor Lock-In Prevention Strategy</a:t>
            </a:r>
            <a:endParaRPr/>
          </a:p>
        </p:txBody>
      </p:sp>
      <p:sp>
        <p:nvSpPr>
          <p:cNvPr id="827" name="Google Shape;827;p62"/>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28" name="Google Shape;828;p62"/>
          <p:cNvSpPr txBox="1"/>
          <p:nvPr/>
        </p:nvSpPr>
        <p:spPr>
          <a:xfrm>
            <a:off x="1000125" y="2000250"/>
            <a:ext cx="10620375" cy="5905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Absolute Data Sovereignty:</a:t>
            </a:r>
            <a:r>
              <a:rPr b="0" i="0" lang="en-US" sz="1350" u="none" cap="none" strike="noStrike">
                <a:solidFill>
                  <a:srgbClr val="0F172A"/>
                </a:solidFill>
                <a:latin typeface="Inter"/>
                <a:ea typeface="Inter"/>
                <a:cs typeface="Inter"/>
                <a:sym typeface="Inter"/>
              </a:rPr>
              <a:t> Ensure the contract legally states that all data generated remains the exclusive property of the Hawassa City Administration.</a:t>
            </a:r>
            <a:endParaRPr/>
          </a:p>
        </p:txBody>
      </p:sp>
      <p:sp>
        <p:nvSpPr>
          <p:cNvPr id="829" name="Google Shape;829;p62"/>
          <p:cNvSpPr txBox="1"/>
          <p:nvPr/>
        </p:nvSpPr>
        <p:spPr>
          <a:xfrm>
            <a:off x="1000125" y="2781300"/>
            <a:ext cx="10620375" cy="8477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Guaranteed Export Rights:</a:t>
            </a:r>
            <a:r>
              <a:rPr b="0" i="0" lang="en-US" sz="1350" u="none" cap="none" strike="noStrike">
                <a:solidFill>
                  <a:srgbClr val="0F172A"/>
                </a:solidFill>
                <a:latin typeface="Inter"/>
                <a:ea typeface="Inter"/>
                <a:cs typeface="Inter"/>
                <a:sym typeface="Inter"/>
              </a:rPr>
              <a:t> Mandate scheduled capability to export databases in standard, unencrypted formats (e.g., CSV, SQL dump) without incurring prohibitive "extraction fees".</a:t>
            </a:r>
            <a:endParaRPr/>
          </a:p>
        </p:txBody>
      </p:sp>
      <p:sp>
        <p:nvSpPr>
          <p:cNvPr id="830" name="Google Shape;830;p62"/>
          <p:cNvSpPr txBox="1"/>
          <p:nvPr/>
        </p:nvSpPr>
        <p:spPr>
          <a:xfrm>
            <a:off x="1000125" y="3819525"/>
            <a:ext cx="10620375" cy="8477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Open API Standards:</a:t>
            </a:r>
            <a:r>
              <a:rPr b="0" i="0" lang="en-US" sz="1350" u="none" cap="none" strike="noStrike">
                <a:solidFill>
                  <a:srgbClr val="0F172A"/>
                </a:solidFill>
                <a:latin typeface="Inter"/>
                <a:ea typeface="Inter"/>
                <a:cs typeface="Inter"/>
                <a:sym typeface="Inter"/>
              </a:rPr>
              <a:t> Prevent proprietary lock-in by enforcing the use of standard RESTful APIs, allowing future third-party developers to connect easily.</a:t>
            </a:r>
            <a:endParaRPr/>
          </a:p>
        </p:txBody>
      </p:sp>
      <p:sp>
        <p:nvSpPr>
          <p:cNvPr id="831" name="Google Shape;831;p62"/>
          <p:cNvSpPr txBox="1"/>
          <p:nvPr/>
        </p:nvSpPr>
        <p:spPr>
          <a:xfrm>
            <a:off x="1000125" y="4857750"/>
            <a:ext cx="10620375" cy="5905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F2C59"/>
                </a:solidFill>
                <a:latin typeface="Inter"/>
                <a:ea typeface="Inter"/>
                <a:cs typeface="Inter"/>
                <a:sym typeface="Inter"/>
              </a:rPr>
              <a:t>Exit Transition Support:</a:t>
            </a:r>
            <a:r>
              <a:rPr b="0" i="0" lang="en-US" sz="1350" u="none" cap="none" strike="noStrike">
                <a:solidFill>
                  <a:srgbClr val="0F172A"/>
                </a:solidFill>
                <a:latin typeface="Inter"/>
                <a:ea typeface="Inter"/>
                <a:cs typeface="Inter"/>
                <a:sym typeface="Inter"/>
              </a:rPr>
              <a:t> Contract must include a mandatory 90-day technical transition support clause to safely migrate systems upon contract expiration.</a:t>
            </a:r>
            <a:endParaRPr/>
          </a:p>
        </p:txBody>
      </p:sp>
      <p:pic>
        <p:nvPicPr>
          <p:cNvPr descr="image.png" id="832" name="Google Shape;832;p62"/>
          <p:cNvPicPr preferRelativeResize="0"/>
          <p:nvPr/>
        </p:nvPicPr>
        <p:blipFill rotWithShape="1">
          <a:blip r:embed="rId3">
            <a:alphaModFix/>
          </a:blip>
          <a:srcRect b="0" l="0" r="0" t="0"/>
          <a:stretch/>
        </p:blipFill>
        <p:spPr>
          <a:xfrm>
            <a:off x="571500" y="2009775"/>
            <a:ext cx="200025" cy="247650"/>
          </a:xfrm>
          <a:prstGeom prst="rect">
            <a:avLst/>
          </a:prstGeom>
          <a:noFill/>
          <a:ln>
            <a:noFill/>
          </a:ln>
        </p:spPr>
      </p:pic>
      <p:pic>
        <p:nvPicPr>
          <p:cNvPr descr="image.png" id="833" name="Google Shape;833;p62"/>
          <p:cNvPicPr preferRelativeResize="0"/>
          <p:nvPr/>
        </p:nvPicPr>
        <p:blipFill rotWithShape="1">
          <a:blip r:embed="rId4">
            <a:alphaModFix/>
          </a:blip>
          <a:srcRect b="0" l="0" r="0" t="0"/>
          <a:stretch/>
        </p:blipFill>
        <p:spPr>
          <a:xfrm>
            <a:off x="571500" y="2790825"/>
            <a:ext cx="257175" cy="247650"/>
          </a:xfrm>
          <a:prstGeom prst="rect">
            <a:avLst/>
          </a:prstGeom>
          <a:noFill/>
          <a:ln>
            <a:noFill/>
          </a:ln>
        </p:spPr>
      </p:pic>
      <p:pic>
        <p:nvPicPr>
          <p:cNvPr descr="image.png" id="834" name="Google Shape;834;p62"/>
          <p:cNvPicPr preferRelativeResize="0"/>
          <p:nvPr/>
        </p:nvPicPr>
        <p:blipFill rotWithShape="1">
          <a:blip r:embed="rId5">
            <a:alphaModFix/>
          </a:blip>
          <a:srcRect b="0" l="0" r="0" t="0"/>
          <a:stretch/>
        </p:blipFill>
        <p:spPr>
          <a:xfrm>
            <a:off x="571500" y="3829050"/>
            <a:ext cx="200025" cy="247650"/>
          </a:xfrm>
          <a:prstGeom prst="rect">
            <a:avLst/>
          </a:prstGeom>
          <a:noFill/>
          <a:ln>
            <a:noFill/>
          </a:ln>
        </p:spPr>
      </p:pic>
      <p:pic>
        <p:nvPicPr>
          <p:cNvPr descr="image.png" id="835" name="Google Shape;835;p62"/>
          <p:cNvPicPr preferRelativeResize="0"/>
          <p:nvPr/>
        </p:nvPicPr>
        <p:blipFill rotWithShape="1">
          <a:blip r:embed="rId6">
            <a:alphaModFix/>
          </a:blip>
          <a:srcRect b="0" l="0" r="0" t="0"/>
          <a:stretch/>
        </p:blipFill>
        <p:spPr>
          <a:xfrm>
            <a:off x="571500" y="4867275"/>
            <a:ext cx="285750" cy="2476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39" name="Shape 839"/>
        <p:cNvGrpSpPr/>
        <p:nvPr/>
      </p:nvGrpSpPr>
      <p:grpSpPr>
        <a:xfrm>
          <a:off x="0" y="0"/>
          <a:ext cx="0" cy="0"/>
          <a:chOff x="0" y="0"/>
          <a:chExt cx="0" cy="0"/>
        </a:xfrm>
      </p:grpSpPr>
      <p:pic>
        <p:nvPicPr>
          <p:cNvPr descr="image.png" id="840" name="Google Shape;840;p63"/>
          <p:cNvPicPr preferRelativeResize="0"/>
          <p:nvPr/>
        </p:nvPicPr>
        <p:blipFill rotWithShape="1">
          <a:blip r:embed="rId3">
            <a:alphaModFix/>
          </a:blip>
          <a:srcRect b="0" l="0" r="0" t="0"/>
          <a:stretch/>
        </p:blipFill>
        <p:spPr>
          <a:xfrm>
            <a:off x="571500" y="2281237"/>
            <a:ext cx="11049000" cy="2886075"/>
          </a:xfrm>
          <a:prstGeom prst="rect">
            <a:avLst/>
          </a:prstGeom>
          <a:noFill/>
          <a:ln>
            <a:noFill/>
          </a:ln>
        </p:spPr>
      </p:pic>
      <p:sp>
        <p:nvSpPr>
          <p:cNvPr id="841" name="Google Shape;841;p63"/>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Implementation Governance Structure</a:t>
            </a:r>
            <a:endParaRPr/>
          </a:p>
        </p:txBody>
      </p:sp>
      <p:sp>
        <p:nvSpPr>
          <p:cNvPr id="842" name="Google Shape;842;p63"/>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843" name="Google Shape;843;p63"/>
          <p:cNvGraphicFramePr/>
          <p:nvPr/>
        </p:nvGraphicFramePr>
        <p:xfrm>
          <a:off x="581025" y="2290762"/>
          <a:ext cx="3000000" cy="3000000"/>
        </p:xfrm>
        <a:graphic>
          <a:graphicData uri="http://schemas.openxmlformats.org/drawingml/2006/table">
            <a:tbl>
              <a:tblPr bandRow="1" firstRow="1">
                <a:noFill/>
                <a:tableStyleId>{5AC119ED-5815-4C41-8F13-C28447212DCB}</a:tableStyleId>
              </a:tblPr>
              <a:tblGrid>
                <a:gridCol w="2679200"/>
                <a:gridCol w="3698975"/>
                <a:gridCol w="4651775"/>
              </a:tblGrid>
              <a:tr h="716750">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Governance Body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Composition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c>
                  <a:txBody>
                    <a:bodyPr/>
                    <a:lstStyle/>
                    <a:p>
                      <a:pPr indent="0" lvl="0" marL="0" marR="0" rtl="0" algn="l">
                        <a:spcBef>
                          <a:spcPts val="0"/>
                        </a:spcBef>
                        <a:spcAft>
                          <a:spcPts val="0"/>
                        </a:spcAft>
                        <a:buNone/>
                      </a:pPr>
                      <a:r>
                        <a:rPr b="0" i="0" lang="en-US" sz="1200" u="none" cap="none" strike="noStrike">
                          <a:solidFill>
                            <a:srgbClr val="000000"/>
                          </a:solidFill>
                          <a:latin typeface="Montserrat SemiBold"/>
                          <a:ea typeface="Montserrat SemiBold"/>
                          <a:cs typeface="Montserrat SemiBold"/>
                          <a:sym typeface="Montserrat SemiBold"/>
                        </a:rPr>
                        <a:t>Core Responsibility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2C59"/>
                    </a:solidFill>
                  </a:tcPr>
                </a:tc>
              </a:tr>
              <a:tr h="7167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Executive Steering Committee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Mayor (Chair), Bureau Heads, IT Dir.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Policy enforcement, budget approval, escalation resolution.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167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Technical Working Group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Enterprise Architect, Vendor Leads, Bureau 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Integration testing, API review, sprint tracking.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716750">
                <a:tc>
                  <a:txBody>
                    <a:bodyPr/>
                    <a:lstStyle/>
                    <a:p>
                      <a:pPr indent="0" lvl="0" marL="0" marR="0" rtl="0" algn="l">
                        <a:spcBef>
                          <a:spcPts val="0"/>
                        </a:spcBef>
                        <a:spcAft>
                          <a:spcPts val="0"/>
                        </a:spcAft>
                        <a:buNone/>
                      </a:pPr>
                      <a:r>
                        <a:rPr b="1" i="0" lang="en-US" sz="1350" u="none" cap="none" strike="noStrike">
                          <a:solidFill>
                            <a:srgbClr val="0F172A"/>
                          </a:solidFill>
                          <a:latin typeface="Inter"/>
                          <a:ea typeface="Inter"/>
                          <a:cs typeface="Inter"/>
                          <a:sym typeface="Inter"/>
                        </a:rPr>
                        <a:t>SLA Compliance Unit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Dedicated Performance Analysts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0F172A"/>
                          </a:solidFill>
                          <a:latin typeface="Inter"/>
                          <a:ea typeface="Inter"/>
                          <a:cs typeface="Inter"/>
                          <a:sym typeface="Inter"/>
                        </a:rPr>
                        <a:t>Monitor dashboard, report breaches directly to Mayor.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844" name="Google Shape;844;p63"/>
          <p:cNvSpPr/>
          <p:nvPr/>
        </p:nvSpPr>
        <p:spPr>
          <a:xfrm>
            <a:off x="581025" y="2781300"/>
            <a:ext cx="267920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5" name="Google Shape;845;p63"/>
          <p:cNvSpPr/>
          <p:nvPr/>
        </p:nvSpPr>
        <p:spPr>
          <a:xfrm>
            <a:off x="3260228" y="2781300"/>
            <a:ext cx="369897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6" name="Google Shape;846;p63"/>
          <p:cNvSpPr/>
          <p:nvPr/>
        </p:nvSpPr>
        <p:spPr>
          <a:xfrm>
            <a:off x="6959203" y="2781300"/>
            <a:ext cx="46517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7" name="Google Shape;847;p63"/>
          <p:cNvSpPr/>
          <p:nvPr/>
        </p:nvSpPr>
        <p:spPr>
          <a:xfrm>
            <a:off x="581025" y="3571875"/>
            <a:ext cx="267920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8" name="Google Shape;848;p63"/>
          <p:cNvSpPr/>
          <p:nvPr/>
        </p:nvSpPr>
        <p:spPr>
          <a:xfrm>
            <a:off x="3260228" y="3571875"/>
            <a:ext cx="369897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9" name="Google Shape;849;p63"/>
          <p:cNvSpPr/>
          <p:nvPr/>
        </p:nvSpPr>
        <p:spPr>
          <a:xfrm>
            <a:off x="6959203" y="3571875"/>
            <a:ext cx="46517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0" name="Google Shape;850;p63"/>
          <p:cNvSpPr/>
          <p:nvPr/>
        </p:nvSpPr>
        <p:spPr>
          <a:xfrm>
            <a:off x="581025" y="4362450"/>
            <a:ext cx="267920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1" name="Google Shape;851;p63"/>
          <p:cNvSpPr/>
          <p:nvPr/>
        </p:nvSpPr>
        <p:spPr>
          <a:xfrm>
            <a:off x="3260228" y="4362450"/>
            <a:ext cx="369897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2" name="Google Shape;852;p63"/>
          <p:cNvSpPr/>
          <p:nvPr/>
        </p:nvSpPr>
        <p:spPr>
          <a:xfrm>
            <a:off x="6959203" y="4362450"/>
            <a:ext cx="46517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56" name="Shape 856"/>
        <p:cNvGrpSpPr/>
        <p:nvPr/>
      </p:nvGrpSpPr>
      <p:grpSpPr>
        <a:xfrm>
          <a:off x="0" y="0"/>
          <a:ext cx="0" cy="0"/>
          <a:chOff x="0" y="0"/>
          <a:chExt cx="0" cy="0"/>
        </a:xfrm>
      </p:grpSpPr>
      <p:pic>
        <p:nvPicPr>
          <p:cNvPr descr="image.png" id="857" name="Google Shape;857;p64"/>
          <p:cNvPicPr preferRelativeResize="0"/>
          <p:nvPr/>
        </p:nvPicPr>
        <p:blipFill rotWithShape="1">
          <a:blip r:embed="rId3">
            <a:alphaModFix/>
          </a:blip>
          <a:srcRect b="0" l="0" r="0" t="0"/>
          <a:stretch/>
        </p:blipFill>
        <p:spPr>
          <a:xfrm>
            <a:off x="571500" y="1909762"/>
            <a:ext cx="3492549" cy="3629025"/>
          </a:xfrm>
          <a:prstGeom prst="rect">
            <a:avLst/>
          </a:prstGeom>
          <a:noFill/>
          <a:ln>
            <a:noFill/>
          </a:ln>
        </p:spPr>
      </p:pic>
      <p:pic>
        <p:nvPicPr>
          <p:cNvPr descr="image.png" id="858" name="Google Shape;858;p64"/>
          <p:cNvPicPr preferRelativeResize="0"/>
          <p:nvPr/>
        </p:nvPicPr>
        <p:blipFill rotWithShape="1">
          <a:blip r:embed="rId4">
            <a:alphaModFix/>
          </a:blip>
          <a:srcRect b="0" l="0" r="0" t="0"/>
          <a:stretch/>
        </p:blipFill>
        <p:spPr>
          <a:xfrm>
            <a:off x="4349799" y="1909762"/>
            <a:ext cx="3492549" cy="3629025"/>
          </a:xfrm>
          <a:prstGeom prst="rect">
            <a:avLst/>
          </a:prstGeom>
          <a:noFill/>
          <a:ln>
            <a:noFill/>
          </a:ln>
        </p:spPr>
      </p:pic>
      <p:pic>
        <p:nvPicPr>
          <p:cNvPr descr="image.png" id="859" name="Google Shape;859;p64"/>
          <p:cNvPicPr preferRelativeResize="0"/>
          <p:nvPr/>
        </p:nvPicPr>
        <p:blipFill rotWithShape="1">
          <a:blip r:embed="rId5">
            <a:alphaModFix/>
          </a:blip>
          <a:srcRect b="0" l="0" r="0" t="0"/>
          <a:stretch/>
        </p:blipFill>
        <p:spPr>
          <a:xfrm>
            <a:off x="8128099" y="1909762"/>
            <a:ext cx="3492549" cy="3629025"/>
          </a:xfrm>
          <a:prstGeom prst="rect">
            <a:avLst/>
          </a:prstGeom>
          <a:noFill/>
          <a:ln>
            <a:noFill/>
          </a:ln>
        </p:spPr>
      </p:pic>
      <p:sp>
        <p:nvSpPr>
          <p:cNvPr id="860" name="Google Shape;860;p64"/>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Final Executive Decision Framework</a:t>
            </a:r>
            <a:endParaRPr/>
          </a:p>
        </p:txBody>
      </p:sp>
      <p:sp>
        <p:nvSpPr>
          <p:cNvPr id="861" name="Google Shape;861;p64"/>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862" name="Google Shape;862;p64"/>
          <p:cNvPicPr preferRelativeResize="0"/>
          <p:nvPr/>
        </p:nvPicPr>
        <p:blipFill rotWithShape="1">
          <a:blip r:embed="rId6">
            <a:alphaModFix/>
          </a:blip>
          <a:srcRect b="0" l="0" r="0" t="0"/>
          <a:stretch/>
        </p:blipFill>
        <p:spPr>
          <a:xfrm>
            <a:off x="866775" y="2205037"/>
            <a:ext cx="666750" cy="666750"/>
          </a:xfrm>
          <a:prstGeom prst="rect">
            <a:avLst/>
          </a:prstGeom>
          <a:noFill/>
          <a:ln>
            <a:noFill/>
          </a:ln>
        </p:spPr>
      </p:pic>
      <p:sp>
        <p:nvSpPr>
          <p:cNvPr id="863" name="Google Shape;863;p64"/>
          <p:cNvSpPr txBox="1"/>
          <p:nvPr/>
        </p:nvSpPr>
        <p:spPr>
          <a:xfrm>
            <a:off x="866775" y="3062287"/>
            <a:ext cx="3030378"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1. Endorse Master Plan</a:t>
            </a:r>
            <a:endParaRPr/>
          </a:p>
        </p:txBody>
      </p:sp>
      <p:sp>
        <p:nvSpPr>
          <p:cNvPr id="864" name="Google Shape;864;p64"/>
          <p:cNvSpPr txBox="1"/>
          <p:nvPr/>
        </p:nvSpPr>
        <p:spPr>
          <a:xfrm>
            <a:off x="866775" y="3509962"/>
            <a:ext cx="2901999"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Approve this architectural and operational blueprint as the official guiding framework for the Hawassa MESOB deployment.</a:t>
            </a:r>
            <a:endParaRPr/>
          </a:p>
        </p:txBody>
      </p:sp>
      <p:pic>
        <p:nvPicPr>
          <p:cNvPr descr="image.png" id="865" name="Google Shape;865;p64"/>
          <p:cNvPicPr preferRelativeResize="0"/>
          <p:nvPr/>
        </p:nvPicPr>
        <p:blipFill rotWithShape="1">
          <a:blip r:embed="rId7">
            <a:alphaModFix/>
          </a:blip>
          <a:srcRect b="0" l="0" r="0" t="0"/>
          <a:stretch/>
        </p:blipFill>
        <p:spPr>
          <a:xfrm>
            <a:off x="4645074" y="2205037"/>
            <a:ext cx="666750" cy="666750"/>
          </a:xfrm>
          <a:prstGeom prst="rect">
            <a:avLst/>
          </a:prstGeom>
          <a:noFill/>
          <a:ln>
            <a:noFill/>
          </a:ln>
        </p:spPr>
      </p:pic>
      <p:sp>
        <p:nvSpPr>
          <p:cNvPr id="866" name="Google Shape;866;p64"/>
          <p:cNvSpPr txBox="1"/>
          <p:nvPr/>
        </p:nvSpPr>
        <p:spPr>
          <a:xfrm>
            <a:off x="4645074" y="3062287"/>
            <a:ext cx="3047099"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2. Request Vendor Clarity</a:t>
            </a:r>
            <a:endParaRPr/>
          </a:p>
        </p:txBody>
      </p:sp>
      <p:sp>
        <p:nvSpPr>
          <p:cNvPr id="867" name="Google Shape;867;p64"/>
          <p:cNvSpPr txBox="1"/>
          <p:nvPr/>
        </p:nvSpPr>
        <p:spPr>
          <a:xfrm>
            <a:off x="4645074" y="3814762"/>
            <a:ext cx="2901999"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Formally request Ethio Telecom to present an itemized BoQ and API responsibility matrix aligned directly with this blueprint.</a:t>
            </a:r>
            <a:endParaRPr/>
          </a:p>
        </p:txBody>
      </p:sp>
      <p:pic>
        <p:nvPicPr>
          <p:cNvPr descr="image.png" id="868" name="Google Shape;868;p64"/>
          <p:cNvPicPr preferRelativeResize="0"/>
          <p:nvPr/>
        </p:nvPicPr>
        <p:blipFill rotWithShape="1">
          <a:blip r:embed="rId8">
            <a:alphaModFix/>
          </a:blip>
          <a:srcRect b="0" l="0" r="0" t="0"/>
          <a:stretch/>
        </p:blipFill>
        <p:spPr>
          <a:xfrm>
            <a:off x="8423374" y="2205037"/>
            <a:ext cx="666750" cy="666750"/>
          </a:xfrm>
          <a:prstGeom prst="rect">
            <a:avLst/>
          </a:prstGeom>
          <a:noFill/>
          <a:ln>
            <a:noFill/>
          </a:ln>
        </p:spPr>
      </p:pic>
      <p:sp>
        <p:nvSpPr>
          <p:cNvPr id="869" name="Google Shape;869;p64"/>
          <p:cNvSpPr txBox="1"/>
          <p:nvPr/>
        </p:nvSpPr>
        <p:spPr>
          <a:xfrm>
            <a:off x="8423374" y="3062287"/>
            <a:ext cx="3047099"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0F2C59"/>
                </a:solidFill>
                <a:latin typeface="Montserrat"/>
                <a:ea typeface="Montserrat"/>
                <a:cs typeface="Montserrat"/>
                <a:sym typeface="Montserrat"/>
              </a:rPr>
              <a:t>3. Sign Executive Directive</a:t>
            </a:r>
            <a:endParaRPr/>
          </a:p>
        </p:txBody>
      </p:sp>
      <p:sp>
        <p:nvSpPr>
          <p:cNvPr id="870" name="Google Shape;870;p64"/>
          <p:cNvSpPr txBox="1"/>
          <p:nvPr/>
        </p:nvSpPr>
        <p:spPr>
          <a:xfrm>
            <a:off x="8423374" y="3814762"/>
            <a:ext cx="2901999"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F172A"/>
                </a:solidFill>
                <a:latin typeface="Inter"/>
                <a:ea typeface="Inter"/>
                <a:cs typeface="Inter"/>
                <a:sym typeface="Inter"/>
              </a:rPr>
              <a:t>Issue the Mayoral Directive mandating bureau integration compliance and formally establishing the Steering Committee.</a:t>
            </a:r>
            <a:endParaRPr/>
          </a:p>
        </p:txBody>
      </p:sp>
      <p:pic>
        <p:nvPicPr>
          <p:cNvPr descr="image.png" id="871" name="Google Shape;871;p64"/>
          <p:cNvPicPr preferRelativeResize="0"/>
          <p:nvPr/>
        </p:nvPicPr>
        <p:blipFill rotWithShape="1">
          <a:blip r:embed="rId9">
            <a:alphaModFix/>
          </a:blip>
          <a:srcRect b="0" l="0" r="0" t="0"/>
          <a:stretch/>
        </p:blipFill>
        <p:spPr>
          <a:xfrm>
            <a:off x="985837" y="2366962"/>
            <a:ext cx="428625" cy="342900"/>
          </a:xfrm>
          <a:prstGeom prst="rect">
            <a:avLst/>
          </a:prstGeom>
          <a:noFill/>
          <a:ln>
            <a:noFill/>
          </a:ln>
        </p:spPr>
      </p:pic>
      <p:pic>
        <p:nvPicPr>
          <p:cNvPr descr="image.png" id="872" name="Google Shape;872;p64"/>
          <p:cNvPicPr preferRelativeResize="0"/>
          <p:nvPr/>
        </p:nvPicPr>
        <p:blipFill rotWithShape="1">
          <a:blip r:embed="rId10">
            <a:alphaModFix/>
          </a:blip>
          <a:srcRect b="0" l="0" r="0" t="0"/>
          <a:stretch/>
        </p:blipFill>
        <p:spPr>
          <a:xfrm>
            <a:off x="4806999" y="2366962"/>
            <a:ext cx="342900" cy="342900"/>
          </a:xfrm>
          <a:prstGeom prst="rect">
            <a:avLst/>
          </a:prstGeom>
          <a:noFill/>
          <a:ln>
            <a:noFill/>
          </a:ln>
        </p:spPr>
      </p:pic>
      <p:pic>
        <p:nvPicPr>
          <p:cNvPr descr="image.png" id="873" name="Google Shape;873;p64"/>
          <p:cNvPicPr preferRelativeResize="0"/>
          <p:nvPr/>
        </p:nvPicPr>
        <p:blipFill rotWithShape="1">
          <a:blip r:embed="rId11">
            <a:alphaModFix/>
          </a:blip>
          <a:srcRect b="0" l="0" r="0" t="0"/>
          <a:stretch/>
        </p:blipFill>
        <p:spPr>
          <a:xfrm>
            <a:off x="8585299" y="2366962"/>
            <a:ext cx="342900" cy="3429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77" name="Shape 877"/>
        <p:cNvGrpSpPr/>
        <p:nvPr/>
      </p:nvGrpSpPr>
      <p:grpSpPr>
        <a:xfrm>
          <a:off x="0" y="0"/>
          <a:ext cx="0" cy="0"/>
          <a:chOff x="0" y="0"/>
          <a:chExt cx="0" cy="0"/>
        </a:xfrm>
      </p:grpSpPr>
      <p:sp>
        <p:nvSpPr>
          <p:cNvPr id="878" name="Google Shape;878;p65"/>
          <p:cNvSpPr txBox="1"/>
          <p:nvPr/>
        </p:nvSpPr>
        <p:spPr>
          <a:xfrm>
            <a:off x="295275" y="476250"/>
            <a:ext cx="11601450" cy="838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400" u="none" cap="none" strike="noStrike">
                <a:solidFill>
                  <a:srgbClr val="0F2C59"/>
                </a:solidFill>
                <a:latin typeface="Montserrat"/>
                <a:ea typeface="Montserrat"/>
                <a:cs typeface="Montserrat"/>
                <a:sym typeface="Montserrat"/>
              </a:rPr>
              <a:t>Questions &amp; Decisions</a:t>
            </a:r>
            <a:endParaRPr/>
          </a:p>
        </p:txBody>
      </p:sp>
      <p:sp>
        <p:nvSpPr>
          <p:cNvPr id="879" name="Google Shape;879;p65"/>
          <p:cNvSpPr txBox="1"/>
          <p:nvPr/>
        </p:nvSpPr>
        <p:spPr>
          <a:xfrm>
            <a:off x="571500" y="1504950"/>
            <a:ext cx="11049000" cy="342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0F172A"/>
                </a:solidFill>
                <a:latin typeface="Inter"/>
                <a:ea typeface="Inter"/>
                <a:cs typeface="Inter"/>
                <a:sym typeface="Inter"/>
              </a:rPr>
              <a:t>Moving Hawassa City from Planning to Operational Reality.</a:t>
            </a:r>
            <a:endParaRPr/>
          </a:p>
        </p:txBody>
      </p:sp>
      <p:sp>
        <p:nvSpPr>
          <p:cNvPr id="880" name="Google Shape;880;p65"/>
          <p:cNvSpPr txBox="1"/>
          <p:nvPr/>
        </p:nvSpPr>
        <p:spPr>
          <a:xfrm>
            <a:off x="571500" y="2228850"/>
            <a:ext cx="11049000" cy="2571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475569"/>
                </a:solidFill>
                <a:latin typeface="Inter"/>
                <a:ea typeface="Inter"/>
                <a:cs typeface="Inter"/>
                <a:sym typeface="Inter"/>
              </a:rPr>
              <a:t>Thank you for your leadership and vision.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84" name="Shape 884"/>
        <p:cNvGrpSpPr/>
        <p:nvPr/>
      </p:nvGrpSpPr>
      <p:grpSpPr>
        <a:xfrm>
          <a:off x="0" y="0"/>
          <a:ext cx="0" cy="0"/>
          <a:chOff x="0" y="0"/>
          <a:chExt cx="0" cy="0"/>
        </a:xfrm>
      </p:grpSpPr>
      <p:sp>
        <p:nvSpPr>
          <p:cNvPr id="885" name="Google Shape;885;p66"/>
          <p:cNvSpPr txBox="1"/>
          <p:nvPr/>
        </p:nvSpPr>
        <p:spPr>
          <a:xfrm>
            <a:off x="571500" y="47625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2C59"/>
                </a:solidFill>
                <a:latin typeface="Montserrat"/>
                <a:ea typeface="Montserrat"/>
                <a:cs typeface="Montserrat"/>
                <a:sym typeface="Montserrat"/>
              </a:rPr>
              <a:t>Image Sources</a:t>
            </a:r>
            <a:endParaRPr/>
          </a:p>
        </p:txBody>
      </p:sp>
      <p:sp>
        <p:nvSpPr>
          <p:cNvPr id="886" name="Google Shape;886;p66"/>
          <p:cNvSpPr/>
          <p:nvPr/>
        </p:nvSpPr>
        <p:spPr>
          <a:xfrm>
            <a:off x="571500" y="1038225"/>
            <a:ext cx="11049000" cy="28575"/>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7" name="Google Shape;887;p66"/>
          <p:cNvSpPr/>
          <p:nvPr/>
        </p:nvSpPr>
        <p:spPr>
          <a:xfrm>
            <a:off x="571500" y="1414462"/>
            <a:ext cx="8105775"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8" name="Google Shape;888;p66"/>
          <p:cNvSpPr/>
          <p:nvPr/>
        </p:nvSpPr>
        <p:spPr>
          <a:xfrm>
            <a:off x="571500" y="2185987"/>
            <a:ext cx="8105775"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9" name="Google Shape;889;p66"/>
          <p:cNvSpPr/>
          <p:nvPr/>
        </p:nvSpPr>
        <p:spPr>
          <a:xfrm>
            <a:off x="571500" y="2957512"/>
            <a:ext cx="8105775"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0" name="Google Shape;890;p66"/>
          <p:cNvSpPr/>
          <p:nvPr/>
        </p:nvSpPr>
        <p:spPr>
          <a:xfrm>
            <a:off x="571500" y="3729037"/>
            <a:ext cx="8105775"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1" name="Google Shape;891;p66"/>
          <p:cNvSpPr/>
          <p:nvPr/>
        </p:nvSpPr>
        <p:spPr>
          <a:xfrm>
            <a:off x="571500" y="4500562"/>
            <a:ext cx="8105775"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2" name="Google Shape;892;p66"/>
          <p:cNvSpPr/>
          <p:nvPr/>
        </p:nvSpPr>
        <p:spPr>
          <a:xfrm>
            <a:off x="571500" y="2176462"/>
            <a:ext cx="81057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3" name="Google Shape;893;p66"/>
          <p:cNvSpPr/>
          <p:nvPr/>
        </p:nvSpPr>
        <p:spPr>
          <a:xfrm>
            <a:off x="571500" y="2176462"/>
            <a:ext cx="81057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4" name="Google Shape;894;p66"/>
          <p:cNvSpPr/>
          <p:nvPr/>
        </p:nvSpPr>
        <p:spPr>
          <a:xfrm>
            <a:off x="571500" y="2947987"/>
            <a:ext cx="81057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5" name="Google Shape;895;p66"/>
          <p:cNvSpPr/>
          <p:nvPr/>
        </p:nvSpPr>
        <p:spPr>
          <a:xfrm>
            <a:off x="571500" y="2947987"/>
            <a:ext cx="81057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6" name="Google Shape;896;p66"/>
          <p:cNvSpPr/>
          <p:nvPr/>
        </p:nvSpPr>
        <p:spPr>
          <a:xfrm>
            <a:off x="571500" y="3719512"/>
            <a:ext cx="81057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7" name="Google Shape;897;p66"/>
          <p:cNvSpPr/>
          <p:nvPr/>
        </p:nvSpPr>
        <p:spPr>
          <a:xfrm>
            <a:off x="571500" y="3719512"/>
            <a:ext cx="81057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8" name="Google Shape;898;p66"/>
          <p:cNvSpPr/>
          <p:nvPr/>
        </p:nvSpPr>
        <p:spPr>
          <a:xfrm>
            <a:off x="571500" y="4491037"/>
            <a:ext cx="81057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9" name="Google Shape;899;p66"/>
          <p:cNvSpPr/>
          <p:nvPr/>
        </p:nvSpPr>
        <p:spPr>
          <a:xfrm>
            <a:off x="571500" y="4491037"/>
            <a:ext cx="81057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0" name="Google Shape;900;p66"/>
          <p:cNvSpPr/>
          <p:nvPr/>
        </p:nvSpPr>
        <p:spPr>
          <a:xfrm>
            <a:off x="571500" y="5262562"/>
            <a:ext cx="81057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1" name="Google Shape;901;p66"/>
          <p:cNvSpPr/>
          <p:nvPr/>
        </p:nvSpPr>
        <p:spPr>
          <a:xfrm>
            <a:off x="571500" y="5262562"/>
            <a:ext cx="81057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902" name="Google Shape;902;p66"/>
          <p:cNvPicPr preferRelativeResize="0"/>
          <p:nvPr/>
        </p:nvPicPr>
        <p:blipFill rotWithShape="1">
          <a:blip r:embed="rId3">
            <a:alphaModFix/>
          </a:blip>
          <a:srcRect b="0" l="0" r="0" t="0"/>
          <a:stretch/>
        </p:blipFill>
        <p:spPr>
          <a:xfrm>
            <a:off x="571500" y="1557337"/>
            <a:ext cx="857250" cy="476250"/>
          </a:xfrm>
          <a:prstGeom prst="rect">
            <a:avLst/>
          </a:prstGeom>
          <a:noFill/>
          <a:ln>
            <a:noFill/>
          </a:ln>
        </p:spPr>
      </p:pic>
      <p:sp>
        <p:nvSpPr>
          <p:cNvPr id="903" name="Google Shape;903;p66"/>
          <p:cNvSpPr txBox="1"/>
          <p:nvPr/>
        </p:nvSpPr>
        <p:spPr>
          <a:xfrm>
            <a:off x="1666875" y="1564481"/>
            <a:ext cx="7010400"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0F172A"/>
                </a:solidFill>
                <a:latin typeface="Inter"/>
                <a:ea typeface="Inter"/>
                <a:cs typeface="Inter"/>
                <a:sym typeface="Inter"/>
              </a:rPr>
              <a:t>https://www.mdpi.com/smartcities/smartcities-08-00117/article_deploy/html/images/smartcities-08-00117-g003-550.jpg</a:t>
            </a:r>
            <a:endParaRPr/>
          </a:p>
        </p:txBody>
      </p:sp>
      <p:sp>
        <p:nvSpPr>
          <p:cNvPr id="904" name="Google Shape;904;p66"/>
          <p:cNvSpPr txBox="1"/>
          <p:nvPr/>
        </p:nvSpPr>
        <p:spPr>
          <a:xfrm>
            <a:off x="1666875" y="1797843"/>
            <a:ext cx="70104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F172A"/>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www.mdpi.com</a:t>
            </a:r>
            <a:endParaRPr/>
          </a:p>
        </p:txBody>
      </p:sp>
      <p:pic>
        <p:nvPicPr>
          <p:cNvPr descr="image.png" id="905" name="Google Shape;905;p66"/>
          <p:cNvPicPr preferRelativeResize="0"/>
          <p:nvPr/>
        </p:nvPicPr>
        <p:blipFill rotWithShape="1">
          <a:blip r:embed="rId4">
            <a:alphaModFix/>
          </a:blip>
          <a:srcRect b="0" l="0" r="0" t="0"/>
          <a:stretch/>
        </p:blipFill>
        <p:spPr>
          <a:xfrm>
            <a:off x="571500" y="2328862"/>
            <a:ext cx="857250" cy="476250"/>
          </a:xfrm>
          <a:prstGeom prst="rect">
            <a:avLst/>
          </a:prstGeom>
          <a:noFill/>
          <a:ln>
            <a:noFill/>
          </a:ln>
        </p:spPr>
      </p:pic>
      <p:sp>
        <p:nvSpPr>
          <p:cNvPr id="906" name="Google Shape;906;p66"/>
          <p:cNvSpPr txBox="1"/>
          <p:nvPr/>
        </p:nvSpPr>
        <p:spPr>
          <a:xfrm>
            <a:off x="1666875" y="2336006"/>
            <a:ext cx="7010400"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0F172A"/>
                </a:solidFill>
                <a:latin typeface="Inter"/>
                <a:ea typeface="Inter"/>
                <a:cs typeface="Inter"/>
                <a:sym typeface="Inter"/>
              </a:rPr>
              <a:t>https://marktossell.com/wp-content/uploads/2019/04/screen-shot-2019-04-05-at-8.48.54-am.png</a:t>
            </a:r>
            <a:endParaRPr/>
          </a:p>
        </p:txBody>
      </p:sp>
      <p:sp>
        <p:nvSpPr>
          <p:cNvPr id="907" name="Google Shape;907;p66"/>
          <p:cNvSpPr txBox="1"/>
          <p:nvPr/>
        </p:nvSpPr>
        <p:spPr>
          <a:xfrm>
            <a:off x="1666875" y="2569368"/>
            <a:ext cx="70104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F172A"/>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marktossell.com</a:t>
            </a:r>
            <a:endParaRPr/>
          </a:p>
        </p:txBody>
      </p:sp>
      <p:pic>
        <p:nvPicPr>
          <p:cNvPr descr="image.png" id="908" name="Google Shape;908;p66"/>
          <p:cNvPicPr preferRelativeResize="0"/>
          <p:nvPr/>
        </p:nvPicPr>
        <p:blipFill rotWithShape="1">
          <a:blip r:embed="rId5">
            <a:alphaModFix/>
          </a:blip>
          <a:srcRect b="0" l="0" r="0" t="0"/>
          <a:stretch/>
        </p:blipFill>
        <p:spPr>
          <a:xfrm>
            <a:off x="571500" y="3100387"/>
            <a:ext cx="1276350" cy="771525"/>
          </a:xfrm>
          <a:prstGeom prst="rect">
            <a:avLst/>
          </a:prstGeom>
          <a:noFill/>
          <a:ln>
            <a:noFill/>
          </a:ln>
        </p:spPr>
      </p:pic>
      <p:sp>
        <p:nvSpPr>
          <p:cNvPr id="909" name="Google Shape;909;p66"/>
          <p:cNvSpPr txBox="1"/>
          <p:nvPr/>
        </p:nvSpPr>
        <p:spPr>
          <a:xfrm>
            <a:off x="1666875" y="3107531"/>
            <a:ext cx="7010400"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0F172A"/>
                </a:solidFill>
                <a:latin typeface="Inter"/>
                <a:ea typeface="Inter"/>
                <a:cs typeface="Inter"/>
                <a:sym typeface="Inter"/>
              </a:rPr>
              <a:t>https://jeremyqho.com/static/1/software-layers.jpeg</a:t>
            </a:r>
            <a:endParaRPr/>
          </a:p>
        </p:txBody>
      </p:sp>
      <p:sp>
        <p:nvSpPr>
          <p:cNvPr id="910" name="Google Shape;910;p66"/>
          <p:cNvSpPr txBox="1"/>
          <p:nvPr/>
        </p:nvSpPr>
        <p:spPr>
          <a:xfrm>
            <a:off x="1666875" y="3340893"/>
            <a:ext cx="70104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F172A"/>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jeremyqho.com</a:t>
            </a:r>
            <a:endParaRPr/>
          </a:p>
        </p:txBody>
      </p:sp>
      <p:pic>
        <p:nvPicPr>
          <p:cNvPr descr="image.png" id="911" name="Google Shape;911;p66"/>
          <p:cNvPicPr preferRelativeResize="0"/>
          <p:nvPr/>
        </p:nvPicPr>
        <p:blipFill rotWithShape="1">
          <a:blip r:embed="rId6">
            <a:alphaModFix/>
          </a:blip>
          <a:srcRect b="0" l="0" r="0" t="0"/>
          <a:stretch/>
        </p:blipFill>
        <p:spPr>
          <a:xfrm>
            <a:off x="571500" y="3871912"/>
            <a:ext cx="857250" cy="476250"/>
          </a:xfrm>
          <a:prstGeom prst="rect">
            <a:avLst/>
          </a:prstGeom>
          <a:noFill/>
          <a:ln>
            <a:noFill/>
          </a:ln>
        </p:spPr>
      </p:pic>
      <p:sp>
        <p:nvSpPr>
          <p:cNvPr id="912" name="Google Shape;912;p66"/>
          <p:cNvSpPr txBox="1"/>
          <p:nvPr/>
        </p:nvSpPr>
        <p:spPr>
          <a:xfrm>
            <a:off x="1666875" y="3879056"/>
            <a:ext cx="7010400"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0F172A"/>
                </a:solidFill>
                <a:latin typeface="Inter"/>
                <a:ea typeface="Inter"/>
                <a:cs typeface="Inter"/>
                <a:sym typeface="Inter"/>
              </a:rPr>
              <a:t>https://blogs.vmware.com/vov/wp-content/uploads/sites/101/2018/12/NSXIaaS.jpg?w=576&amp;h=324&amp;crop=1</a:t>
            </a:r>
            <a:endParaRPr/>
          </a:p>
        </p:txBody>
      </p:sp>
      <p:sp>
        <p:nvSpPr>
          <p:cNvPr id="913" name="Google Shape;913;p66"/>
          <p:cNvSpPr txBox="1"/>
          <p:nvPr/>
        </p:nvSpPr>
        <p:spPr>
          <a:xfrm>
            <a:off x="1666875" y="4112418"/>
            <a:ext cx="70104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F172A"/>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blogs.vmware.com</a:t>
            </a:r>
            <a:endParaRPr/>
          </a:p>
        </p:txBody>
      </p:sp>
      <p:pic>
        <p:nvPicPr>
          <p:cNvPr descr="image.png" id="914" name="Google Shape;914;p66"/>
          <p:cNvPicPr preferRelativeResize="0"/>
          <p:nvPr/>
        </p:nvPicPr>
        <p:blipFill rotWithShape="1">
          <a:blip r:embed="rId7">
            <a:alphaModFix/>
          </a:blip>
          <a:srcRect b="0" l="0" r="0" t="0"/>
          <a:stretch/>
        </p:blipFill>
        <p:spPr>
          <a:xfrm>
            <a:off x="571500" y="4643437"/>
            <a:ext cx="1647825" cy="514350"/>
          </a:xfrm>
          <a:prstGeom prst="rect">
            <a:avLst/>
          </a:prstGeom>
          <a:noFill/>
          <a:ln>
            <a:noFill/>
          </a:ln>
        </p:spPr>
      </p:pic>
      <p:sp>
        <p:nvSpPr>
          <p:cNvPr id="915" name="Google Shape;915;p66"/>
          <p:cNvSpPr txBox="1"/>
          <p:nvPr/>
        </p:nvSpPr>
        <p:spPr>
          <a:xfrm>
            <a:off x="1666875" y="4650581"/>
            <a:ext cx="7010400"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0F172A"/>
                </a:solidFill>
                <a:latin typeface="Inter"/>
                <a:ea typeface="Inter"/>
                <a:cs typeface="Inter"/>
                <a:sym typeface="Inter"/>
              </a:rPr>
              <a:t>https://www.zenarmor.com/docs/assets/images/mesh-topology-3042d00709bcc03eaf168c32105057aa.png</a:t>
            </a:r>
            <a:endParaRPr/>
          </a:p>
        </p:txBody>
      </p:sp>
      <p:sp>
        <p:nvSpPr>
          <p:cNvPr id="916" name="Google Shape;916;p66"/>
          <p:cNvSpPr txBox="1"/>
          <p:nvPr/>
        </p:nvSpPr>
        <p:spPr>
          <a:xfrm>
            <a:off x="1666875" y="4883943"/>
            <a:ext cx="70104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F172A"/>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www.zenarmor.com</a:t>
            </a:r>
            <a:endParaRPr/>
          </a:p>
        </p:txBody>
      </p:sp>
      <p:pic>
        <p:nvPicPr>
          <p:cNvPr descr="image.png" id="917" name="Google Shape;917;p66"/>
          <p:cNvPicPr preferRelativeResize="0"/>
          <p:nvPr/>
        </p:nvPicPr>
        <p:blipFill rotWithShape="1">
          <a:blip r:embed="rId8">
            <a:alphaModFix/>
          </a:blip>
          <a:srcRect b="0" l="0" r="0" t="0"/>
          <a:stretch/>
        </p:blipFill>
        <p:spPr>
          <a:xfrm>
            <a:off x="571500" y="5414962"/>
            <a:ext cx="857250" cy="476250"/>
          </a:xfrm>
          <a:prstGeom prst="rect">
            <a:avLst/>
          </a:prstGeom>
          <a:noFill/>
          <a:ln>
            <a:noFill/>
          </a:ln>
        </p:spPr>
      </p:pic>
      <p:sp>
        <p:nvSpPr>
          <p:cNvPr id="918" name="Google Shape;918;p66"/>
          <p:cNvSpPr txBox="1"/>
          <p:nvPr/>
        </p:nvSpPr>
        <p:spPr>
          <a:xfrm>
            <a:off x="1666875" y="5422106"/>
            <a:ext cx="7010400"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0F172A"/>
                </a:solidFill>
                <a:latin typeface="Inter"/>
                <a:ea typeface="Inter"/>
                <a:cs typeface="Inter"/>
                <a:sym typeface="Inter"/>
              </a:rPr>
              <a:t>https://www.akinteriorsgroup.com/wp-content/uploads/2025/11/18600-1-1.png</a:t>
            </a:r>
            <a:endParaRPr/>
          </a:p>
        </p:txBody>
      </p:sp>
      <p:sp>
        <p:nvSpPr>
          <p:cNvPr id="919" name="Google Shape;919;p66"/>
          <p:cNvSpPr txBox="1"/>
          <p:nvPr/>
        </p:nvSpPr>
        <p:spPr>
          <a:xfrm>
            <a:off x="1666875" y="5655468"/>
            <a:ext cx="70104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0F172A"/>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www.akinteriorsgroup.com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