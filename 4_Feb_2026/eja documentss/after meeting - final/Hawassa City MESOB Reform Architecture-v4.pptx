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y="6858000" cx="12192000"/>
  <p:notesSz cx="6858000" cy="9144000"/>
  <p:embeddedFontLst>
    <p:embeddedFont>
      <p:font typeface="Plus Jakarta Sans"/>
      <p:regular r:id="rId72"/>
      <p:bold r:id="rId73"/>
      <p:italic r:id="rId74"/>
      <p:boldItalic r:id="rId75"/>
    </p:embeddedFont>
    <p:embeddedFont>
      <p:font typeface="Plus Jakarta Sans SemiBold"/>
      <p:regular r:id="rId76"/>
      <p:bold r:id="rId77"/>
      <p:italic r:id="rId78"/>
      <p:boldItalic r:id="rId79"/>
    </p:embeddedFont>
    <p:embeddedFont>
      <p:font typeface="Plus Jakarta Sans Medium"/>
      <p:regular r:id="rId80"/>
      <p:bold r:id="rId81"/>
      <p:italic r:id="rId82"/>
      <p:boldItalic r:id="rId8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05658A8-B75E-4893-B863-9B2F382446B2}">
  <a:tblStyle styleId="{205658A8-B75E-4893-B863-9B2F382446B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3" Type="http://schemas.openxmlformats.org/officeDocument/2006/relationships/font" Target="fonts/PlusJakartaSansMedium-boldItalic.fntdata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font" Target="fonts/PlusJakartaSansMedium-regular.fntdata"/><Relationship Id="rId82" Type="http://schemas.openxmlformats.org/officeDocument/2006/relationships/font" Target="fonts/PlusJakartaSansMedium-italic.fntdata"/><Relationship Id="rId81" Type="http://schemas.openxmlformats.org/officeDocument/2006/relationships/font" Target="fonts/PlusJakartaSans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PlusJakartaSans-bold.fntdata"/><Relationship Id="rId72" Type="http://schemas.openxmlformats.org/officeDocument/2006/relationships/font" Target="fonts/PlusJakartaSans-regular.fntdata"/><Relationship Id="rId31" Type="http://schemas.openxmlformats.org/officeDocument/2006/relationships/slide" Target="slides/slide25.xml"/><Relationship Id="rId75" Type="http://schemas.openxmlformats.org/officeDocument/2006/relationships/font" Target="fonts/PlusJakartaSans-boldItalic.fntdata"/><Relationship Id="rId30" Type="http://schemas.openxmlformats.org/officeDocument/2006/relationships/slide" Target="slides/slide24.xml"/><Relationship Id="rId74" Type="http://schemas.openxmlformats.org/officeDocument/2006/relationships/font" Target="fonts/PlusJakartaSans-italic.fntdata"/><Relationship Id="rId33" Type="http://schemas.openxmlformats.org/officeDocument/2006/relationships/slide" Target="slides/slide27.xml"/><Relationship Id="rId77" Type="http://schemas.openxmlformats.org/officeDocument/2006/relationships/font" Target="fonts/PlusJakartaSansSemiBold-bold.fntdata"/><Relationship Id="rId32" Type="http://schemas.openxmlformats.org/officeDocument/2006/relationships/slide" Target="slides/slide26.xml"/><Relationship Id="rId76" Type="http://schemas.openxmlformats.org/officeDocument/2006/relationships/font" Target="fonts/PlusJakartaSansSemiBold-regular.fntdata"/><Relationship Id="rId35" Type="http://schemas.openxmlformats.org/officeDocument/2006/relationships/slide" Target="slides/slide29.xml"/><Relationship Id="rId79" Type="http://schemas.openxmlformats.org/officeDocument/2006/relationships/font" Target="fonts/PlusJakartaSansSemiBold-boldItalic.fntdata"/><Relationship Id="rId34" Type="http://schemas.openxmlformats.org/officeDocument/2006/relationships/slide" Target="slides/slide28.xml"/><Relationship Id="rId78" Type="http://schemas.openxmlformats.org/officeDocument/2006/relationships/font" Target="fonts/PlusJakartaSansSemiBold-italic.fntdata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9" name="Google Shape;1669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5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1696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Google Shape;1697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4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6" name="Google Shape;1746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Google Shape;1753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4" name="Google Shape;1754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3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5" name="Google Shape;1775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6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8" name="Google Shape;1808;p6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8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0" name="Google Shape;1840;p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9" name="Shape 1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0" name="Google Shape;1860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p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2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p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3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5" name="Google Shape;1915;p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11" Type="http://schemas.openxmlformats.org/officeDocument/2006/relationships/image" Target="../media/image15.png"/><Relationship Id="rId10" Type="http://schemas.openxmlformats.org/officeDocument/2006/relationships/image" Target="../media/image16.png"/><Relationship Id="rId9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Relationship Id="rId8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9.png"/><Relationship Id="rId10" Type="http://schemas.openxmlformats.org/officeDocument/2006/relationships/image" Target="../media/image11.png"/><Relationship Id="rId13" Type="http://schemas.openxmlformats.org/officeDocument/2006/relationships/image" Target="../media/image24.png"/><Relationship Id="rId1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9" Type="http://schemas.openxmlformats.org/officeDocument/2006/relationships/image" Target="../media/image41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14.png"/><Relationship Id="rId8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5.png"/><Relationship Id="rId9" Type="http://schemas.openxmlformats.org/officeDocument/2006/relationships/image" Target="../media/image35.png"/><Relationship Id="rId5" Type="http://schemas.openxmlformats.org/officeDocument/2006/relationships/image" Target="../media/image26.png"/><Relationship Id="rId6" Type="http://schemas.openxmlformats.org/officeDocument/2006/relationships/image" Target="../media/image38.png"/><Relationship Id="rId7" Type="http://schemas.openxmlformats.org/officeDocument/2006/relationships/image" Target="../media/image27.png"/><Relationship Id="rId8" Type="http://schemas.openxmlformats.org/officeDocument/2006/relationships/image" Target="../media/image43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0.png"/><Relationship Id="rId10" Type="http://schemas.openxmlformats.org/officeDocument/2006/relationships/image" Target="../media/image11.png"/><Relationship Id="rId13" Type="http://schemas.openxmlformats.org/officeDocument/2006/relationships/image" Target="../media/image40.png"/><Relationship Id="rId1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8.png"/><Relationship Id="rId9" Type="http://schemas.openxmlformats.org/officeDocument/2006/relationships/image" Target="../media/image39.png"/><Relationship Id="rId15" Type="http://schemas.openxmlformats.org/officeDocument/2006/relationships/image" Target="../media/image50.png"/><Relationship Id="rId14" Type="http://schemas.openxmlformats.org/officeDocument/2006/relationships/image" Target="../media/image42.png"/><Relationship Id="rId5" Type="http://schemas.openxmlformats.org/officeDocument/2006/relationships/image" Target="../media/image37.png"/><Relationship Id="rId6" Type="http://schemas.openxmlformats.org/officeDocument/2006/relationships/image" Target="../media/image33.png"/><Relationship Id="rId7" Type="http://schemas.openxmlformats.org/officeDocument/2006/relationships/image" Target="../media/image29.png"/><Relationship Id="rId8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4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46.png"/><Relationship Id="rId9" Type="http://schemas.openxmlformats.org/officeDocument/2006/relationships/image" Target="../media/image47.png"/><Relationship Id="rId5" Type="http://schemas.openxmlformats.org/officeDocument/2006/relationships/image" Target="../media/image44.png"/><Relationship Id="rId6" Type="http://schemas.openxmlformats.org/officeDocument/2006/relationships/image" Target="../media/image11.png"/><Relationship Id="rId7" Type="http://schemas.openxmlformats.org/officeDocument/2006/relationships/image" Target="../media/image51.png"/><Relationship Id="rId8" Type="http://schemas.openxmlformats.org/officeDocument/2006/relationships/image" Target="../media/image4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4.png"/><Relationship Id="rId4" Type="http://schemas.openxmlformats.org/officeDocument/2006/relationships/image" Target="../media/image56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59.png"/><Relationship Id="rId10" Type="http://schemas.openxmlformats.org/officeDocument/2006/relationships/image" Target="../media/image11.png"/><Relationship Id="rId13" Type="http://schemas.openxmlformats.org/officeDocument/2006/relationships/image" Target="../media/image42.png"/><Relationship Id="rId12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55.png"/><Relationship Id="rId9" Type="http://schemas.openxmlformats.org/officeDocument/2006/relationships/image" Target="../media/image68.png"/><Relationship Id="rId5" Type="http://schemas.openxmlformats.org/officeDocument/2006/relationships/image" Target="../media/image60.png"/><Relationship Id="rId6" Type="http://schemas.openxmlformats.org/officeDocument/2006/relationships/image" Target="../media/image57.png"/><Relationship Id="rId7" Type="http://schemas.openxmlformats.org/officeDocument/2006/relationships/image" Target="../media/image90.png"/><Relationship Id="rId8" Type="http://schemas.openxmlformats.org/officeDocument/2006/relationships/image" Target="../media/image6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6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63.png"/><Relationship Id="rId5" Type="http://schemas.openxmlformats.org/officeDocument/2006/relationships/image" Target="../media/image11.png"/><Relationship Id="rId6" Type="http://schemas.openxmlformats.org/officeDocument/2006/relationships/image" Target="../media/image91.png"/><Relationship Id="rId7" Type="http://schemas.openxmlformats.org/officeDocument/2006/relationships/image" Target="../media/image7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62.png"/></Relationships>
</file>

<file path=ppt/slides/_rels/slide14.xml.rels><?xml version="1.0" encoding="UTF-8" standalone="yes"?><Relationships xmlns="http://schemas.openxmlformats.org/package/2006/relationships"><Relationship Id="rId20" Type="http://schemas.openxmlformats.org/officeDocument/2006/relationships/image" Target="../media/image117.png"/><Relationship Id="rId11" Type="http://schemas.openxmlformats.org/officeDocument/2006/relationships/image" Target="../media/image80.png"/><Relationship Id="rId10" Type="http://schemas.openxmlformats.org/officeDocument/2006/relationships/image" Target="../media/image77.png"/><Relationship Id="rId13" Type="http://schemas.openxmlformats.org/officeDocument/2006/relationships/image" Target="../media/image81.png"/><Relationship Id="rId12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82.png"/><Relationship Id="rId9" Type="http://schemas.openxmlformats.org/officeDocument/2006/relationships/image" Target="../media/image78.png"/><Relationship Id="rId15" Type="http://schemas.openxmlformats.org/officeDocument/2006/relationships/image" Target="../media/image85.png"/><Relationship Id="rId14" Type="http://schemas.openxmlformats.org/officeDocument/2006/relationships/image" Target="../media/image76.png"/><Relationship Id="rId17" Type="http://schemas.openxmlformats.org/officeDocument/2006/relationships/image" Target="../media/image86.png"/><Relationship Id="rId16" Type="http://schemas.openxmlformats.org/officeDocument/2006/relationships/image" Target="../media/image119.png"/><Relationship Id="rId5" Type="http://schemas.openxmlformats.org/officeDocument/2006/relationships/image" Target="../media/image69.png"/><Relationship Id="rId19" Type="http://schemas.openxmlformats.org/officeDocument/2006/relationships/image" Target="../media/image88.png"/><Relationship Id="rId6" Type="http://schemas.openxmlformats.org/officeDocument/2006/relationships/image" Target="../media/image75.png"/><Relationship Id="rId18" Type="http://schemas.openxmlformats.org/officeDocument/2006/relationships/image" Target="../media/image87.png"/><Relationship Id="rId7" Type="http://schemas.openxmlformats.org/officeDocument/2006/relationships/image" Target="../media/image70.png"/><Relationship Id="rId8" Type="http://schemas.openxmlformats.org/officeDocument/2006/relationships/image" Target="../media/image73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98.png"/><Relationship Id="rId10" Type="http://schemas.openxmlformats.org/officeDocument/2006/relationships/image" Target="../media/image93.png"/><Relationship Id="rId12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84.png"/><Relationship Id="rId9" Type="http://schemas.openxmlformats.org/officeDocument/2006/relationships/image" Target="../media/image11.png"/><Relationship Id="rId5" Type="http://schemas.openxmlformats.org/officeDocument/2006/relationships/image" Target="../media/image92.png"/><Relationship Id="rId6" Type="http://schemas.openxmlformats.org/officeDocument/2006/relationships/image" Target="../media/image83.png"/><Relationship Id="rId7" Type="http://schemas.openxmlformats.org/officeDocument/2006/relationships/image" Target="../media/image95.png"/><Relationship Id="rId8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97.png"/><Relationship Id="rId5" Type="http://schemas.openxmlformats.org/officeDocument/2006/relationships/image" Target="../media/image125.png"/><Relationship Id="rId6" Type="http://schemas.openxmlformats.org/officeDocument/2006/relationships/image" Target="../media/image6.png"/><Relationship Id="rId7" Type="http://schemas.openxmlformats.org/officeDocument/2006/relationships/image" Target="../media/image89.png"/><Relationship Id="rId8" Type="http://schemas.openxmlformats.org/officeDocument/2006/relationships/image" Target="../media/image10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1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4.png"/><Relationship Id="rId4" Type="http://schemas.openxmlformats.org/officeDocument/2006/relationships/image" Target="../media/image105.png"/></Relationships>
</file>

<file path=ppt/slides/_rels/slide19.xml.rels><?xml version="1.0" encoding="UTF-8" standalone="yes"?><Relationships xmlns="http://schemas.openxmlformats.org/package/2006/relationships"><Relationship Id="rId11" Type="http://schemas.openxmlformats.org/officeDocument/2006/relationships/image" Target="../media/image42.png"/><Relationship Id="rId10" Type="http://schemas.openxmlformats.org/officeDocument/2006/relationships/image" Target="../media/image6.png"/><Relationship Id="rId12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100.png"/><Relationship Id="rId9" Type="http://schemas.openxmlformats.org/officeDocument/2006/relationships/image" Target="../media/image11.png"/><Relationship Id="rId5" Type="http://schemas.openxmlformats.org/officeDocument/2006/relationships/image" Target="../media/image103.png"/><Relationship Id="rId6" Type="http://schemas.openxmlformats.org/officeDocument/2006/relationships/image" Target="../media/image120.png"/><Relationship Id="rId7" Type="http://schemas.openxmlformats.org/officeDocument/2006/relationships/image" Target="../media/image109.png"/><Relationship Id="rId8" Type="http://schemas.openxmlformats.org/officeDocument/2006/relationships/image" Target="../media/image99.png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5.png"/><Relationship Id="rId10" Type="http://schemas.openxmlformats.org/officeDocument/2006/relationships/image" Target="../media/image11.png"/><Relationship Id="rId12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112.png"/><Relationship Id="rId9" Type="http://schemas.openxmlformats.org/officeDocument/2006/relationships/image" Target="../media/image111.png"/><Relationship Id="rId5" Type="http://schemas.openxmlformats.org/officeDocument/2006/relationships/image" Target="../media/image122.png"/><Relationship Id="rId6" Type="http://schemas.openxmlformats.org/officeDocument/2006/relationships/image" Target="../media/image83.png"/><Relationship Id="rId7" Type="http://schemas.openxmlformats.org/officeDocument/2006/relationships/image" Target="../media/image90.png"/><Relationship Id="rId8" Type="http://schemas.openxmlformats.org/officeDocument/2006/relationships/image" Target="../media/image144.png"/></Relationships>
</file>

<file path=ppt/slides/_rels/slide2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2.png"/><Relationship Id="rId10" Type="http://schemas.openxmlformats.org/officeDocument/2006/relationships/image" Target="../media/image11.png"/><Relationship Id="rId13" Type="http://schemas.openxmlformats.org/officeDocument/2006/relationships/image" Target="../media/image142.png"/><Relationship Id="rId1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128.png"/><Relationship Id="rId9" Type="http://schemas.openxmlformats.org/officeDocument/2006/relationships/image" Target="../media/image129.png"/><Relationship Id="rId5" Type="http://schemas.openxmlformats.org/officeDocument/2006/relationships/image" Target="../media/image113.png"/><Relationship Id="rId6" Type="http://schemas.openxmlformats.org/officeDocument/2006/relationships/image" Target="../media/image77.png"/><Relationship Id="rId7" Type="http://schemas.openxmlformats.org/officeDocument/2006/relationships/image" Target="../media/image118.png"/><Relationship Id="rId8" Type="http://schemas.openxmlformats.org/officeDocument/2006/relationships/image" Target="../media/image10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62.png"/></Relationships>
</file>

<file path=ppt/slides/_rels/slide23.xml.rels><?xml version="1.0" encoding="UTF-8" standalone="yes"?><Relationships xmlns="http://schemas.openxmlformats.org/package/2006/relationships"><Relationship Id="rId10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Relationship Id="rId4" Type="http://schemas.openxmlformats.org/officeDocument/2006/relationships/image" Target="../media/image130.png"/><Relationship Id="rId9" Type="http://schemas.openxmlformats.org/officeDocument/2006/relationships/image" Target="../media/image11.png"/><Relationship Id="rId5" Type="http://schemas.openxmlformats.org/officeDocument/2006/relationships/image" Target="../media/image103.png"/><Relationship Id="rId6" Type="http://schemas.openxmlformats.org/officeDocument/2006/relationships/image" Target="../media/image120.png"/><Relationship Id="rId7" Type="http://schemas.openxmlformats.org/officeDocument/2006/relationships/image" Target="../media/image140.png"/><Relationship Id="rId8" Type="http://schemas.openxmlformats.org/officeDocument/2006/relationships/image" Target="../media/image13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Relationship Id="rId4" Type="http://schemas.openxmlformats.org/officeDocument/2006/relationships/image" Target="../media/image62.png"/></Relationships>
</file>

<file path=ppt/slides/_rels/slide2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9.png"/><Relationship Id="rId10" Type="http://schemas.openxmlformats.org/officeDocument/2006/relationships/image" Target="../media/image11.png"/><Relationship Id="rId13" Type="http://schemas.openxmlformats.org/officeDocument/2006/relationships/image" Target="../media/image145.png"/><Relationship Id="rId12" Type="http://schemas.openxmlformats.org/officeDocument/2006/relationships/image" Target="../media/image14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Relationship Id="rId4" Type="http://schemas.openxmlformats.org/officeDocument/2006/relationships/image" Target="../media/image136.png"/><Relationship Id="rId9" Type="http://schemas.openxmlformats.org/officeDocument/2006/relationships/image" Target="../media/image133.png"/><Relationship Id="rId5" Type="http://schemas.openxmlformats.org/officeDocument/2006/relationships/image" Target="../media/image131.png"/><Relationship Id="rId6" Type="http://schemas.openxmlformats.org/officeDocument/2006/relationships/image" Target="../media/image127.png"/><Relationship Id="rId7" Type="http://schemas.openxmlformats.org/officeDocument/2006/relationships/image" Target="../media/image118.png"/><Relationship Id="rId8" Type="http://schemas.openxmlformats.org/officeDocument/2006/relationships/image" Target="../media/image12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Relationship Id="rId4" Type="http://schemas.openxmlformats.org/officeDocument/2006/relationships/image" Target="../media/image62.png"/></Relationships>
</file>

<file path=ppt/slides/_rels/slide2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4.png"/><Relationship Id="rId10" Type="http://schemas.openxmlformats.org/officeDocument/2006/relationships/image" Target="../media/image153.png"/><Relationship Id="rId13" Type="http://schemas.openxmlformats.org/officeDocument/2006/relationships/image" Target="../media/image11.png"/><Relationship Id="rId12" Type="http://schemas.openxmlformats.org/officeDocument/2006/relationships/image" Target="../media/image14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Relationship Id="rId4" Type="http://schemas.openxmlformats.org/officeDocument/2006/relationships/image" Target="../media/image137.png"/><Relationship Id="rId9" Type="http://schemas.openxmlformats.org/officeDocument/2006/relationships/image" Target="../media/image138.png"/><Relationship Id="rId15" Type="http://schemas.openxmlformats.org/officeDocument/2006/relationships/image" Target="../media/image42.png"/><Relationship Id="rId14" Type="http://schemas.openxmlformats.org/officeDocument/2006/relationships/image" Target="../media/image66.png"/><Relationship Id="rId16" Type="http://schemas.openxmlformats.org/officeDocument/2006/relationships/image" Target="../media/image175.png"/><Relationship Id="rId5" Type="http://schemas.openxmlformats.org/officeDocument/2006/relationships/image" Target="../media/image135.png"/><Relationship Id="rId6" Type="http://schemas.openxmlformats.org/officeDocument/2006/relationships/image" Target="../media/image146.png"/><Relationship Id="rId7" Type="http://schemas.openxmlformats.org/officeDocument/2006/relationships/image" Target="../media/image150.png"/><Relationship Id="rId8" Type="http://schemas.openxmlformats.org/officeDocument/2006/relationships/image" Target="../media/image14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Relationship Id="rId4" Type="http://schemas.openxmlformats.org/officeDocument/2006/relationships/image" Target="../media/image15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4.png"/><Relationship Id="rId4" Type="http://schemas.openxmlformats.org/officeDocument/2006/relationships/image" Target="../media/image15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Relationship Id="rId4" Type="http://schemas.openxmlformats.org/officeDocument/2006/relationships/image" Target="../media/image165.png"/><Relationship Id="rId9" Type="http://schemas.openxmlformats.org/officeDocument/2006/relationships/image" Target="../media/image156.png"/><Relationship Id="rId5" Type="http://schemas.openxmlformats.org/officeDocument/2006/relationships/image" Target="../media/image166.png"/><Relationship Id="rId6" Type="http://schemas.openxmlformats.org/officeDocument/2006/relationships/image" Target="../media/image155.png"/><Relationship Id="rId7" Type="http://schemas.openxmlformats.org/officeDocument/2006/relationships/image" Target="../media/image158.png"/><Relationship Id="rId8" Type="http://schemas.openxmlformats.org/officeDocument/2006/relationships/image" Target="../media/image15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Relationship Id="rId4" Type="http://schemas.openxmlformats.org/officeDocument/2006/relationships/image" Target="../media/image116.png"/></Relationships>
</file>

<file path=ppt/slides/_rels/slide32.xml.rels><?xml version="1.0" encoding="UTF-8" standalone="yes"?><Relationships xmlns="http://schemas.openxmlformats.org/package/2006/relationships"><Relationship Id="rId11" Type="http://schemas.openxmlformats.org/officeDocument/2006/relationships/image" Target="../media/image6.png"/><Relationship Id="rId10" Type="http://schemas.openxmlformats.org/officeDocument/2006/relationships/image" Target="../media/image168.png"/><Relationship Id="rId13" Type="http://schemas.openxmlformats.org/officeDocument/2006/relationships/image" Target="../media/image104.png"/><Relationship Id="rId1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png"/><Relationship Id="rId4" Type="http://schemas.openxmlformats.org/officeDocument/2006/relationships/image" Target="../media/image162.png"/><Relationship Id="rId9" Type="http://schemas.openxmlformats.org/officeDocument/2006/relationships/image" Target="../media/image169.png"/><Relationship Id="rId5" Type="http://schemas.openxmlformats.org/officeDocument/2006/relationships/image" Target="../media/image149.png"/><Relationship Id="rId6" Type="http://schemas.openxmlformats.org/officeDocument/2006/relationships/image" Target="../media/image160.png"/><Relationship Id="rId7" Type="http://schemas.openxmlformats.org/officeDocument/2006/relationships/image" Target="../media/image161.png"/><Relationship Id="rId8" Type="http://schemas.openxmlformats.org/officeDocument/2006/relationships/image" Target="../media/image1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png"/><Relationship Id="rId4" Type="http://schemas.openxmlformats.org/officeDocument/2006/relationships/image" Target="../media/image159.png"/></Relationships>
</file>

<file path=ppt/slides/_rels/slide3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7.png"/><Relationship Id="rId10" Type="http://schemas.openxmlformats.org/officeDocument/2006/relationships/image" Target="../media/image11.png"/><Relationship Id="rId13" Type="http://schemas.openxmlformats.org/officeDocument/2006/relationships/image" Target="../media/image93.png"/><Relationship Id="rId12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.png"/><Relationship Id="rId4" Type="http://schemas.openxmlformats.org/officeDocument/2006/relationships/image" Target="../media/image167.png"/><Relationship Id="rId9" Type="http://schemas.openxmlformats.org/officeDocument/2006/relationships/image" Target="../media/image181.png"/><Relationship Id="rId5" Type="http://schemas.openxmlformats.org/officeDocument/2006/relationships/image" Target="../media/image171.png"/><Relationship Id="rId6" Type="http://schemas.openxmlformats.org/officeDocument/2006/relationships/image" Target="../media/image170.png"/><Relationship Id="rId7" Type="http://schemas.openxmlformats.org/officeDocument/2006/relationships/image" Target="../media/image172.png"/><Relationship Id="rId8" Type="http://schemas.openxmlformats.org/officeDocument/2006/relationships/image" Target="../media/image178.png"/></Relationships>
</file>

<file path=ppt/slides/_rels/slide35.xml.rels><?xml version="1.0" encoding="UTF-8" standalone="yes"?><Relationships xmlns="http://schemas.openxmlformats.org/package/2006/relationships"><Relationship Id="rId10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.png"/><Relationship Id="rId4" Type="http://schemas.openxmlformats.org/officeDocument/2006/relationships/image" Target="../media/image195.png"/><Relationship Id="rId9" Type="http://schemas.openxmlformats.org/officeDocument/2006/relationships/image" Target="../media/image11.png"/><Relationship Id="rId5" Type="http://schemas.openxmlformats.org/officeDocument/2006/relationships/image" Target="../media/image173.png"/><Relationship Id="rId6" Type="http://schemas.openxmlformats.org/officeDocument/2006/relationships/image" Target="../media/image183.png"/><Relationship Id="rId7" Type="http://schemas.openxmlformats.org/officeDocument/2006/relationships/image" Target="../media/image77.png"/><Relationship Id="rId8" Type="http://schemas.openxmlformats.org/officeDocument/2006/relationships/image" Target="../media/image19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.png"/><Relationship Id="rId4" Type="http://schemas.openxmlformats.org/officeDocument/2006/relationships/image" Target="../media/image179.png"/><Relationship Id="rId5" Type="http://schemas.openxmlformats.org/officeDocument/2006/relationships/image" Target="../media/image31.png"/><Relationship Id="rId6" Type="http://schemas.openxmlformats.org/officeDocument/2006/relationships/image" Target="../media/image18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.png"/><Relationship Id="rId4" Type="http://schemas.openxmlformats.org/officeDocument/2006/relationships/image" Target="../media/image92.png"/><Relationship Id="rId5" Type="http://schemas.openxmlformats.org/officeDocument/2006/relationships/image" Target="../media/image11.png"/><Relationship Id="rId6" Type="http://schemas.openxmlformats.org/officeDocument/2006/relationships/image" Target="../media/image4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.png"/><Relationship Id="rId4" Type="http://schemas.openxmlformats.org/officeDocument/2006/relationships/image" Target="../media/image19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.png"/><Relationship Id="rId4" Type="http://schemas.openxmlformats.org/officeDocument/2006/relationships/image" Target="../media/image18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4.png"/><Relationship Id="rId4" Type="http://schemas.openxmlformats.org/officeDocument/2006/relationships/image" Target="../media/image18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.png"/><Relationship Id="rId4" Type="http://schemas.openxmlformats.org/officeDocument/2006/relationships/image" Target="../media/image92.png"/><Relationship Id="rId5" Type="http://schemas.openxmlformats.org/officeDocument/2006/relationships/image" Target="../media/image11.png"/><Relationship Id="rId6" Type="http://schemas.openxmlformats.org/officeDocument/2006/relationships/image" Target="../media/image6.png"/><Relationship Id="rId7" Type="http://schemas.openxmlformats.org/officeDocument/2006/relationships/image" Target="../media/image66.png"/><Relationship Id="rId8" Type="http://schemas.openxmlformats.org/officeDocument/2006/relationships/image" Target="../media/image9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.png"/><Relationship Id="rId4" Type="http://schemas.openxmlformats.org/officeDocument/2006/relationships/image" Target="../media/image116.png"/></Relationships>
</file>

<file path=ppt/slides/_rels/slide43.xml.rels><?xml version="1.0" encoding="UTF-8" standalone="yes"?><Relationships xmlns="http://schemas.openxmlformats.org/package/2006/relationships"><Relationship Id="rId11" Type="http://schemas.openxmlformats.org/officeDocument/2006/relationships/image" Target="../media/image6.png"/><Relationship Id="rId10" Type="http://schemas.openxmlformats.org/officeDocument/2006/relationships/image" Target="../media/image11.png"/><Relationship Id="rId13" Type="http://schemas.openxmlformats.org/officeDocument/2006/relationships/image" Target="../media/image42.png"/><Relationship Id="rId12" Type="http://schemas.openxmlformats.org/officeDocument/2006/relationships/image" Target="../media/image18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.png"/><Relationship Id="rId4" Type="http://schemas.openxmlformats.org/officeDocument/2006/relationships/image" Target="../media/image128.png"/><Relationship Id="rId9" Type="http://schemas.openxmlformats.org/officeDocument/2006/relationships/image" Target="../media/image205.png"/><Relationship Id="rId14" Type="http://schemas.openxmlformats.org/officeDocument/2006/relationships/image" Target="../media/image93.png"/><Relationship Id="rId5" Type="http://schemas.openxmlformats.org/officeDocument/2006/relationships/image" Target="../media/image188.png"/><Relationship Id="rId6" Type="http://schemas.openxmlformats.org/officeDocument/2006/relationships/image" Target="../media/image77.png"/><Relationship Id="rId7" Type="http://schemas.openxmlformats.org/officeDocument/2006/relationships/image" Target="../media/image182.png"/><Relationship Id="rId8" Type="http://schemas.openxmlformats.org/officeDocument/2006/relationships/image" Target="../media/image21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7.png"/><Relationship Id="rId4" Type="http://schemas.openxmlformats.org/officeDocument/2006/relationships/image" Target="../media/image211.png"/><Relationship Id="rId5" Type="http://schemas.openxmlformats.org/officeDocument/2006/relationships/image" Target="../media/image11.png"/><Relationship Id="rId6" Type="http://schemas.openxmlformats.org/officeDocument/2006/relationships/image" Target="../media/image66.png"/></Relationships>
</file>

<file path=ppt/slides/_rels/slide45.xml.rels><?xml version="1.0" encoding="UTF-8" standalone="yes"?><Relationships xmlns="http://schemas.openxmlformats.org/package/2006/relationships"><Relationship Id="rId11" Type="http://schemas.openxmlformats.org/officeDocument/2006/relationships/image" Target="../media/image6.png"/><Relationship Id="rId10" Type="http://schemas.openxmlformats.org/officeDocument/2006/relationships/image" Target="../media/image11.png"/><Relationship Id="rId13" Type="http://schemas.openxmlformats.org/officeDocument/2006/relationships/image" Target="../media/image104.png"/><Relationship Id="rId12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.png"/><Relationship Id="rId4" Type="http://schemas.openxmlformats.org/officeDocument/2006/relationships/image" Target="../media/image208.png"/><Relationship Id="rId9" Type="http://schemas.openxmlformats.org/officeDocument/2006/relationships/image" Target="../media/image193.png"/><Relationship Id="rId5" Type="http://schemas.openxmlformats.org/officeDocument/2006/relationships/image" Target="../media/image194.png"/><Relationship Id="rId6" Type="http://schemas.openxmlformats.org/officeDocument/2006/relationships/image" Target="../media/image214.png"/><Relationship Id="rId7" Type="http://schemas.openxmlformats.org/officeDocument/2006/relationships/image" Target="../media/image225.png"/><Relationship Id="rId8" Type="http://schemas.openxmlformats.org/officeDocument/2006/relationships/image" Target="../media/image6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7.png"/><Relationship Id="rId4" Type="http://schemas.openxmlformats.org/officeDocument/2006/relationships/image" Target="../media/image201.png"/><Relationship Id="rId5" Type="http://schemas.openxmlformats.org/officeDocument/2006/relationships/image" Target="../media/image11.png"/><Relationship Id="rId6" Type="http://schemas.openxmlformats.org/officeDocument/2006/relationships/image" Target="../media/image4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7.png"/><Relationship Id="rId4" Type="http://schemas.openxmlformats.org/officeDocument/2006/relationships/image" Target="../media/image202.png"/><Relationship Id="rId5" Type="http://schemas.openxmlformats.org/officeDocument/2006/relationships/image" Target="../media/image204.png"/><Relationship Id="rId6" Type="http://schemas.openxmlformats.org/officeDocument/2006/relationships/image" Target="../media/image6.png"/><Relationship Id="rId7" Type="http://schemas.openxmlformats.org/officeDocument/2006/relationships/image" Target="../media/image9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7.png"/><Relationship Id="rId4" Type="http://schemas.openxmlformats.org/officeDocument/2006/relationships/image" Target="../media/image198.png"/><Relationship Id="rId9" Type="http://schemas.openxmlformats.org/officeDocument/2006/relationships/image" Target="../media/image42.png"/><Relationship Id="rId5" Type="http://schemas.openxmlformats.org/officeDocument/2006/relationships/image" Target="../media/image196.png"/><Relationship Id="rId6" Type="http://schemas.openxmlformats.org/officeDocument/2006/relationships/image" Target="../media/image118.png"/><Relationship Id="rId7" Type="http://schemas.openxmlformats.org/officeDocument/2006/relationships/image" Target="../media/image209.png"/><Relationship Id="rId8" Type="http://schemas.openxmlformats.org/officeDocument/2006/relationships/image" Target="../media/image11.png"/></Relationships>
</file>

<file path=ppt/slides/_rels/slide49.xml.rels><?xml version="1.0" encoding="UTF-8" standalone="yes"?><Relationships xmlns="http://schemas.openxmlformats.org/package/2006/relationships"><Relationship Id="rId11" Type="http://schemas.openxmlformats.org/officeDocument/2006/relationships/image" Target="../media/image216.png"/><Relationship Id="rId10" Type="http://schemas.openxmlformats.org/officeDocument/2006/relationships/image" Target="../media/image27.png"/><Relationship Id="rId13" Type="http://schemas.openxmlformats.org/officeDocument/2006/relationships/image" Target="../media/image221.png"/><Relationship Id="rId1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7.png"/><Relationship Id="rId4" Type="http://schemas.openxmlformats.org/officeDocument/2006/relationships/image" Target="../media/image206.png"/><Relationship Id="rId9" Type="http://schemas.openxmlformats.org/officeDocument/2006/relationships/image" Target="../media/image207.png"/><Relationship Id="rId15" Type="http://schemas.openxmlformats.org/officeDocument/2006/relationships/image" Target="../media/image224.png"/><Relationship Id="rId14" Type="http://schemas.openxmlformats.org/officeDocument/2006/relationships/image" Target="../media/image227.png"/><Relationship Id="rId5" Type="http://schemas.openxmlformats.org/officeDocument/2006/relationships/image" Target="../media/image210.png"/><Relationship Id="rId6" Type="http://schemas.openxmlformats.org/officeDocument/2006/relationships/image" Target="../media/image150.png"/><Relationship Id="rId7" Type="http://schemas.openxmlformats.org/officeDocument/2006/relationships/image" Target="../media/image217.png"/><Relationship Id="rId8" Type="http://schemas.openxmlformats.org/officeDocument/2006/relationships/image" Target="../media/image26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4.png"/><Relationship Id="rId4" Type="http://schemas.openxmlformats.org/officeDocument/2006/relationships/image" Target="../media/image21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.png"/><Relationship Id="rId4" Type="http://schemas.openxmlformats.org/officeDocument/2006/relationships/image" Target="../media/image226.png"/><Relationship Id="rId5" Type="http://schemas.openxmlformats.org/officeDocument/2006/relationships/image" Target="../media/image6.png"/><Relationship Id="rId6" Type="http://schemas.openxmlformats.org/officeDocument/2006/relationships/image" Target="../media/image93.png"/></Relationships>
</file>

<file path=ppt/slides/_rels/slide52.xml.rels><?xml version="1.0" encoding="UTF-8" standalone="yes"?><Relationships xmlns="http://schemas.openxmlformats.org/package/2006/relationships"><Relationship Id="rId11" Type="http://schemas.openxmlformats.org/officeDocument/2006/relationships/image" Target="../media/image42.png"/><Relationship Id="rId10" Type="http://schemas.openxmlformats.org/officeDocument/2006/relationships/image" Target="../media/image11.png"/><Relationship Id="rId12" Type="http://schemas.openxmlformats.org/officeDocument/2006/relationships/image" Target="../media/image2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.png"/><Relationship Id="rId4" Type="http://schemas.openxmlformats.org/officeDocument/2006/relationships/image" Target="../media/image215.png"/><Relationship Id="rId9" Type="http://schemas.openxmlformats.org/officeDocument/2006/relationships/image" Target="../media/image231.png"/><Relationship Id="rId5" Type="http://schemas.openxmlformats.org/officeDocument/2006/relationships/image" Target="../media/image219.png"/><Relationship Id="rId6" Type="http://schemas.openxmlformats.org/officeDocument/2006/relationships/image" Target="../media/image229.png"/><Relationship Id="rId7" Type="http://schemas.openxmlformats.org/officeDocument/2006/relationships/image" Target="../media/image118.png"/><Relationship Id="rId8" Type="http://schemas.openxmlformats.org/officeDocument/2006/relationships/image" Target="../media/image235.png"/></Relationships>
</file>

<file path=ppt/slides/_rels/slide5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1.png"/><Relationship Id="rId10" Type="http://schemas.openxmlformats.org/officeDocument/2006/relationships/image" Target="../media/image235.png"/><Relationship Id="rId13" Type="http://schemas.openxmlformats.org/officeDocument/2006/relationships/image" Target="../media/image11.png"/><Relationship Id="rId12" Type="http://schemas.openxmlformats.org/officeDocument/2006/relationships/image" Target="../media/image2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.png"/><Relationship Id="rId4" Type="http://schemas.openxmlformats.org/officeDocument/2006/relationships/image" Target="../media/image223.png"/><Relationship Id="rId9" Type="http://schemas.openxmlformats.org/officeDocument/2006/relationships/image" Target="../media/image138.png"/><Relationship Id="rId15" Type="http://schemas.openxmlformats.org/officeDocument/2006/relationships/image" Target="../media/image42.png"/><Relationship Id="rId14" Type="http://schemas.openxmlformats.org/officeDocument/2006/relationships/image" Target="../media/image6.png"/><Relationship Id="rId17" Type="http://schemas.openxmlformats.org/officeDocument/2006/relationships/image" Target="../media/image222.png"/><Relationship Id="rId16" Type="http://schemas.openxmlformats.org/officeDocument/2006/relationships/image" Target="../media/image104.png"/><Relationship Id="rId5" Type="http://schemas.openxmlformats.org/officeDocument/2006/relationships/image" Target="../media/image230.png"/><Relationship Id="rId6" Type="http://schemas.openxmlformats.org/officeDocument/2006/relationships/image" Target="../media/image252.png"/><Relationship Id="rId7" Type="http://schemas.openxmlformats.org/officeDocument/2006/relationships/image" Target="../media/image150.png"/><Relationship Id="rId8" Type="http://schemas.openxmlformats.org/officeDocument/2006/relationships/image" Target="../media/image148.png"/></Relationships>
</file>

<file path=ppt/slides/_rels/slide5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6.png"/><Relationship Id="rId10" Type="http://schemas.openxmlformats.org/officeDocument/2006/relationships/image" Target="../media/image235.png"/><Relationship Id="rId13" Type="http://schemas.openxmlformats.org/officeDocument/2006/relationships/image" Target="../media/image11.png"/><Relationship Id="rId12" Type="http://schemas.openxmlformats.org/officeDocument/2006/relationships/image" Target="../media/image2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.png"/><Relationship Id="rId4" Type="http://schemas.openxmlformats.org/officeDocument/2006/relationships/image" Target="../media/image237.png"/><Relationship Id="rId9" Type="http://schemas.openxmlformats.org/officeDocument/2006/relationships/image" Target="../media/image138.png"/><Relationship Id="rId15" Type="http://schemas.openxmlformats.org/officeDocument/2006/relationships/image" Target="../media/image6.png"/><Relationship Id="rId14" Type="http://schemas.openxmlformats.org/officeDocument/2006/relationships/image" Target="../media/image262.png"/><Relationship Id="rId17" Type="http://schemas.openxmlformats.org/officeDocument/2006/relationships/image" Target="../media/image42.png"/><Relationship Id="rId16" Type="http://schemas.openxmlformats.org/officeDocument/2006/relationships/image" Target="../media/image177.png"/><Relationship Id="rId5" Type="http://schemas.openxmlformats.org/officeDocument/2006/relationships/image" Target="../media/image238.png"/><Relationship Id="rId19" Type="http://schemas.openxmlformats.org/officeDocument/2006/relationships/image" Target="../media/image222.png"/><Relationship Id="rId6" Type="http://schemas.openxmlformats.org/officeDocument/2006/relationships/image" Target="../media/image240.png"/><Relationship Id="rId18" Type="http://schemas.openxmlformats.org/officeDocument/2006/relationships/image" Target="../media/image104.png"/><Relationship Id="rId7" Type="http://schemas.openxmlformats.org/officeDocument/2006/relationships/image" Target="../media/image229.png"/><Relationship Id="rId8" Type="http://schemas.openxmlformats.org/officeDocument/2006/relationships/image" Target="../media/image148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.png"/><Relationship Id="rId4" Type="http://schemas.openxmlformats.org/officeDocument/2006/relationships/image" Target="../media/image244.png"/><Relationship Id="rId5" Type="http://schemas.openxmlformats.org/officeDocument/2006/relationships/image" Target="../media/image251.png"/></Relationships>
</file>

<file path=ppt/slides/_rels/slide56.xml.rels><?xml version="1.0" encoding="UTF-8" standalone="yes"?><Relationships xmlns="http://schemas.openxmlformats.org/package/2006/relationships"><Relationship Id="rId10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.png"/><Relationship Id="rId4" Type="http://schemas.openxmlformats.org/officeDocument/2006/relationships/image" Target="../media/image250.png"/><Relationship Id="rId9" Type="http://schemas.openxmlformats.org/officeDocument/2006/relationships/image" Target="../media/image257.png"/><Relationship Id="rId5" Type="http://schemas.openxmlformats.org/officeDocument/2006/relationships/image" Target="../media/image92.png"/><Relationship Id="rId6" Type="http://schemas.openxmlformats.org/officeDocument/2006/relationships/image" Target="../media/image77.png"/><Relationship Id="rId7" Type="http://schemas.openxmlformats.org/officeDocument/2006/relationships/image" Target="../media/image263.png"/><Relationship Id="rId8" Type="http://schemas.openxmlformats.org/officeDocument/2006/relationships/image" Target="../media/image1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.png"/><Relationship Id="rId4" Type="http://schemas.openxmlformats.org/officeDocument/2006/relationships/image" Target="../media/image62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64.png"/><Relationship Id="rId4" Type="http://schemas.openxmlformats.org/officeDocument/2006/relationships/image" Target="../media/image249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.png"/><Relationship Id="rId4" Type="http://schemas.openxmlformats.org/officeDocument/2006/relationships/image" Target="../media/image226.png"/><Relationship Id="rId9" Type="http://schemas.openxmlformats.org/officeDocument/2006/relationships/image" Target="../media/image35.png"/><Relationship Id="rId5" Type="http://schemas.openxmlformats.org/officeDocument/2006/relationships/image" Target="../media/image261.png"/><Relationship Id="rId6" Type="http://schemas.openxmlformats.org/officeDocument/2006/relationships/image" Target="../media/image254.png"/><Relationship Id="rId7" Type="http://schemas.openxmlformats.org/officeDocument/2006/relationships/image" Target="../media/image27.png"/><Relationship Id="rId8" Type="http://schemas.openxmlformats.org/officeDocument/2006/relationships/image" Target="../media/image43.png"/></Relationships>
</file>

<file path=ppt/slides/_rels/slide60.xml.rels><?xml version="1.0" encoding="UTF-8" standalone="yes"?><Relationships xmlns="http://schemas.openxmlformats.org/package/2006/relationships"><Relationship Id="rId10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7.png"/><Relationship Id="rId4" Type="http://schemas.openxmlformats.org/officeDocument/2006/relationships/image" Target="../media/image208.png"/><Relationship Id="rId9" Type="http://schemas.openxmlformats.org/officeDocument/2006/relationships/image" Target="../media/image11.png"/><Relationship Id="rId5" Type="http://schemas.openxmlformats.org/officeDocument/2006/relationships/image" Target="../media/image103.png"/><Relationship Id="rId6" Type="http://schemas.openxmlformats.org/officeDocument/2006/relationships/image" Target="../media/image120.png"/><Relationship Id="rId7" Type="http://schemas.openxmlformats.org/officeDocument/2006/relationships/image" Target="../media/image214.png"/><Relationship Id="rId8" Type="http://schemas.openxmlformats.org/officeDocument/2006/relationships/image" Target="../media/image260.png"/></Relationships>
</file>

<file path=ppt/slides/_rels/slide6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9.png"/><Relationship Id="rId10" Type="http://schemas.openxmlformats.org/officeDocument/2006/relationships/image" Target="../media/image11.png"/><Relationship Id="rId13" Type="http://schemas.openxmlformats.org/officeDocument/2006/relationships/image" Target="../media/image271.png"/><Relationship Id="rId12" Type="http://schemas.openxmlformats.org/officeDocument/2006/relationships/image" Target="../media/image26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7.png"/><Relationship Id="rId4" Type="http://schemas.openxmlformats.org/officeDocument/2006/relationships/image" Target="../media/image136.png"/><Relationship Id="rId9" Type="http://schemas.openxmlformats.org/officeDocument/2006/relationships/image" Target="../media/image258.png"/><Relationship Id="rId5" Type="http://schemas.openxmlformats.org/officeDocument/2006/relationships/image" Target="../media/image256.png"/><Relationship Id="rId6" Type="http://schemas.openxmlformats.org/officeDocument/2006/relationships/image" Target="../media/image127.png"/><Relationship Id="rId7" Type="http://schemas.openxmlformats.org/officeDocument/2006/relationships/image" Target="../media/image118.png"/><Relationship Id="rId8" Type="http://schemas.openxmlformats.org/officeDocument/2006/relationships/image" Target="../media/image126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7.png"/><Relationship Id="rId4" Type="http://schemas.openxmlformats.org/officeDocument/2006/relationships/image" Target="../media/image62.png"/></Relationships>
</file>

<file path=ppt/slides/_rels/slide63.xml.rels><?xml version="1.0" encoding="UTF-8" standalone="yes"?><Relationships xmlns="http://schemas.openxmlformats.org/package/2006/relationships"><Relationship Id="rId10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7.png"/><Relationship Id="rId4" Type="http://schemas.openxmlformats.org/officeDocument/2006/relationships/image" Target="../media/image208.png"/><Relationship Id="rId9" Type="http://schemas.openxmlformats.org/officeDocument/2006/relationships/image" Target="../media/image11.png"/><Relationship Id="rId5" Type="http://schemas.openxmlformats.org/officeDocument/2006/relationships/image" Target="../media/image265.png"/><Relationship Id="rId6" Type="http://schemas.openxmlformats.org/officeDocument/2006/relationships/image" Target="../media/image272.png"/><Relationship Id="rId7" Type="http://schemas.openxmlformats.org/officeDocument/2006/relationships/image" Target="../media/image214.png"/><Relationship Id="rId8" Type="http://schemas.openxmlformats.org/officeDocument/2006/relationships/image" Target="../media/image269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4.png"/><Relationship Id="rId4" Type="http://schemas.openxmlformats.org/officeDocument/2006/relationships/image" Target="../media/image259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7.png"/><Relationship Id="rId4" Type="http://schemas.openxmlformats.org/officeDocument/2006/relationships/image" Target="../media/image267.png"/><Relationship Id="rId5" Type="http://schemas.openxmlformats.org/officeDocument/2006/relationships/image" Target="../media/image266.png"/><Relationship Id="rId6" Type="http://schemas.openxmlformats.org/officeDocument/2006/relationships/image" Target="../media/image27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6096000" cy="76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62000" y="2295673"/>
            <a:ext cx="4800600" cy="16341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Hawassa MESOB Reform Architecture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4082206"/>
            <a:ext cx="48006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Preliminary Cabinet Alignment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4752677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Cabinet-grade | Executive-minimalist | Content-heavy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6096000" y="0"/>
            <a:ext cx="6096000" cy="76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0" name="Google Shape;9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0"/>
            <a:ext cx="6096000" cy="765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323332"/>
            <a:ext cx="5143500" cy="142101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PURPOSE OF TODAY’S BRIEFING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1314450"/>
            <a:ext cx="10668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Preliminary Cabinet Alignment on Hawassa MESOB Reform Architecture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762000" y="2048916"/>
            <a:ext cx="5143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This session is intended to: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53275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1181100" y="2513707"/>
            <a:ext cx="4724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Present the structured reform architecture for the Hawassa MESOB One-Stop Service Center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27183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1181100" y="3252787"/>
            <a:ext cx="4724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Share institutional, operational, and governance preparations completed to date</a:t>
            </a:r>
            <a:endParaRPr/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01091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1181100" y="3991867"/>
            <a:ext cx="4724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Present lessons drawn from the Sidama Regional MESOB experience</a:t>
            </a:r>
            <a:endParaRPr/>
          </a:p>
        </p:txBody>
      </p:sp>
      <p:pic>
        <p:nvPicPr>
          <p:cNvPr descr="image.png" id="107" name="Google Shape;10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74999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1181100" y="4730948"/>
            <a:ext cx="4724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Outline phased service integration and a 90-day structured action plan</a:t>
            </a:r>
            <a:endParaRPr/>
          </a:p>
        </p:txBody>
      </p:sp>
      <p:pic>
        <p:nvPicPr>
          <p:cNvPr descr="image.png" id="109" name="Google Shape;10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548907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1181100" y="5470028"/>
            <a:ext cx="4724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Seek Cabinet alignment before formal activation and implementation sequencing</a:t>
            </a:r>
            <a:endParaRPr/>
          </a:p>
        </p:txBody>
      </p:sp>
      <p:pic>
        <p:nvPicPr>
          <p:cNvPr descr="image.png" id="111" name="Google Shape;11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8675" y="2599432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8675" y="3338512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9625" y="4077592"/>
            <a:ext cx="1714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8200" y="4816673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9625" y="5555753"/>
            <a:ext cx="1714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/>
        </p:nvSpPr>
        <p:spPr>
          <a:xfrm>
            <a:off x="6677025" y="3713857"/>
            <a:ext cx="43624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91B1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This is not a final approval request.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991B1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It is a structured alignment discussion.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843533"/>
            <a:ext cx="5143500" cy="43710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942802"/>
            <a:ext cx="5143500" cy="417239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762000" y="571500"/>
            <a:ext cx="11201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CURRENT ADMINISTRATIVE SERVICE LANDSCAPE IN HAWASSA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762000" y="1485900"/>
            <a:ext cx="71288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275" y="2138808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1057275" y="2900808"/>
            <a:ext cx="4780597" cy="427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Hawassa’s current service delivery environment is characterized by:</a:t>
            </a:r>
            <a:endParaRPr/>
          </a:p>
        </p:txBody>
      </p:sp>
      <p:pic>
        <p:nvPicPr>
          <p:cNvPr descr="image.png" id="128" name="Google Shape;12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2238077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6581775" y="3000077"/>
            <a:ext cx="478059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Operational consequences include: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581775" y="5271343"/>
            <a:ext cx="45529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9770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structural model itself — not individual performance — is the core constraint.</a:t>
            </a:r>
            <a:endParaRPr/>
          </a:p>
        </p:txBody>
      </p:sp>
      <p:pic>
        <p:nvPicPr>
          <p:cNvPr descr="image.png" id="131" name="Google Shape;13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95387" y="2291208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34175" y="239047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349999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1438275" y="3480941"/>
            <a:ext cx="24003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Bureau-centered service silos</a:t>
            </a:r>
            <a:endParaRPr/>
          </a:p>
        </p:txBody>
      </p:sp>
      <p:pic>
        <p:nvPicPr>
          <p:cNvPr descr="image.png" id="135" name="Google Shape;135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393814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1438275" y="3919091"/>
            <a:ext cx="25622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Fragmented citizen touchpoints</a:t>
            </a:r>
            <a:endParaRPr/>
          </a:p>
        </p:txBody>
      </p:sp>
      <p:pic>
        <p:nvPicPr>
          <p:cNvPr descr="image.png" id="137" name="Google Shape;137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437629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5"/>
          <p:cNvSpPr txBox="1"/>
          <p:nvPr/>
        </p:nvSpPr>
        <p:spPr>
          <a:xfrm>
            <a:off x="1438275" y="4357241"/>
            <a:ext cx="3600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Variable processing standards across offices</a:t>
            </a:r>
            <a:endParaRPr/>
          </a:p>
        </p:txBody>
      </p:sp>
      <p:pic>
        <p:nvPicPr>
          <p:cNvPr descr="image.png" id="139" name="Google Shape;139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57275" y="481444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 txBox="1"/>
          <p:nvPr/>
        </p:nvSpPr>
        <p:spPr>
          <a:xfrm>
            <a:off x="1438275" y="4795391"/>
            <a:ext cx="39243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Escalation pathways that are not formally defined</a:t>
            </a:r>
            <a:endParaRPr/>
          </a:p>
        </p:txBody>
      </p:sp>
      <p:pic>
        <p:nvPicPr>
          <p:cNvPr descr="image.png" id="141" name="Google Shape;141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525259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 txBox="1"/>
          <p:nvPr/>
        </p:nvSpPr>
        <p:spPr>
          <a:xfrm>
            <a:off x="1438275" y="5233541"/>
            <a:ext cx="3714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Limited visibility into service performance data</a:t>
            </a:r>
            <a:endParaRPr/>
          </a:p>
        </p:txBody>
      </p:sp>
      <p:pic>
        <p:nvPicPr>
          <p:cNvPr descr="image.png" id="143" name="Google Shape;143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569074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 txBox="1"/>
          <p:nvPr/>
        </p:nvSpPr>
        <p:spPr>
          <a:xfrm>
            <a:off x="1438275" y="5671691"/>
            <a:ext cx="34575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 physical movement burden on citizens</a:t>
            </a:r>
            <a:endParaRPr/>
          </a:p>
        </p:txBody>
      </p:sp>
      <p:pic>
        <p:nvPicPr>
          <p:cNvPr descr="image.png" id="145" name="Google Shape;145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81775" y="338539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5"/>
          <p:cNvSpPr txBox="1"/>
          <p:nvPr/>
        </p:nvSpPr>
        <p:spPr>
          <a:xfrm>
            <a:off x="6962775" y="3366343"/>
            <a:ext cx="147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Processing delays</a:t>
            </a:r>
            <a:endParaRPr/>
          </a:p>
        </p:txBody>
      </p:sp>
      <p:pic>
        <p:nvPicPr>
          <p:cNvPr descr="image.png" id="147" name="Google Shape;147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81775" y="382354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5"/>
          <p:cNvSpPr txBox="1"/>
          <p:nvPr/>
        </p:nvSpPr>
        <p:spPr>
          <a:xfrm>
            <a:off x="6962775" y="3804493"/>
            <a:ext cx="33909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Inconsistent documentation requirements</a:t>
            </a:r>
            <a:endParaRPr/>
          </a:p>
        </p:txBody>
      </p:sp>
      <p:pic>
        <p:nvPicPr>
          <p:cNvPr descr="image.png" id="149" name="Google Shape;149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81775" y="426169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5"/>
          <p:cNvSpPr txBox="1"/>
          <p:nvPr/>
        </p:nvSpPr>
        <p:spPr>
          <a:xfrm>
            <a:off x="6962775" y="4242643"/>
            <a:ext cx="16764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Escalation ambiguity</a:t>
            </a:r>
            <a:endParaRPr/>
          </a:p>
        </p:txBody>
      </p:sp>
      <p:pic>
        <p:nvPicPr>
          <p:cNvPr descr="image.png" id="151" name="Google Shape;151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81775" y="469984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5"/>
          <p:cNvSpPr txBox="1"/>
          <p:nvPr/>
        </p:nvSpPr>
        <p:spPr>
          <a:xfrm>
            <a:off x="6962775" y="4680793"/>
            <a:ext cx="21050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Reduced institutional trust</a:t>
            </a:r>
            <a:endParaRPr/>
          </a:p>
        </p:txBody>
      </p:sp>
      <p:pic>
        <p:nvPicPr>
          <p:cNvPr descr="image.png" id="153" name="Google Shape;153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38237" y="3566666"/>
            <a:ext cx="1047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38237" y="4004816"/>
            <a:ext cx="1047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38237" y="4442966"/>
            <a:ext cx="1047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38237" y="4881116"/>
            <a:ext cx="1047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38237" y="5319266"/>
            <a:ext cx="1047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38237" y="5757416"/>
            <a:ext cx="1047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48450" y="3452068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48450" y="3890218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48450" y="4328368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48450" y="4766518"/>
            <a:ext cx="13335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781175"/>
            <a:ext cx="10668000" cy="3552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619750"/>
            <a:ext cx="1066800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INSTITUTIONAL RISKS OF MAINTAINING STATUS QUO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762000" y="1314450"/>
            <a:ext cx="10668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If no structural reform is introduced, the following risks intensify:</a:t>
            </a:r>
            <a:endParaRPr/>
          </a:p>
        </p:txBody>
      </p:sp>
      <p:sp>
        <p:nvSpPr>
          <p:cNvPr id="172" name="Google Shape;172;p16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3" name="Google Shape;173;p16"/>
          <p:cNvGraphicFramePr/>
          <p:nvPr/>
        </p:nvGraphicFramePr>
        <p:xfrm>
          <a:off x="771525" y="17907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{205658A8-B75E-4893-B863-9B2F382446B2}</a:tableStyleId>
              </a:tblPr>
              <a:tblGrid>
                <a:gridCol w="4256325"/>
                <a:gridCol w="6392625"/>
              </a:tblGrid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Risk Category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Institutional Impact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Service Inconsistency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Unequal standards across bureaus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Accountability Gaps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Unclear responsibility during disputes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Escalation Confusion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Citizens lack defined resolution pathway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Performance Blind Spots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No consolidated data visibility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Reputational Risk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Perception of inefficiency persists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Reform Delay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Future integration becomes more difficult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4" name="Google Shape;174;p16"/>
          <p:cNvSpPr/>
          <p:nvPr/>
        </p:nvSpPr>
        <p:spPr>
          <a:xfrm>
            <a:off x="771525" y="2286000"/>
            <a:ext cx="425633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5027860" y="2286000"/>
            <a:ext cx="6392614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771525" y="2888902"/>
            <a:ext cx="425633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5027860" y="2888902"/>
            <a:ext cx="639261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771525" y="3477517"/>
            <a:ext cx="425633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5027860" y="3477517"/>
            <a:ext cx="639261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771525" y="4066133"/>
            <a:ext cx="425633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5027860" y="4066133"/>
            <a:ext cx="639261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771525" y="4654748"/>
            <a:ext cx="425633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5027860" y="4654748"/>
            <a:ext cx="639261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771525" y="5243363"/>
            <a:ext cx="425633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5027860" y="5243363"/>
            <a:ext cx="639261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 txBox="1"/>
          <p:nvPr/>
        </p:nvSpPr>
        <p:spPr>
          <a:xfrm>
            <a:off x="962025" y="5819775"/>
            <a:ext cx="10267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This reform is preventative as much as it is transformative.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163341"/>
            <a:ext cx="5143500" cy="174099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7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REFORM OBJECTIVE DEFINITION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762000" y="1314450"/>
            <a:ext cx="10668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Hawassa MESOB reform seeks to introduce:</a:t>
            </a:r>
            <a:endParaRPr/>
          </a:p>
        </p:txBody>
      </p:sp>
      <p:sp>
        <p:nvSpPr>
          <p:cNvPr id="195" name="Google Shape;195;p17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6" name="Google Shape;19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88892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7"/>
          <p:cNvSpPr txBox="1"/>
          <p:nvPr/>
        </p:nvSpPr>
        <p:spPr>
          <a:xfrm>
            <a:off x="1143000" y="1869876"/>
            <a:ext cx="4762500" cy="860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Structured Integration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Coordinated service access without dissolving bureau authority.</a:t>
            </a:r>
            <a:endParaRPr/>
          </a:p>
        </p:txBody>
      </p:sp>
      <p:pic>
        <p:nvPicPr>
          <p:cNvPr descr="image.png" id="198" name="Google Shape;19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290229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7"/>
          <p:cNvSpPr txBox="1"/>
          <p:nvPr/>
        </p:nvSpPr>
        <p:spPr>
          <a:xfrm>
            <a:off x="1143000" y="2883247"/>
            <a:ext cx="4762500" cy="860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Process Standardization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Defined service requirements, documented workflows, and measurable timelines.</a:t>
            </a:r>
            <a:endParaRPr/>
          </a:p>
        </p:txBody>
      </p:sp>
      <p:pic>
        <p:nvPicPr>
          <p:cNvPr descr="image.png" id="200" name="Google Shape;20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391566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7"/>
          <p:cNvSpPr txBox="1"/>
          <p:nvPr/>
        </p:nvSpPr>
        <p:spPr>
          <a:xfrm>
            <a:off x="1143000" y="3896617"/>
            <a:ext cx="32480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Escalation Clarity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Predictable dispute resolution hierarchy.</a:t>
            </a:r>
            <a:endParaRPr/>
          </a:p>
        </p:txBody>
      </p:sp>
      <p:pic>
        <p:nvPicPr>
          <p:cNvPr descr="image.png" id="202" name="Google Shape;20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465474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7"/>
          <p:cNvSpPr txBox="1"/>
          <p:nvPr/>
        </p:nvSpPr>
        <p:spPr>
          <a:xfrm>
            <a:off x="1143000" y="4635698"/>
            <a:ext cx="467677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Performance Visibility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Aggregated service data for monitoring and improvement.</a:t>
            </a:r>
            <a:endParaRPr/>
          </a:p>
        </p:txBody>
      </p:sp>
      <p:pic>
        <p:nvPicPr>
          <p:cNvPr descr="image.png" id="204" name="Google Shape;204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539382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7"/>
          <p:cNvSpPr txBox="1"/>
          <p:nvPr/>
        </p:nvSpPr>
        <p:spPr>
          <a:xfrm>
            <a:off x="1143000" y="5374778"/>
            <a:ext cx="4762500" cy="860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Citizen-Centered Access Model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Reduced movement burden and improved experience quality.</a:t>
            </a:r>
            <a:endParaRPr/>
          </a:p>
        </p:txBody>
      </p:sp>
      <p:sp>
        <p:nvSpPr>
          <p:cNvPr id="206" name="Google Shape;206;p17"/>
          <p:cNvSpPr txBox="1"/>
          <p:nvPr/>
        </p:nvSpPr>
        <p:spPr>
          <a:xfrm>
            <a:off x="6677025" y="3553866"/>
            <a:ext cx="436245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objective is institutional modernization — not structural disruption.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834306"/>
            <a:ext cx="5143500" cy="32809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834306"/>
            <a:ext cx="5143500" cy="328091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8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MESOB AS AN INSTITUTIONAL REFORM — NOT A PROJECT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762000" y="5920829"/>
            <a:ext cx="10668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Its purpose is structured coordination — not power redistribution.</a:t>
            </a: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7" name="Google Shape;21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275" y="2129581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8"/>
          <p:cNvSpPr txBox="1"/>
          <p:nvPr/>
        </p:nvSpPr>
        <p:spPr>
          <a:xfrm>
            <a:off x="1057275" y="2891581"/>
            <a:ext cx="478059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MESOB is designed to be:</a:t>
            </a:r>
            <a:endParaRPr/>
          </a:p>
        </p:txBody>
      </p:sp>
      <p:pic>
        <p:nvPicPr>
          <p:cNvPr descr="image.png" id="219" name="Google Shape;21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2129581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8"/>
          <p:cNvSpPr txBox="1"/>
          <p:nvPr/>
        </p:nvSpPr>
        <p:spPr>
          <a:xfrm>
            <a:off x="6581775" y="2891581"/>
            <a:ext cx="478059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MESOB is NOT:</a:t>
            </a:r>
            <a:endParaRPr/>
          </a:p>
        </p:txBody>
      </p:sp>
      <p:pic>
        <p:nvPicPr>
          <p:cNvPr descr="image.png" id="221" name="Google Shape;22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23962" y="2281981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62750" y="2281981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327689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8"/>
          <p:cNvSpPr txBox="1"/>
          <p:nvPr/>
        </p:nvSpPr>
        <p:spPr>
          <a:xfrm>
            <a:off x="1438275" y="3257847"/>
            <a:ext cx="3743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permanent city-level administrative structure</a:t>
            </a:r>
            <a:endParaRPr/>
          </a:p>
        </p:txBody>
      </p:sp>
      <p:pic>
        <p:nvPicPr>
          <p:cNvPr descr="image.png" id="225" name="Google Shape;225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371504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8"/>
          <p:cNvSpPr txBox="1"/>
          <p:nvPr/>
        </p:nvSpPr>
        <p:spPr>
          <a:xfrm>
            <a:off x="1438275" y="3695997"/>
            <a:ext cx="3810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governance-anchored coordination authority</a:t>
            </a:r>
            <a:endParaRPr/>
          </a:p>
        </p:txBody>
      </p:sp>
      <p:pic>
        <p:nvPicPr>
          <p:cNvPr descr="image.png" id="227" name="Google Shape;227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415319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8"/>
          <p:cNvSpPr txBox="1"/>
          <p:nvPr/>
        </p:nvSpPr>
        <p:spPr>
          <a:xfrm>
            <a:off x="1438275" y="4134147"/>
            <a:ext cx="38671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compliance-monitored integration framework</a:t>
            </a:r>
            <a:endParaRPr/>
          </a:p>
        </p:txBody>
      </p:sp>
      <p:pic>
        <p:nvPicPr>
          <p:cNvPr descr="image.png" id="229" name="Google Shape;229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57275" y="459134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8"/>
          <p:cNvSpPr txBox="1"/>
          <p:nvPr/>
        </p:nvSpPr>
        <p:spPr>
          <a:xfrm>
            <a:off x="1438275" y="4572297"/>
            <a:ext cx="3143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standardized service access platform</a:t>
            </a:r>
            <a:endParaRPr/>
          </a:p>
        </p:txBody>
      </p:sp>
      <p:pic>
        <p:nvPicPr>
          <p:cNvPr descr="image.png" id="231" name="Google Shape;231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81775" y="327689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8"/>
          <p:cNvSpPr txBox="1"/>
          <p:nvPr/>
        </p:nvSpPr>
        <p:spPr>
          <a:xfrm>
            <a:off x="6962775" y="3257847"/>
            <a:ext cx="2266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temporary reform initiative</a:t>
            </a:r>
            <a:endParaRPr/>
          </a:p>
        </p:txBody>
      </p:sp>
      <p:pic>
        <p:nvPicPr>
          <p:cNvPr descr="image.png" id="233" name="Google Shape;233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81775" y="371504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8"/>
          <p:cNvSpPr txBox="1"/>
          <p:nvPr/>
        </p:nvSpPr>
        <p:spPr>
          <a:xfrm>
            <a:off x="6962775" y="3695997"/>
            <a:ext cx="29432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parallel authority replacing bureaus</a:t>
            </a:r>
            <a:endParaRPr/>
          </a:p>
        </p:txBody>
      </p:sp>
      <p:pic>
        <p:nvPicPr>
          <p:cNvPr descr="image.png" id="235" name="Google Shape;235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81775" y="415319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8"/>
          <p:cNvSpPr txBox="1"/>
          <p:nvPr/>
        </p:nvSpPr>
        <p:spPr>
          <a:xfrm>
            <a:off x="6962775" y="4134147"/>
            <a:ext cx="2266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political showcase project</a:t>
            </a:r>
            <a:endParaRPr/>
          </a:p>
        </p:txBody>
      </p:sp>
      <p:pic>
        <p:nvPicPr>
          <p:cNvPr descr="image.png" id="237" name="Google Shape;237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581775" y="459134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8"/>
          <p:cNvSpPr txBox="1"/>
          <p:nvPr/>
        </p:nvSpPr>
        <p:spPr>
          <a:xfrm>
            <a:off x="6962775" y="4572297"/>
            <a:ext cx="4095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centralized decision-making override mechanism</a:t>
            </a:r>
            <a:endParaRPr/>
          </a:p>
        </p:txBody>
      </p:sp>
      <p:pic>
        <p:nvPicPr>
          <p:cNvPr descr="image.png" id="239" name="Google Shape;239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133475" y="334357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133475" y="378172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133475" y="421987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133475" y="465802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1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648450" y="3343572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1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648450" y="3781722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1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648450" y="4219872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1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648450" y="4658022"/>
            <a:ext cx="13335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314450"/>
            <a:ext cx="10668000" cy="3476476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9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MESOB IS — AND WHAT IT IS NOT</a:t>
            </a:r>
            <a:endParaRPr/>
          </a:p>
        </p:txBody>
      </p:sp>
      <p:sp>
        <p:nvSpPr>
          <p:cNvPr id="254" name="Google Shape;254;p19"/>
          <p:cNvSpPr txBox="1"/>
          <p:nvPr/>
        </p:nvSpPr>
        <p:spPr>
          <a:xfrm>
            <a:off x="762000" y="5076676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This distinction protects institutional balance and bureau mandates.</a:t>
            </a:r>
            <a:endParaRPr/>
          </a:p>
        </p:txBody>
      </p:sp>
      <p:sp>
        <p:nvSpPr>
          <p:cNvPr id="255" name="Google Shape;255;p19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6" name="Google Shape;256;p19"/>
          <p:cNvGraphicFramePr/>
          <p:nvPr/>
        </p:nvGraphicFramePr>
        <p:xfrm>
          <a:off x="771525" y="13239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{205658A8-B75E-4893-B863-9B2F382446B2}</a:tableStyleId>
              </a:tblPr>
              <a:tblGrid>
                <a:gridCol w="5500825"/>
                <a:gridCol w="5148125"/>
              </a:tblGrid>
              <a:tr h="5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596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MESOB IS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MESOB IS NOT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A service integration platform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A bureau replacement mechanism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A governance-coordinated structure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A centralized decision authority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A compliance-monitored environment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A voluntary participation framework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A performance-measured system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An informal coordination desk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A citizen access reform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A political visibility project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7" name="Google Shape;257;p19"/>
          <p:cNvSpPr/>
          <p:nvPr/>
        </p:nvSpPr>
        <p:spPr>
          <a:xfrm>
            <a:off x="771525" y="1819275"/>
            <a:ext cx="5500836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6272361" y="1819275"/>
            <a:ext cx="5148113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771525" y="2422177"/>
            <a:ext cx="550083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6272361" y="2422177"/>
            <a:ext cx="514811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771525" y="3010792"/>
            <a:ext cx="550083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6272361" y="3010792"/>
            <a:ext cx="514811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771525" y="3599408"/>
            <a:ext cx="550083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6272361" y="3599408"/>
            <a:ext cx="514811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771525" y="4188023"/>
            <a:ext cx="550083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6272361" y="4188023"/>
            <a:ext cx="514811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1" name="Google Shape;27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314450"/>
            <a:ext cx="5143500" cy="4015978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0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ALIGNMENT QUESTIONS FOR CABINET CONSIDERATION</a:t>
            </a:r>
            <a:endParaRPr/>
          </a:p>
        </p:txBody>
      </p:sp>
      <p:sp>
        <p:nvSpPr>
          <p:cNvPr id="274" name="Google Shape;274;p20"/>
          <p:cNvSpPr txBox="1"/>
          <p:nvPr/>
        </p:nvSpPr>
        <p:spPr>
          <a:xfrm>
            <a:off x="762000" y="5616178"/>
            <a:ext cx="10668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With alignment, the reform proceeds methodically.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Without alignment, structural ambiguity remains.</a:t>
            </a:r>
            <a:endParaRPr/>
          </a:p>
        </p:txBody>
      </p:sp>
      <p:sp>
        <p:nvSpPr>
          <p:cNvPr id="275" name="Google Shape;275;p20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0"/>
          <p:cNvSpPr txBox="1"/>
          <p:nvPr/>
        </p:nvSpPr>
        <p:spPr>
          <a:xfrm>
            <a:off x="762000" y="1958429"/>
            <a:ext cx="5143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 structured progression, Cabinet guidance is sought on:</a:t>
            </a:r>
            <a:endParaRPr/>
          </a:p>
        </p:txBody>
      </p:sp>
      <p:pic>
        <p:nvPicPr>
          <p:cNvPr descr="image.png" id="277" name="Google Shape;27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314450"/>
            <a:ext cx="5143500" cy="40159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2442269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0"/>
          <p:cNvSpPr txBox="1"/>
          <p:nvPr/>
        </p:nvSpPr>
        <p:spPr>
          <a:xfrm>
            <a:off x="1143000" y="2423219"/>
            <a:ext cx="4762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Confirmation of MESOB as a permanent institutional structure</a:t>
            </a:r>
            <a:endParaRPr/>
          </a:p>
        </p:txBody>
      </p:sp>
      <p:pic>
        <p:nvPicPr>
          <p:cNvPr descr="image.png" id="280" name="Google Shape;28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314325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0"/>
          <p:cNvSpPr txBox="1"/>
          <p:nvPr/>
        </p:nvSpPr>
        <p:spPr>
          <a:xfrm>
            <a:off x="1143000" y="3124200"/>
            <a:ext cx="4238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Agreement on phased, controlled service integration</a:t>
            </a:r>
            <a:endParaRPr/>
          </a:p>
        </p:txBody>
      </p:sp>
      <p:pic>
        <p:nvPicPr>
          <p:cNvPr descr="image.png" id="282" name="Google Shape;282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35814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0"/>
          <p:cNvSpPr txBox="1"/>
          <p:nvPr/>
        </p:nvSpPr>
        <p:spPr>
          <a:xfrm>
            <a:off x="1143000" y="3562350"/>
            <a:ext cx="45148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Executive-level endorsement of governance safeguards</a:t>
            </a:r>
            <a:endParaRPr/>
          </a:p>
        </p:txBody>
      </p:sp>
      <p:pic>
        <p:nvPicPr>
          <p:cNvPr descr="image.png" id="284" name="Google Shape;28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01955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0"/>
          <p:cNvSpPr txBox="1"/>
          <p:nvPr/>
        </p:nvSpPr>
        <p:spPr>
          <a:xfrm>
            <a:off x="1143000" y="4000500"/>
            <a:ext cx="4333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Confirmation of structured 90-day preparatory phase</a:t>
            </a:r>
            <a:endParaRPr/>
          </a:p>
        </p:txBody>
      </p:sp>
      <p:pic>
        <p:nvPicPr>
          <p:cNvPr descr="image.png" id="286" name="Google Shape;286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4577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0"/>
          <p:cNvSpPr txBox="1"/>
          <p:nvPr/>
        </p:nvSpPr>
        <p:spPr>
          <a:xfrm>
            <a:off x="1143000" y="4438650"/>
            <a:ext cx="4352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Alignment on cross-bureau participation expectations</a:t>
            </a:r>
            <a:endParaRPr/>
          </a:p>
        </p:txBody>
      </p:sp>
      <p:pic>
        <p:nvPicPr>
          <p:cNvPr descr="image.png" id="288" name="Google Shape;28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2487" y="2508944"/>
            <a:ext cx="857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2487" y="3209925"/>
            <a:ext cx="857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2487" y="3648075"/>
            <a:ext cx="857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2487" y="4086225"/>
            <a:ext cx="857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2487" y="4524375"/>
            <a:ext cx="85725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7" name="Google Shape;29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0" y="2250876"/>
            <a:ext cx="11430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1"/>
          <p:cNvSpPr txBox="1"/>
          <p:nvPr/>
        </p:nvSpPr>
        <p:spPr>
          <a:xfrm>
            <a:off x="495300" y="2822376"/>
            <a:ext cx="11201400" cy="12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Regional MESOB Findings &amp; Controlled Learning</a:t>
            </a:r>
            <a:endParaRPr/>
          </a:p>
        </p:txBody>
      </p:sp>
      <p:sp>
        <p:nvSpPr>
          <p:cNvPr id="300" name="Google Shape;300;p21"/>
          <p:cNvSpPr txBox="1"/>
          <p:nvPr/>
        </p:nvSpPr>
        <p:spPr>
          <a:xfrm>
            <a:off x="2605087" y="4292798"/>
            <a:ext cx="69818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Content-heavy. Analytical tone. No comparative superiority language.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5" name="Google Shape;30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633983"/>
            <a:ext cx="5143500" cy="34947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521767"/>
            <a:ext cx="5143500" cy="3719066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2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SIDAMA REGIONAL MESOB — STRUCTURAL OVERVIEW</a:t>
            </a:r>
            <a:endParaRPr/>
          </a:p>
        </p:txBody>
      </p:sp>
      <p:sp>
        <p:nvSpPr>
          <p:cNvPr id="309" name="Google Shape;309;p22"/>
          <p:cNvSpPr txBox="1"/>
          <p:nvPr/>
        </p:nvSpPr>
        <p:spPr>
          <a:xfrm>
            <a:off x="762000" y="5676900"/>
            <a:ext cx="10668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5966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model demonstrates accelerated administrative integration when politically supported and operationally coordinated.</a:t>
            </a:r>
            <a:endParaRPr/>
          </a:p>
        </p:txBody>
      </p:sp>
      <p:sp>
        <p:nvSpPr>
          <p:cNvPr id="310" name="Google Shape;310;p22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1" name="Google Shape;31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275" y="1929258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2"/>
          <p:cNvSpPr txBox="1"/>
          <p:nvPr/>
        </p:nvSpPr>
        <p:spPr>
          <a:xfrm>
            <a:off x="1057275" y="2691258"/>
            <a:ext cx="4780597" cy="427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Sidama Regional MESOB One-Stop Service Center was established as a:</a:t>
            </a:r>
            <a:endParaRPr/>
          </a:p>
        </p:txBody>
      </p:sp>
      <p:pic>
        <p:nvPicPr>
          <p:cNvPr descr="image.png" id="313" name="Google Shape;313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1817042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2"/>
          <p:cNvSpPr txBox="1"/>
          <p:nvPr/>
        </p:nvSpPr>
        <p:spPr>
          <a:xfrm>
            <a:off x="6581775" y="2579042"/>
            <a:ext cx="478059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structural characteristics observed:</a:t>
            </a:r>
            <a:endParaRPr/>
          </a:p>
        </p:txBody>
      </p:sp>
      <p:pic>
        <p:nvPicPr>
          <p:cNvPr descr="image.png" id="315" name="Google Shape;315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38250" y="2081658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34175" y="196944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329044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2"/>
          <p:cNvSpPr txBox="1"/>
          <p:nvPr/>
        </p:nvSpPr>
        <p:spPr>
          <a:xfrm>
            <a:off x="1438275" y="3271391"/>
            <a:ext cx="36480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Multi-institutional service integration platform</a:t>
            </a:r>
            <a:endParaRPr/>
          </a:p>
        </p:txBody>
      </p:sp>
      <p:pic>
        <p:nvPicPr>
          <p:cNvPr descr="image.png" id="319" name="Google Shape;319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372859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2"/>
          <p:cNvSpPr txBox="1"/>
          <p:nvPr/>
        </p:nvSpPr>
        <p:spPr>
          <a:xfrm>
            <a:off x="1438275" y="3709541"/>
            <a:ext cx="40290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Region-level administrative coordination structure</a:t>
            </a:r>
            <a:endParaRPr/>
          </a:p>
        </p:txBody>
      </p:sp>
      <p:pic>
        <p:nvPicPr>
          <p:cNvPr descr="image.png" id="321" name="Google Shape;321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416674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2"/>
          <p:cNvSpPr txBox="1"/>
          <p:nvPr/>
        </p:nvSpPr>
        <p:spPr>
          <a:xfrm>
            <a:off x="1438275" y="4147691"/>
            <a:ext cx="3124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Centralized citizen access environment</a:t>
            </a:r>
            <a:endParaRPr/>
          </a:p>
        </p:txBody>
      </p:sp>
      <p:pic>
        <p:nvPicPr>
          <p:cNvPr descr="image.png" id="323" name="Google Shape;323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57275" y="460489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2"/>
          <p:cNvSpPr txBox="1"/>
          <p:nvPr/>
        </p:nvSpPr>
        <p:spPr>
          <a:xfrm>
            <a:off x="1438275" y="4585841"/>
            <a:ext cx="29432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Performance-monitored service hub</a:t>
            </a:r>
            <a:endParaRPr/>
          </a:p>
        </p:txBody>
      </p:sp>
      <p:pic>
        <p:nvPicPr>
          <p:cNvPr descr="image.png" id="325" name="Google Shape;325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81775" y="296435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2"/>
          <p:cNvSpPr txBox="1"/>
          <p:nvPr/>
        </p:nvSpPr>
        <p:spPr>
          <a:xfrm>
            <a:off x="6962775" y="2945308"/>
            <a:ext cx="2743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Integration of 17 public institutions</a:t>
            </a:r>
            <a:endParaRPr/>
          </a:p>
        </p:txBody>
      </p:sp>
      <p:pic>
        <p:nvPicPr>
          <p:cNvPr descr="image.png" id="327" name="Google Shape;327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81775" y="340250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2"/>
          <p:cNvSpPr txBox="1"/>
          <p:nvPr/>
        </p:nvSpPr>
        <p:spPr>
          <a:xfrm>
            <a:off x="6962775" y="3383458"/>
            <a:ext cx="3600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Deployment of 74+ services within six months</a:t>
            </a:r>
            <a:endParaRPr/>
          </a:p>
        </p:txBody>
      </p:sp>
      <p:pic>
        <p:nvPicPr>
          <p:cNvPr descr="image.png" id="329" name="Google Shape;329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81775" y="384065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2"/>
          <p:cNvSpPr txBox="1"/>
          <p:nvPr/>
        </p:nvSpPr>
        <p:spPr>
          <a:xfrm>
            <a:off x="6962775" y="3821608"/>
            <a:ext cx="2905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Dedicated administrative leadership</a:t>
            </a:r>
            <a:endParaRPr/>
          </a:p>
        </p:txBody>
      </p:sp>
      <p:pic>
        <p:nvPicPr>
          <p:cNvPr descr="image.png" id="331" name="Google Shape;331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81775" y="427880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2"/>
          <p:cNvSpPr txBox="1"/>
          <p:nvPr/>
        </p:nvSpPr>
        <p:spPr>
          <a:xfrm>
            <a:off x="6962775" y="4259758"/>
            <a:ext cx="3124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Technology-supported service routing</a:t>
            </a:r>
            <a:endParaRPr/>
          </a:p>
        </p:txBody>
      </p:sp>
      <p:pic>
        <p:nvPicPr>
          <p:cNvPr descr="image.png" id="333" name="Google Shape;333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81775" y="471695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2"/>
          <p:cNvSpPr txBox="1"/>
          <p:nvPr/>
        </p:nvSpPr>
        <p:spPr>
          <a:xfrm>
            <a:off x="6962775" y="4697908"/>
            <a:ext cx="3000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On-site bureau representation model</a:t>
            </a:r>
            <a:endParaRPr/>
          </a:p>
        </p:txBody>
      </p:sp>
      <p:pic>
        <p:nvPicPr>
          <p:cNvPr descr="image.png" id="335" name="Google Shape;335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33475" y="3357116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33475" y="3795266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7" name="Google Shape;337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33475" y="4233416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33475" y="4671566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2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57975" y="3031033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2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57975" y="3469183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1" name="Google Shape;341;p2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57975" y="3907333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2" name="Google Shape;342;p2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57975" y="4345483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3" name="Google Shape;343;p2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57975" y="4783633"/>
            <a:ext cx="11430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8" name="Google Shape;34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9" name="Google Shape;34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245965"/>
            <a:ext cx="10668000" cy="3449984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3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INTEGRATION SCALE SNAPSHOT</a:t>
            </a:r>
            <a:endParaRPr/>
          </a:p>
        </p:txBody>
      </p:sp>
      <p:sp>
        <p:nvSpPr>
          <p:cNvPr id="351" name="Google Shape;351;p23"/>
          <p:cNvSpPr txBox="1"/>
          <p:nvPr/>
        </p:nvSpPr>
        <p:spPr>
          <a:xfrm>
            <a:off x="762000" y="1314450"/>
            <a:ext cx="10668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17 Organizations | 74+ Services | 6-Month Expansion</a:t>
            </a:r>
            <a:endParaRPr/>
          </a:p>
        </p:txBody>
      </p:sp>
      <p:sp>
        <p:nvSpPr>
          <p:cNvPr id="352" name="Google Shape;352;p23"/>
          <p:cNvSpPr txBox="1"/>
          <p:nvPr/>
        </p:nvSpPr>
        <p:spPr>
          <a:xfrm>
            <a:off x="762000" y="1781175"/>
            <a:ext cx="10668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Observed integration characteristics:</a:t>
            </a:r>
            <a:endParaRPr/>
          </a:p>
        </p:txBody>
      </p:sp>
      <p:sp>
        <p:nvSpPr>
          <p:cNvPr id="353" name="Google Shape;353;p23"/>
          <p:cNvSpPr txBox="1"/>
          <p:nvPr/>
        </p:nvSpPr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9770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acceleration demonstrates feasibility — but also introduces structural pressure points.</a:t>
            </a:r>
            <a:endParaRPr/>
          </a:p>
        </p:txBody>
      </p:sp>
      <p:sp>
        <p:nvSpPr>
          <p:cNvPr id="354" name="Google Shape;354;p23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5" name="Google Shape;355;p23"/>
          <p:cNvGraphicFramePr/>
          <p:nvPr/>
        </p:nvGraphicFramePr>
        <p:xfrm>
          <a:off x="771525" y="22554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{205658A8-B75E-4893-B863-9B2F382446B2}</a:tableStyleId>
              </a:tblPr>
              <a:tblGrid>
                <a:gridCol w="4011950"/>
                <a:gridCol w="6637000"/>
              </a:tblGrid>
              <a:tr h="5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Dimension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Observation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Institutional Participation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Broad cross-sector bureau inclusion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Service Coverage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High-volume citizen-facing services prioritized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Integration Speed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Rapid deployment under executive backing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Physical Setup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Centralized service counters with bureau desks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Public Visibility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High reform visibility in early phase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6" name="Google Shape;356;p23"/>
          <p:cNvSpPr/>
          <p:nvPr/>
        </p:nvSpPr>
        <p:spPr>
          <a:xfrm>
            <a:off x="771525" y="2750790"/>
            <a:ext cx="4011959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3"/>
          <p:cNvSpPr/>
          <p:nvPr/>
        </p:nvSpPr>
        <p:spPr>
          <a:xfrm>
            <a:off x="4783484" y="2750790"/>
            <a:ext cx="663699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3"/>
          <p:cNvSpPr/>
          <p:nvPr/>
        </p:nvSpPr>
        <p:spPr>
          <a:xfrm>
            <a:off x="771525" y="3353692"/>
            <a:ext cx="401195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3"/>
          <p:cNvSpPr/>
          <p:nvPr/>
        </p:nvSpPr>
        <p:spPr>
          <a:xfrm>
            <a:off x="4783484" y="3353692"/>
            <a:ext cx="663699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3"/>
          <p:cNvSpPr/>
          <p:nvPr/>
        </p:nvSpPr>
        <p:spPr>
          <a:xfrm>
            <a:off x="771525" y="3942308"/>
            <a:ext cx="401195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3"/>
          <p:cNvSpPr/>
          <p:nvPr/>
        </p:nvSpPr>
        <p:spPr>
          <a:xfrm>
            <a:off x="4783484" y="3942308"/>
            <a:ext cx="663699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3"/>
          <p:cNvSpPr/>
          <p:nvPr/>
        </p:nvSpPr>
        <p:spPr>
          <a:xfrm>
            <a:off x="771525" y="4530923"/>
            <a:ext cx="401195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3"/>
          <p:cNvSpPr/>
          <p:nvPr/>
        </p:nvSpPr>
        <p:spPr>
          <a:xfrm>
            <a:off x="4783484" y="4530923"/>
            <a:ext cx="663699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3"/>
          <p:cNvSpPr/>
          <p:nvPr/>
        </p:nvSpPr>
        <p:spPr>
          <a:xfrm>
            <a:off x="771525" y="5119538"/>
            <a:ext cx="401195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3"/>
          <p:cNvSpPr/>
          <p:nvPr/>
        </p:nvSpPr>
        <p:spPr>
          <a:xfrm>
            <a:off x="4783484" y="5119538"/>
            <a:ext cx="663699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0" name="Google Shape;37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1" name="Google Shape;37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929979"/>
            <a:ext cx="5143500" cy="1740991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4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OPERATIONAL STRENGTHS OBSERVED</a:t>
            </a:r>
            <a:endParaRPr/>
          </a:p>
        </p:txBody>
      </p:sp>
      <p:sp>
        <p:nvSpPr>
          <p:cNvPr id="373" name="Google Shape;373;p24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4"/>
          <p:cNvSpPr txBox="1"/>
          <p:nvPr/>
        </p:nvSpPr>
        <p:spPr>
          <a:xfrm>
            <a:off x="762000" y="2234505"/>
            <a:ext cx="5143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Strengths identified during engagement:</a:t>
            </a:r>
            <a:endParaRPr/>
          </a:p>
        </p:txBody>
      </p:sp>
      <p:pic>
        <p:nvPicPr>
          <p:cNvPr descr="image.png" id="375" name="Google Shape;37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71834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4"/>
          <p:cNvSpPr txBox="1"/>
          <p:nvPr/>
        </p:nvSpPr>
        <p:spPr>
          <a:xfrm>
            <a:off x="1181100" y="2699295"/>
            <a:ext cx="2409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Strong executive sponsorship</a:t>
            </a:r>
            <a:endParaRPr/>
          </a:p>
        </p:txBody>
      </p:sp>
      <p:pic>
        <p:nvPicPr>
          <p:cNvPr descr="image.png" id="377" name="Google Shape;37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19459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4"/>
          <p:cNvSpPr txBox="1"/>
          <p:nvPr/>
        </p:nvSpPr>
        <p:spPr>
          <a:xfrm>
            <a:off x="1181100" y="3175545"/>
            <a:ext cx="35337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Clear institutional ownership at regional level</a:t>
            </a:r>
            <a:endParaRPr/>
          </a:p>
        </p:txBody>
      </p:sp>
      <p:pic>
        <p:nvPicPr>
          <p:cNvPr descr="image.png" id="379" name="Google Shape;37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67084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4"/>
          <p:cNvSpPr txBox="1"/>
          <p:nvPr/>
        </p:nvSpPr>
        <p:spPr>
          <a:xfrm>
            <a:off x="1181100" y="3651795"/>
            <a:ext cx="2838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Visible citizen service consolidation</a:t>
            </a:r>
            <a:endParaRPr/>
          </a:p>
        </p:txBody>
      </p:sp>
      <p:pic>
        <p:nvPicPr>
          <p:cNvPr descr="image.png" id="381" name="Google Shape;38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14709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4"/>
          <p:cNvSpPr txBox="1"/>
          <p:nvPr/>
        </p:nvSpPr>
        <p:spPr>
          <a:xfrm>
            <a:off x="1181100" y="4128045"/>
            <a:ext cx="4695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Reduced inter-office movement for high-demand services</a:t>
            </a:r>
            <a:endParaRPr/>
          </a:p>
        </p:txBody>
      </p:sp>
      <p:pic>
        <p:nvPicPr>
          <p:cNvPr descr="image.png" id="383" name="Google Shape;383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62334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4"/>
          <p:cNvSpPr txBox="1"/>
          <p:nvPr/>
        </p:nvSpPr>
        <p:spPr>
          <a:xfrm>
            <a:off x="1181100" y="4604295"/>
            <a:ext cx="3000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Initial performance tracking discipline</a:t>
            </a:r>
            <a:endParaRPr/>
          </a:p>
        </p:txBody>
      </p:sp>
      <p:pic>
        <p:nvPicPr>
          <p:cNvPr descr="image.png" id="385" name="Google Shape;38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09959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24"/>
          <p:cNvSpPr txBox="1"/>
          <p:nvPr/>
        </p:nvSpPr>
        <p:spPr>
          <a:xfrm>
            <a:off x="1181100" y="5080545"/>
            <a:ext cx="23526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Public reform signaling effect</a:t>
            </a:r>
            <a:endParaRPr/>
          </a:p>
        </p:txBody>
      </p:sp>
      <p:pic>
        <p:nvPicPr>
          <p:cNvPr descr="image.png" id="387" name="Google Shape;387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2785020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8" name="Google Shape;388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3261270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9" name="Google Shape;389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3737520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0" name="Google Shape;390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4213770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1" name="Google Shape;391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4690020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2" name="Google Shape;392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5166270"/>
            <a:ext cx="1524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24"/>
          <p:cNvSpPr txBox="1"/>
          <p:nvPr/>
        </p:nvSpPr>
        <p:spPr>
          <a:xfrm>
            <a:off x="6677025" y="3320504"/>
            <a:ext cx="436245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Operational momentum was driven by political clarity and institutional commitment.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8" name="Google Shape;39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9" name="Google Shape;39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781175"/>
            <a:ext cx="10668000" cy="3476476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25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INSTITUTIONAL STRAINS OBSERVED</a:t>
            </a:r>
            <a:endParaRPr/>
          </a:p>
        </p:txBody>
      </p:sp>
      <p:sp>
        <p:nvSpPr>
          <p:cNvPr id="401" name="Google Shape;401;p25"/>
          <p:cNvSpPr txBox="1"/>
          <p:nvPr/>
        </p:nvSpPr>
        <p:spPr>
          <a:xfrm>
            <a:off x="762000" y="1314450"/>
            <a:ext cx="10668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Rapid integration also revealed structural strain areas:</a:t>
            </a:r>
            <a:endParaRPr/>
          </a:p>
        </p:txBody>
      </p:sp>
      <p:sp>
        <p:nvSpPr>
          <p:cNvPr id="402" name="Google Shape;402;p25"/>
          <p:cNvSpPr txBox="1"/>
          <p:nvPr/>
        </p:nvSpPr>
        <p:spPr>
          <a:xfrm>
            <a:off x="762000" y="5543401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C262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Acceleration requires institutional reinforcement to remain stable.</a:t>
            </a:r>
            <a:endParaRPr/>
          </a:p>
        </p:txBody>
      </p:sp>
      <p:sp>
        <p:nvSpPr>
          <p:cNvPr id="403" name="Google Shape;403;p25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4" name="Google Shape;404;p25"/>
          <p:cNvGraphicFramePr/>
          <p:nvPr/>
        </p:nvGraphicFramePr>
        <p:xfrm>
          <a:off x="771525" y="17907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{205658A8-B75E-4893-B863-9B2F382446B2}</a:tableStyleId>
              </a:tblPr>
              <a:tblGrid>
                <a:gridCol w="4334625"/>
                <a:gridCol w="6314325"/>
              </a:tblGrid>
              <a:tr h="5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Strain Area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Nature of Pressure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Capacity Load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High service volume pressure on counters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Bureau Adjustment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Adaptation to standardized processes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Role Ambiguity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Early-stage clarity gaps in escalation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Documentation Consistency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Service requirement harmonization challenges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Monitoring Maturity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Data consolidation still evolving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5" name="Google Shape;405;p25"/>
          <p:cNvSpPr/>
          <p:nvPr/>
        </p:nvSpPr>
        <p:spPr>
          <a:xfrm>
            <a:off x="771525" y="2286000"/>
            <a:ext cx="4334619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5"/>
          <p:cNvSpPr/>
          <p:nvPr/>
        </p:nvSpPr>
        <p:spPr>
          <a:xfrm>
            <a:off x="5106144" y="2286000"/>
            <a:ext cx="631433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5"/>
          <p:cNvSpPr/>
          <p:nvPr/>
        </p:nvSpPr>
        <p:spPr>
          <a:xfrm>
            <a:off x="771525" y="2888902"/>
            <a:ext cx="433461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5"/>
          <p:cNvSpPr/>
          <p:nvPr/>
        </p:nvSpPr>
        <p:spPr>
          <a:xfrm>
            <a:off x="5106144" y="2888902"/>
            <a:ext cx="631433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5"/>
          <p:cNvSpPr/>
          <p:nvPr/>
        </p:nvSpPr>
        <p:spPr>
          <a:xfrm>
            <a:off x="771525" y="3477517"/>
            <a:ext cx="433461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5"/>
          <p:cNvSpPr/>
          <p:nvPr/>
        </p:nvSpPr>
        <p:spPr>
          <a:xfrm>
            <a:off x="5106144" y="3477517"/>
            <a:ext cx="631433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5"/>
          <p:cNvSpPr/>
          <p:nvPr/>
        </p:nvSpPr>
        <p:spPr>
          <a:xfrm>
            <a:off x="771525" y="4066133"/>
            <a:ext cx="433461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5"/>
          <p:cNvSpPr/>
          <p:nvPr/>
        </p:nvSpPr>
        <p:spPr>
          <a:xfrm>
            <a:off x="5106144" y="4066133"/>
            <a:ext cx="631433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5"/>
          <p:cNvSpPr/>
          <p:nvPr/>
        </p:nvSpPr>
        <p:spPr>
          <a:xfrm>
            <a:off x="771525" y="4654748"/>
            <a:ext cx="433461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5"/>
          <p:cNvSpPr/>
          <p:nvPr/>
        </p:nvSpPr>
        <p:spPr>
          <a:xfrm>
            <a:off x="5106144" y="4654748"/>
            <a:ext cx="631433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9" name="Google Shape;41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0" name="Google Shape;42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817340"/>
            <a:ext cx="3352800" cy="19011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1" name="Google Shape;42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9600" y="1817340"/>
            <a:ext cx="3352800" cy="19011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2" name="Google Shape;422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77200" y="1817340"/>
            <a:ext cx="3352800" cy="19011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3" name="Google Shape;423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023270"/>
            <a:ext cx="3352800" cy="19011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4" name="Google Shape;424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19600" y="4023270"/>
            <a:ext cx="3352800" cy="19011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5" name="Google Shape;425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77200" y="4023270"/>
            <a:ext cx="3352800" cy="190113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26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GOVERNANCE LESSONS EXTRACTED</a:t>
            </a:r>
            <a:endParaRPr/>
          </a:p>
        </p:txBody>
      </p:sp>
      <p:sp>
        <p:nvSpPr>
          <p:cNvPr id="427" name="Google Shape;427;p26"/>
          <p:cNvSpPr txBox="1"/>
          <p:nvPr/>
        </p:nvSpPr>
        <p:spPr>
          <a:xfrm>
            <a:off x="762000" y="1314450"/>
            <a:ext cx="10668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From structured discussions with regional leadership and operational teams, key governance lessons include:</a:t>
            </a:r>
            <a:endParaRPr/>
          </a:p>
        </p:txBody>
      </p:sp>
      <p:sp>
        <p:nvSpPr>
          <p:cNvPr id="428" name="Google Shape;428;p26"/>
          <p:cNvSpPr txBox="1"/>
          <p:nvPr/>
        </p:nvSpPr>
        <p:spPr>
          <a:xfrm>
            <a:off x="762000" y="6153001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These lessons inform Hawassa’s controlled implementation model.</a:t>
            </a:r>
            <a:endParaRPr/>
          </a:p>
        </p:txBody>
      </p:sp>
      <p:sp>
        <p:nvSpPr>
          <p:cNvPr id="429" name="Google Shape;429;p26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30" name="Google Shape;430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211261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26"/>
          <p:cNvSpPr txBox="1"/>
          <p:nvPr/>
        </p:nvSpPr>
        <p:spPr>
          <a:xfrm>
            <a:off x="1057275" y="2874615"/>
            <a:ext cx="2762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Authority clarity must precede integration scale</a:t>
            </a:r>
            <a:endParaRPr/>
          </a:p>
        </p:txBody>
      </p:sp>
      <p:pic>
        <p:nvPicPr>
          <p:cNvPr descr="image.png" id="432" name="Google Shape;432;p2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14875" y="211261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26"/>
          <p:cNvSpPr txBox="1"/>
          <p:nvPr/>
        </p:nvSpPr>
        <p:spPr>
          <a:xfrm>
            <a:off x="4714875" y="2874615"/>
            <a:ext cx="2762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Bureau mandates must be formally protected</a:t>
            </a:r>
            <a:endParaRPr/>
          </a:p>
        </p:txBody>
      </p:sp>
      <p:pic>
        <p:nvPicPr>
          <p:cNvPr descr="image.png" id="434" name="Google Shape;434;p2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372475" y="211261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26"/>
          <p:cNvSpPr txBox="1"/>
          <p:nvPr/>
        </p:nvSpPr>
        <p:spPr>
          <a:xfrm>
            <a:off x="8372475" y="2874615"/>
            <a:ext cx="2762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Escalation pathways must be documented from day one</a:t>
            </a:r>
            <a:endParaRPr/>
          </a:p>
        </p:txBody>
      </p:sp>
      <p:pic>
        <p:nvPicPr>
          <p:cNvPr descr="image.png" id="436" name="Google Shape;436;p2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57275" y="431854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26"/>
          <p:cNvSpPr txBox="1"/>
          <p:nvPr/>
        </p:nvSpPr>
        <p:spPr>
          <a:xfrm>
            <a:off x="1057275" y="5080545"/>
            <a:ext cx="2762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Service definition standardization is critical before expansion</a:t>
            </a:r>
            <a:endParaRPr/>
          </a:p>
        </p:txBody>
      </p:sp>
      <p:pic>
        <p:nvPicPr>
          <p:cNvPr descr="image.png" id="438" name="Google Shape;438;p2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714875" y="431854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26"/>
          <p:cNvSpPr txBox="1"/>
          <p:nvPr/>
        </p:nvSpPr>
        <p:spPr>
          <a:xfrm>
            <a:off x="4714875" y="5080545"/>
            <a:ext cx="2762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Performance monitoring must be structured, not improvised</a:t>
            </a:r>
            <a:endParaRPr/>
          </a:p>
        </p:txBody>
      </p:sp>
      <p:pic>
        <p:nvPicPr>
          <p:cNvPr descr="image.png" id="440" name="Google Shape;440;p2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372475" y="431854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26"/>
          <p:cNvSpPr txBox="1"/>
          <p:nvPr/>
        </p:nvSpPr>
        <p:spPr>
          <a:xfrm>
            <a:off x="8372475" y="5080545"/>
            <a:ext cx="2762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Integration speed must align with institutional absorption capacity</a:t>
            </a:r>
            <a:endParaRPr/>
          </a:p>
        </p:txBody>
      </p:sp>
      <p:pic>
        <p:nvPicPr>
          <p:cNvPr descr="image.png" id="442" name="Google Shape;442;p2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181100" y="226501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3" name="Google Shape;443;p2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867275" y="226501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4" name="Google Shape;444;p2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510587" y="2265015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5" name="Google Shape;445;p2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238250" y="447094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6" name="Google Shape;446;p2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867275" y="447094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7" name="Google Shape;447;p2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524875" y="4470945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2" name="Google Shape;45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3" name="Google Shape;45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546621"/>
            <a:ext cx="5143500" cy="45075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4" name="Google Shape;45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089969"/>
            <a:ext cx="5143500" cy="142101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27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SERVICE SCALING LESSONS</a:t>
            </a:r>
            <a:endParaRPr/>
          </a:p>
        </p:txBody>
      </p:sp>
      <p:sp>
        <p:nvSpPr>
          <p:cNvPr id="456" name="Google Shape;456;p27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57" name="Google Shape;457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275" y="1841896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27"/>
          <p:cNvSpPr txBox="1"/>
          <p:nvPr/>
        </p:nvSpPr>
        <p:spPr>
          <a:xfrm>
            <a:off x="1057275" y="2603896"/>
            <a:ext cx="478059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Rapid service expansion demonstrated:</a:t>
            </a:r>
            <a:endParaRPr/>
          </a:p>
        </p:txBody>
      </p:sp>
      <p:pic>
        <p:nvPicPr>
          <p:cNvPr descr="image.png" id="459" name="Google Shape;459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95387" y="1994296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0" name="Google Shape;460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7275" y="298921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27"/>
          <p:cNvSpPr txBox="1"/>
          <p:nvPr/>
        </p:nvSpPr>
        <p:spPr>
          <a:xfrm>
            <a:off x="1438275" y="2970162"/>
            <a:ext cx="32480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Initial priority services create momentum</a:t>
            </a:r>
            <a:endParaRPr/>
          </a:p>
        </p:txBody>
      </p:sp>
      <p:pic>
        <p:nvPicPr>
          <p:cNvPr descr="image.png" id="462" name="Google Shape;462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7275" y="342736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27"/>
          <p:cNvSpPr txBox="1"/>
          <p:nvPr/>
        </p:nvSpPr>
        <p:spPr>
          <a:xfrm>
            <a:off x="1438275" y="3408312"/>
            <a:ext cx="26955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Early wins build public confidence</a:t>
            </a:r>
            <a:endParaRPr/>
          </a:p>
        </p:txBody>
      </p:sp>
      <p:pic>
        <p:nvPicPr>
          <p:cNvPr descr="image.png" id="464" name="Google Shape;464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7275" y="386551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7"/>
          <p:cNvSpPr txBox="1"/>
          <p:nvPr/>
        </p:nvSpPr>
        <p:spPr>
          <a:xfrm>
            <a:off x="1438275" y="3846462"/>
            <a:ext cx="41719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Overexpansion without capacity calibration risks performance decline</a:t>
            </a:r>
            <a:endParaRPr/>
          </a:p>
        </p:txBody>
      </p:sp>
      <p:pic>
        <p:nvPicPr>
          <p:cNvPr descr="image.png" id="466" name="Google Shape;466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456649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27"/>
          <p:cNvSpPr txBox="1"/>
          <p:nvPr/>
        </p:nvSpPr>
        <p:spPr>
          <a:xfrm>
            <a:off x="1438275" y="4547443"/>
            <a:ext cx="41719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Service identification must be criteria-based, not opportunistic</a:t>
            </a:r>
            <a:endParaRPr/>
          </a:p>
        </p:txBody>
      </p:sp>
      <p:pic>
        <p:nvPicPr>
          <p:cNvPr descr="image.png" id="468" name="Google Shape;468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526747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7"/>
          <p:cNvSpPr txBox="1"/>
          <p:nvPr/>
        </p:nvSpPr>
        <p:spPr>
          <a:xfrm>
            <a:off x="1438275" y="5248423"/>
            <a:ext cx="41719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Bureau consultation reduces post-integration resistance</a:t>
            </a:r>
            <a:endParaRPr/>
          </a:p>
        </p:txBody>
      </p:sp>
      <p:pic>
        <p:nvPicPr>
          <p:cNvPr descr="image.png" id="470" name="Google Shape;470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33475" y="3055887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1" name="Google Shape;471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33475" y="3494037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2" name="Google Shape;472;p2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38237" y="3932187"/>
            <a:ext cx="1047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3" name="Google Shape;473;p2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33475" y="463316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4" name="Google Shape;474;p2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33475" y="5334148"/>
            <a:ext cx="1143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27"/>
          <p:cNvSpPr txBox="1"/>
          <p:nvPr/>
        </p:nvSpPr>
        <p:spPr>
          <a:xfrm>
            <a:off x="6677025" y="3480494"/>
            <a:ext cx="43624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Scaling must be phased and structurally sequenced.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80" name="Google Shape;48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1" name="Google Shape;48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781175"/>
            <a:ext cx="5143500" cy="3971925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28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HAWASSA WILL ADOPT</a:t>
            </a:r>
            <a:endParaRPr/>
          </a:p>
        </p:txBody>
      </p:sp>
      <p:sp>
        <p:nvSpPr>
          <p:cNvPr id="483" name="Google Shape;483;p28"/>
          <p:cNvSpPr txBox="1"/>
          <p:nvPr/>
        </p:nvSpPr>
        <p:spPr>
          <a:xfrm>
            <a:off x="762000" y="1314450"/>
            <a:ext cx="10668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Based on observed strengths, Hawassa proposes to adopt:</a:t>
            </a:r>
            <a:endParaRPr/>
          </a:p>
        </p:txBody>
      </p:sp>
      <p:sp>
        <p:nvSpPr>
          <p:cNvPr id="484" name="Google Shape;484;p28"/>
          <p:cNvSpPr txBox="1"/>
          <p:nvPr/>
        </p:nvSpPr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5966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Adoption will be calibrated — not accelerated beyond institutional readiness.</a:t>
            </a:r>
            <a:endParaRPr/>
          </a:p>
        </p:txBody>
      </p:sp>
      <p:sp>
        <p:nvSpPr>
          <p:cNvPr id="485" name="Google Shape;485;p28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86" name="Google Shape;486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781175"/>
            <a:ext cx="33242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7" name="Google Shape;487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245268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28"/>
          <p:cNvSpPr txBox="1"/>
          <p:nvPr/>
        </p:nvSpPr>
        <p:spPr>
          <a:xfrm>
            <a:off x="1181100" y="2433637"/>
            <a:ext cx="30099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Strong executive oversight anchoring</a:t>
            </a:r>
            <a:endParaRPr/>
          </a:p>
        </p:txBody>
      </p:sp>
      <p:pic>
        <p:nvPicPr>
          <p:cNvPr descr="image.png" id="489" name="Google Shape;489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292893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28"/>
          <p:cNvSpPr txBox="1"/>
          <p:nvPr/>
        </p:nvSpPr>
        <p:spPr>
          <a:xfrm>
            <a:off x="1181100" y="2909887"/>
            <a:ext cx="31527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Clearly assigned institutional ownership</a:t>
            </a:r>
            <a:endParaRPr/>
          </a:p>
        </p:txBody>
      </p:sp>
      <p:pic>
        <p:nvPicPr>
          <p:cNvPr descr="image.png" id="491" name="Google Shape;491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40518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28"/>
          <p:cNvSpPr txBox="1"/>
          <p:nvPr/>
        </p:nvSpPr>
        <p:spPr>
          <a:xfrm>
            <a:off x="1181100" y="3386137"/>
            <a:ext cx="3086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Structured bureau participation model</a:t>
            </a:r>
            <a:endParaRPr/>
          </a:p>
        </p:txBody>
      </p:sp>
      <p:pic>
        <p:nvPicPr>
          <p:cNvPr descr="image.png" id="493" name="Google Shape;493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88143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28"/>
          <p:cNvSpPr txBox="1"/>
          <p:nvPr/>
        </p:nvSpPr>
        <p:spPr>
          <a:xfrm>
            <a:off x="1181100" y="3862387"/>
            <a:ext cx="3362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Early prioritization of high-impact services</a:t>
            </a:r>
            <a:endParaRPr/>
          </a:p>
        </p:txBody>
      </p:sp>
      <p:pic>
        <p:nvPicPr>
          <p:cNvPr descr="image.png" id="495" name="Google Shape;495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35768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28"/>
          <p:cNvSpPr txBox="1"/>
          <p:nvPr/>
        </p:nvSpPr>
        <p:spPr>
          <a:xfrm>
            <a:off x="1181100" y="4338637"/>
            <a:ext cx="3219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Standardized counter operations model</a:t>
            </a:r>
            <a:endParaRPr/>
          </a:p>
        </p:txBody>
      </p:sp>
      <p:pic>
        <p:nvPicPr>
          <p:cNvPr descr="image.png" id="497" name="Google Shape;497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83393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28"/>
          <p:cNvSpPr txBox="1"/>
          <p:nvPr/>
        </p:nvSpPr>
        <p:spPr>
          <a:xfrm>
            <a:off x="1181100" y="4814887"/>
            <a:ext cx="3590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Formal performance monitoring mechanisms</a:t>
            </a:r>
            <a:endParaRPr/>
          </a:p>
        </p:txBody>
      </p:sp>
      <p:pic>
        <p:nvPicPr>
          <p:cNvPr descr="image.png" id="499" name="Google Shape;499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8675" y="2519362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0" name="Google Shape;500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8675" y="2995612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1" name="Google Shape;501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8675" y="3471862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2" name="Google Shape;502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8675" y="3948112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3" name="Google Shape;503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8675" y="4424362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4" name="Google Shape;504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8675" y="4900612"/>
            <a:ext cx="13335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09" name="Google Shape;50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0" name="Google Shape;51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781175"/>
            <a:ext cx="10668000" cy="3914775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29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HAWASSA WILL MODIFY OR AVOID</a:t>
            </a:r>
            <a:endParaRPr/>
          </a:p>
        </p:txBody>
      </p:sp>
      <p:sp>
        <p:nvSpPr>
          <p:cNvPr id="512" name="Google Shape;512;p29"/>
          <p:cNvSpPr txBox="1"/>
          <p:nvPr/>
        </p:nvSpPr>
        <p:spPr>
          <a:xfrm>
            <a:off x="762000" y="1314450"/>
            <a:ext cx="10668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To ensure stability, Hawassa proposes:</a:t>
            </a:r>
            <a:endParaRPr/>
          </a:p>
        </p:txBody>
      </p:sp>
      <p:sp>
        <p:nvSpPr>
          <p:cNvPr id="513" name="Google Shape;513;p29"/>
          <p:cNvSpPr txBox="1"/>
          <p:nvPr/>
        </p:nvSpPr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Hawassa’s model will be structured expansion — not rapid accumulation.</a:t>
            </a:r>
            <a:endParaRPr/>
          </a:p>
        </p:txBody>
      </p:sp>
      <p:sp>
        <p:nvSpPr>
          <p:cNvPr id="514" name="Google Shape;514;p29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5" name="Google Shape;515;p29"/>
          <p:cNvGraphicFramePr/>
          <p:nvPr/>
        </p:nvGraphicFramePr>
        <p:xfrm>
          <a:off x="771525" y="17907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{205658A8-B75E-4893-B863-9B2F382446B2}</a:tableStyleId>
              </a:tblPr>
              <a:tblGrid>
                <a:gridCol w="3892750"/>
                <a:gridCol w="6756200"/>
              </a:tblGrid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Area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Hawassa Adjustment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Integration Speed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Phased, not compressed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Service Definition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Standardization before activation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Escalation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Pre-documented protocols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Bureau Resistance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Early consultation &amp; clarity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Capacity Load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Volume calibration before expansion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Monitoring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Data system prepared before scaling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16" name="Google Shape;516;p29"/>
          <p:cNvSpPr/>
          <p:nvPr/>
        </p:nvSpPr>
        <p:spPr>
          <a:xfrm>
            <a:off x="771525" y="2286000"/>
            <a:ext cx="3892748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9"/>
          <p:cNvSpPr/>
          <p:nvPr/>
        </p:nvSpPr>
        <p:spPr>
          <a:xfrm>
            <a:off x="4664273" y="2286000"/>
            <a:ext cx="6756201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9"/>
          <p:cNvSpPr/>
          <p:nvPr/>
        </p:nvSpPr>
        <p:spPr>
          <a:xfrm>
            <a:off x="771525" y="2888902"/>
            <a:ext cx="389274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9"/>
          <p:cNvSpPr/>
          <p:nvPr/>
        </p:nvSpPr>
        <p:spPr>
          <a:xfrm>
            <a:off x="4664273" y="2888902"/>
            <a:ext cx="675620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9"/>
          <p:cNvSpPr/>
          <p:nvPr/>
        </p:nvSpPr>
        <p:spPr>
          <a:xfrm>
            <a:off x="771525" y="3477517"/>
            <a:ext cx="389274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9"/>
          <p:cNvSpPr/>
          <p:nvPr/>
        </p:nvSpPr>
        <p:spPr>
          <a:xfrm>
            <a:off x="4664273" y="3477517"/>
            <a:ext cx="675620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9"/>
          <p:cNvSpPr/>
          <p:nvPr/>
        </p:nvSpPr>
        <p:spPr>
          <a:xfrm>
            <a:off x="771525" y="4066133"/>
            <a:ext cx="389274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9"/>
          <p:cNvSpPr/>
          <p:nvPr/>
        </p:nvSpPr>
        <p:spPr>
          <a:xfrm>
            <a:off x="4664273" y="4066133"/>
            <a:ext cx="675620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9"/>
          <p:cNvSpPr/>
          <p:nvPr/>
        </p:nvSpPr>
        <p:spPr>
          <a:xfrm>
            <a:off x="771525" y="4654748"/>
            <a:ext cx="389274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9"/>
          <p:cNvSpPr/>
          <p:nvPr/>
        </p:nvSpPr>
        <p:spPr>
          <a:xfrm>
            <a:off x="4664273" y="4654748"/>
            <a:ext cx="675620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9"/>
          <p:cNvSpPr/>
          <p:nvPr/>
        </p:nvSpPr>
        <p:spPr>
          <a:xfrm>
            <a:off x="771525" y="5243363"/>
            <a:ext cx="389274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9"/>
          <p:cNvSpPr/>
          <p:nvPr/>
        </p:nvSpPr>
        <p:spPr>
          <a:xfrm>
            <a:off x="4664273" y="5243363"/>
            <a:ext cx="675620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32" name="Google Shape;53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3" name="Google Shape;53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98752" y="2570857"/>
            <a:ext cx="1194494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30"/>
          <p:cNvSpPr txBox="1"/>
          <p:nvPr/>
        </p:nvSpPr>
        <p:spPr>
          <a:xfrm>
            <a:off x="952700" y="3142357"/>
            <a:ext cx="10286598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Hawassa Governance &amp; Authority Model</a:t>
            </a:r>
            <a:endParaRPr/>
          </a:p>
        </p:txBody>
      </p:sp>
      <p:sp>
        <p:nvSpPr>
          <p:cNvPr id="535" name="Google Shape;535;p30"/>
          <p:cNvSpPr txBox="1"/>
          <p:nvPr/>
        </p:nvSpPr>
        <p:spPr>
          <a:xfrm>
            <a:off x="2786062" y="3972817"/>
            <a:ext cx="66198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Content-heavy. Authority-focused. Institutional reassurance tone.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40" name="Google Shape;54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1" name="Google Shape;54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415206"/>
            <a:ext cx="5143500" cy="4770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2" name="Google Shape;542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390775"/>
            <a:ext cx="5143500" cy="131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3" name="Google Shape;543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895725"/>
            <a:ext cx="5143500" cy="131445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31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LEGAL &amp; INSTITUTIONAL POSITIONING</a:t>
            </a:r>
            <a:endParaRPr/>
          </a:p>
        </p:txBody>
      </p:sp>
      <p:sp>
        <p:nvSpPr>
          <p:cNvPr id="545" name="Google Shape;545;p31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46" name="Google Shape;546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1710481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31"/>
          <p:cNvSpPr txBox="1"/>
          <p:nvPr/>
        </p:nvSpPr>
        <p:spPr>
          <a:xfrm>
            <a:off x="1057275" y="2472481"/>
            <a:ext cx="478059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Hawassa MESOB is proposed as:</a:t>
            </a:r>
            <a:endParaRPr/>
          </a:p>
        </p:txBody>
      </p:sp>
      <p:pic>
        <p:nvPicPr>
          <p:cNvPr descr="image.png" id="548" name="Google Shape;548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09675" y="1862881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9" name="Google Shape;549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285779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31"/>
          <p:cNvSpPr txBox="1"/>
          <p:nvPr/>
        </p:nvSpPr>
        <p:spPr>
          <a:xfrm>
            <a:off x="1438275" y="2838747"/>
            <a:ext cx="41719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formally recognized city-level administrative integration structure</a:t>
            </a:r>
            <a:endParaRPr/>
          </a:p>
        </p:txBody>
      </p:sp>
      <p:pic>
        <p:nvPicPr>
          <p:cNvPr descr="image.png" id="551" name="Google Shape;551;p3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355877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31"/>
          <p:cNvSpPr txBox="1"/>
          <p:nvPr/>
        </p:nvSpPr>
        <p:spPr>
          <a:xfrm>
            <a:off x="1438275" y="3539728"/>
            <a:ext cx="41719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Anchored under executive oversight of the City Administration</a:t>
            </a:r>
            <a:endParaRPr/>
          </a:p>
        </p:txBody>
      </p:sp>
      <p:pic>
        <p:nvPicPr>
          <p:cNvPr descr="image.png" id="553" name="Google Shape;553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425975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31"/>
          <p:cNvSpPr txBox="1"/>
          <p:nvPr/>
        </p:nvSpPr>
        <p:spPr>
          <a:xfrm>
            <a:off x="1438275" y="4240708"/>
            <a:ext cx="41719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Mandated to coordinate — not replace — bureau service delivery</a:t>
            </a:r>
            <a:endParaRPr/>
          </a:p>
        </p:txBody>
      </p:sp>
      <p:pic>
        <p:nvPicPr>
          <p:cNvPr descr="image.png" id="555" name="Google Shape;555;p3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4960739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31"/>
          <p:cNvSpPr txBox="1"/>
          <p:nvPr/>
        </p:nvSpPr>
        <p:spPr>
          <a:xfrm>
            <a:off x="1438275" y="4941689"/>
            <a:ext cx="41719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Empowered to enforce service standards and escalation protocols</a:t>
            </a:r>
            <a:endParaRPr/>
          </a:p>
        </p:txBody>
      </p:sp>
      <p:pic>
        <p:nvPicPr>
          <p:cNvPr descr="image.png" id="557" name="Google Shape;557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5661719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31"/>
          <p:cNvSpPr txBox="1"/>
          <p:nvPr/>
        </p:nvSpPr>
        <p:spPr>
          <a:xfrm>
            <a:off x="1438275" y="5642669"/>
            <a:ext cx="41529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Governed through documented institutional charter</a:t>
            </a:r>
            <a:endParaRPr/>
          </a:p>
        </p:txBody>
      </p:sp>
      <p:pic>
        <p:nvPicPr>
          <p:cNvPr descr="image.png" id="559" name="Google Shape;559;p3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33475" y="292447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0" name="Google Shape;560;p3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33475" y="3625453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1" name="Google Shape;561;p3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33475" y="4326433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2" name="Google Shape;562;p3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33475" y="5027414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3" name="Google Shape;563;p3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33475" y="5728394"/>
            <a:ext cx="1143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31"/>
          <p:cNvSpPr txBox="1"/>
          <p:nvPr/>
        </p:nvSpPr>
        <p:spPr>
          <a:xfrm>
            <a:off x="6677025" y="2781300"/>
            <a:ext cx="4362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Institutional clarity precedes operational activation.</a:t>
            </a:r>
            <a:endParaRPr/>
          </a:p>
        </p:txBody>
      </p:sp>
      <p:sp>
        <p:nvSpPr>
          <p:cNvPr id="565" name="Google Shape;565;p31"/>
          <p:cNvSpPr txBox="1"/>
          <p:nvPr/>
        </p:nvSpPr>
        <p:spPr>
          <a:xfrm>
            <a:off x="6677025" y="4286250"/>
            <a:ext cx="4362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MESOB is positioned as a governance structure — not an informal coordination desk.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70" name="Google Shape;57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71" name="Google Shape;57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507480"/>
            <a:ext cx="5143500" cy="40524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72" name="Google Shape;572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761827"/>
            <a:ext cx="5143500" cy="3543746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32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EXECUTIVE OVERSIGHT STRUCTURE</a:t>
            </a:r>
            <a:endParaRPr/>
          </a:p>
        </p:txBody>
      </p:sp>
      <p:sp>
        <p:nvSpPr>
          <p:cNvPr id="574" name="Google Shape;574;p32"/>
          <p:cNvSpPr txBox="1"/>
          <p:nvPr/>
        </p:nvSpPr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Oversight ensures authority discipline — without operational micromanagement.</a:t>
            </a:r>
            <a:endParaRPr/>
          </a:p>
        </p:txBody>
      </p:sp>
      <p:sp>
        <p:nvSpPr>
          <p:cNvPr id="575" name="Google Shape;575;p32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76" name="Google Shape;576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275" y="180275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32"/>
          <p:cNvSpPr txBox="1"/>
          <p:nvPr/>
        </p:nvSpPr>
        <p:spPr>
          <a:xfrm>
            <a:off x="1057275" y="2564755"/>
            <a:ext cx="478059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Proposed oversight hierarchy:</a:t>
            </a:r>
            <a:endParaRPr/>
          </a:p>
        </p:txBody>
      </p:sp>
      <p:pic>
        <p:nvPicPr>
          <p:cNvPr descr="image.png" id="578" name="Google Shape;578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2057102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32"/>
          <p:cNvSpPr txBox="1"/>
          <p:nvPr/>
        </p:nvSpPr>
        <p:spPr>
          <a:xfrm>
            <a:off x="6581775" y="2819102"/>
            <a:ext cx="478059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Executive Oversight Role:</a:t>
            </a:r>
            <a:endParaRPr/>
          </a:p>
        </p:txBody>
      </p:sp>
      <p:pic>
        <p:nvPicPr>
          <p:cNvPr descr="image.png" id="580" name="Google Shape;580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95387" y="1955155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32"/>
          <p:cNvSpPr txBox="1"/>
          <p:nvPr/>
        </p:nvSpPr>
        <p:spPr>
          <a:xfrm>
            <a:off x="1057275" y="3121521"/>
            <a:ext cx="45529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Mayor / City Executive Leadership</a:t>
            </a:r>
            <a:endParaRPr/>
          </a:p>
        </p:txBody>
      </p:sp>
      <p:sp>
        <p:nvSpPr>
          <p:cNvPr id="582" name="Google Shape;582;p32"/>
          <p:cNvSpPr txBox="1"/>
          <p:nvPr/>
        </p:nvSpPr>
        <p:spPr>
          <a:xfrm>
            <a:off x="1057275" y="3359646"/>
            <a:ext cx="45529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↓</a:t>
            </a:r>
            <a:endParaRPr/>
          </a:p>
        </p:txBody>
      </p:sp>
      <p:sp>
        <p:nvSpPr>
          <p:cNvPr id="583" name="Google Shape;583;p32"/>
          <p:cNvSpPr txBox="1"/>
          <p:nvPr/>
        </p:nvSpPr>
        <p:spPr>
          <a:xfrm>
            <a:off x="1057275" y="3597771"/>
            <a:ext cx="45529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Designated Executive Oversight Authority</a:t>
            </a:r>
            <a:endParaRPr/>
          </a:p>
        </p:txBody>
      </p:sp>
      <p:sp>
        <p:nvSpPr>
          <p:cNvPr id="584" name="Google Shape;584;p32"/>
          <p:cNvSpPr txBox="1"/>
          <p:nvPr/>
        </p:nvSpPr>
        <p:spPr>
          <a:xfrm>
            <a:off x="1057275" y="3835896"/>
            <a:ext cx="45529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↓</a:t>
            </a:r>
            <a:endParaRPr/>
          </a:p>
        </p:txBody>
      </p:sp>
      <p:sp>
        <p:nvSpPr>
          <p:cNvPr id="585" name="Google Shape;585;p32"/>
          <p:cNvSpPr txBox="1"/>
          <p:nvPr/>
        </p:nvSpPr>
        <p:spPr>
          <a:xfrm>
            <a:off x="1057275" y="4074021"/>
            <a:ext cx="45529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MESOB Director</a:t>
            </a:r>
            <a:endParaRPr/>
          </a:p>
        </p:txBody>
      </p:sp>
      <p:sp>
        <p:nvSpPr>
          <p:cNvPr id="586" name="Google Shape;586;p32"/>
          <p:cNvSpPr txBox="1"/>
          <p:nvPr/>
        </p:nvSpPr>
        <p:spPr>
          <a:xfrm>
            <a:off x="1057275" y="4312146"/>
            <a:ext cx="45529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↓</a:t>
            </a:r>
            <a:endParaRPr/>
          </a:p>
        </p:txBody>
      </p:sp>
      <p:sp>
        <p:nvSpPr>
          <p:cNvPr id="587" name="Google Shape;587;p32"/>
          <p:cNvSpPr txBox="1"/>
          <p:nvPr/>
        </p:nvSpPr>
        <p:spPr>
          <a:xfrm>
            <a:off x="1057275" y="4550271"/>
            <a:ext cx="45529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Operational &amp; Integration Units</a:t>
            </a:r>
            <a:endParaRPr/>
          </a:p>
        </p:txBody>
      </p:sp>
      <p:sp>
        <p:nvSpPr>
          <p:cNvPr id="588" name="Google Shape;588;p32"/>
          <p:cNvSpPr txBox="1"/>
          <p:nvPr/>
        </p:nvSpPr>
        <p:spPr>
          <a:xfrm>
            <a:off x="1057275" y="4788396"/>
            <a:ext cx="45529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↓</a:t>
            </a:r>
            <a:endParaRPr/>
          </a:p>
        </p:txBody>
      </p:sp>
      <p:sp>
        <p:nvSpPr>
          <p:cNvPr id="589" name="Google Shape;589;p32"/>
          <p:cNvSpPr txBox="1"/>
          <p:nvPr/>
        </p:nvSpPr>
        <p:spPr>
          <a:xfrm>
            <a:off x="1057275" y="5026521"/>
            <a:ext cx="45529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Bureau Focal Points</a:t>
            </a:r>
            <a:endParaRPr/>
          </a:p>
        </p:txBody>
      </p:sp>
      <p:pic>
        <p:nvPicPr>
          <p:cNvPr descr="image.png" id="590" name="Google Shape;590;p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19887" y="2209502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1" name="Google Shape;591;p3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81775" y="320441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32"/>
          <p:cNvSpPr txBox="1"/>
          <p:nvPr/>
        </p:nvSpPr>
        <p:spPr>
          <a:xfrm>
            <a:off x="6962775" y="3185368"/>
            <a:ext cx="2190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Confirm structural mandate</a:t>
            </a:r>
            <a:endParaRPr/>
          </a:p>
        </p:txBody>
      </p:sp>
      <p:pic>
        <p:nvPicPr>
          <p:cNvPr descr="image.png" id="593" name="Google Shape;593;p3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81775" y="364256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32"/>
          <p:cNvSpPr txBox="1"/>
          <p:nvPr/>
        </p:nvSpPr>
        <p:spPr>
          <a:xfrm>
            <a:off x="6962775" y="3623518"/>
            <a:ext cx="41719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Resolve inter-bureau escalation beyond operational level</a:t>
            </a:r>
            <a:endParaRPr/>
          </a:p>
        </p:txBody>
      </p:sp>
      <p:pic>
        <p:nvPicPr>
          <p:cNvPr descr="image.png" id="595" name="Google Shape;595;p3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81775" y="434354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32"/>
          <p:cNvSpPr txBox="1"/>
          <p:nvPr/>
        </p:nvSpPr>
        <p:spPr>
          <a:xfrm>
            <a:off x="6962775" y="4324498"/>
            <a:ext cx="24860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Safeguard institutional balance</a:t>
            </a:r>
            <a:endParaRPr/>
          </a:p>
        </p:txBody>
      </p:sp>
      <p:pic>
        <p:nvPicPr>
          <p:cNvPr descr="image.png" id="597" name="Google Shape;597;p3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81775" y="478169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32"/>
          <p:cNvSpPr txBox="1"/>
          <p:nvPr/>
        </p:nvSpPr>
        <p:spPr>
          <a:xfrm>
            <a:off x="6962775" y="4762648"/>
            <a:ext cx="3381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Monitor high-level performance indicators</a:t>
            </a:r>
            <a:endParaRPr/>
          </a:p>
        </p:txBody>
      </p:sp>
      <p:pic>
        <p:nvPicPr>
          <p:cNvPr descr="image.png" id="599" name="Google Shape;599;p3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657975" y="3271093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0" name="Google Shape;600;p3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657975" y="3709243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1" name="Google Shape;601;p3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657975" y="4410223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2" name="Google Shape;602;p3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657975" y="4848373"/>
            <a:ext cx="11430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07" name="Google Shape;60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8" name="Google Shape;60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809452"/>
            <a:ext cx="5143500" cy="39818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9" name="Google Shape;609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939081"/>
            <a:ext cx="5143500" cy="3722786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33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MESOB DIRECTOR MANDATE &amp; AUTHORITY SAFEGUARDS</a:t>
            </a:r>
            <a:endParaRPr/>
          </a:p>
        </p:txBody>
      </p:sp>
      <p:sp>
        <p:nvSpPr>
          <p:cNvPr id="611" name="Google Shape;611;p33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612" name="Google Shape;612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275" y="2104727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33"/>
          <p:cNvSpPr txBox="1"/>
          <p:nvPr/>
        </p:nvSpPr>
        <p:spPr>
          <a:xfrm>
            <a:off x="1057275" y="2866727"/>
            <a:ext cx="478059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MESOB Director is proposed to have authority to:</a:t>
            </a:r>
            <a:endParaRPr/>
          </a:p>
        </p:txBody>
      </p:sp>
      <p:pic>
        <p:nvPicPr>
          <p:cNvPr descr="image.png" id="614" name="Google Shape;614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2234356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33"/>
          <p:cNvSpPr txBox="1"/>
          <p:nvPr/>
        </p:nvSpPr>
        <p:spPr>
          <a:xfrm>
            <a:off x="6581775" y="2996356"/>
            <a:ext cx="478059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Safeguards:</a:t>
            </a:r>
            <a:endParaRPr/>
          </a:p>
        </p:txBody>
      </p:sp>
      <p:sp>
        <p:nvSpPr>
          <p:cNvPr id="616" name="Google Shape;616;p33"/>
          <p:cNvSpPr txBox="1"/>
          <p:nvPr/>
        </p:nvSpPr>
        <p:spPr>
          <a:xfrm>
            <a:off x="6581775" y="5092303"/>
            <a:ext cx="4552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Authority must be clear — and bounded.</a:t>
            </a:r>
            <a:endParaRPr/>
          </a:p>
        </p:txBody>
      </p:sp>
      <p:pic>
        <p:nvPicPr>
          <p:cNvPr descr="image.png" id="617" name="Google Shape;617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23962" y="2257127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8" name="Google Shape;618;p3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34175" y="2386756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9" name="Google Shape;619;p3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325204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33"/>
          <p:cNvSpPr txBox="1"/>
          <p:nvPr/>
        </p:nvSpPr>
        <p:spPr>
          <a:xfrm>
            <a:off x="1438275" y="3232993"/>
            <a:ext cx="35814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Coordinate cross-bureau service integration</a:t>
            </a:r>
            <a:endParaRPr/>
          </a:p>
        </p:txBody>
      </p:sp>
      <p:pic>
        <p:nvPicPr>
          <p:cNvPr descr="image.png" id="621" name="Google Shape;621;p3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369019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33"/>
          <p:cNvSpPr txBox="1"/>
          <p:nvPr/>
        </p:nvSpPr>
        <p:spPr>
          <a:xfrm>
            <a:off x="1438275" y="3671143"/>
            <a:ext cx="3476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Enforce agreed service standards and SLAs</a:t>
            </a:r>
            <a:endParaRPr/>
          </a:p>
        </p:txBody>
      </p:sp>
      <p:pic>
        <p:nvPicPr>
          <p:cNvPr descr="image.png" id="623" name="Google Shape;623;p3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412834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33"/>
          <p:cNvSpPr txBox="1"/>
          <p:nvPr/>
        </p:nvSpPr>
        <p:spPr>
          <a:xfrm>
            <a:off x="1438275" y="4109293"/>
            <a:ext cx="41719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Issue compliance notices when standards are breached</a:t>
            </a:r>
            <a:endParaRPr/>
          </a:p>
        </p:txBody>
      </p:sp>
      <p:pic>
        <p:nvPicPr>
          <p:cNvPr descr="image.png" id="625" name="Google Shape;625;p3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57275" y="482932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33"/>
          <p:cNvSpPr txBox="1"/>
          <p:nvPr/>
        </p:nvSpPr>
        <p:spPr>
          <a:xfrm>
            <a:off x="1438275" y="4810273"/>
            <a:ext cx="2381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Activate escalation protocols</a:t>
            </a:r>
            <a:endParaRPr/>
          </a:p>
        </p:txBody>
      </p:sp>
      <p:pic>
        <p:nvPicPr>
          <p:cNvPr descr="image.png" id="627" name="Google Shape;627;p3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526747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33"/>
          <p:cNvSpPr txBox="1"/>
          <p:nvPr/>
        </p:nvSpPr>
        <p:spPr>
          <a:xfrm>
            <a:off x="1438275" y="5248423"/>
            <a:ext cx="2571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Oversee performance reporting</a:t>
            </a:r>
            <a:endParaRPr/>
          </a:p>
        </p:txBody>
      </p:sp>
      <p:pic>
        <p:nvPicPr>
          <p:cNvPr descr="image.png" id="629" name="Google Shape;629;p3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81775" y="338167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33"/>
          <p:cNvSpPr txBox="1"/>
          <p:nvPr/>
        </p:nvSpPr>
        <p:spPr>
          <a:xfrm>
            <a:off x="6962775" y="3362622"/>
            <a:ext cx="3190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Director authority documented formally</a:t>
            </a:r>
            <a:endParaRPr/>
          </a:p>
        </p:txBody>
      </p:sp>
      <p:pic>
        <p:nvPicPr>
          <p:cNvPr descr="image.png" id="631" name="Google Shape;631;p3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81775" y="381982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33"/>
          <p:cNvSpPr txBox="1"/>
          <p:nvPr/>
        </p:nvSpPr>
        <p:spPr>
          <a:xfrm>
            <a:off x="6962775" y="3800772"/>
            <a:ext cx="28860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Bureau legal mandates remain intact</a:t>
            </a:r>
            <a:endParaRPr/>
          </a:p>
        </p:txBody>
      </p:sp>
      <p:pic>
        <p:nvPicPr>
          <p:cNvPr descr="image.png" id="633" name="Google Shape;633;p3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81775" y="425797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33"/>
          <p:cNvSpPr txBox="1"/>
          <p:nvPr/>
        </p:nvSpPr>
        <p:spPr>
          <a:xfrm>
            <a:off x="6962775" y="4238922"/>
            <a:ext cx="41719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Escalation beyond Director requires executive channel</a:t>
            </a:r>
            <a:endParaRPr/>
          </a:p>
        </p:txBody>
      </p:sp>
      <p:pic>
        <p:nvPicPr>
          <p:cNvPr descr="image.png" id="635" name="Google Shape;635;p3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33475" y="331871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36" name="Google Shape;636;p3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33475" y="375686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37" name="Google Shape;637;p3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33475" y="419501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38" name="Google Shape;638;p3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33475" y="489599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39" name="Google Shape;639;p3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33475" y="533414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0" name="Google Shape;640;p3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57975" y="3448347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1" name="Google Shape;641;p3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57975" y="3886497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2" name="Google Shape;642;p3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57975" y="4324647"/>
            <a:ext cx="11430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47" name="Google Shape;64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8" name="Google Shape;64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781175"/>
            <a:ext cx="10668000" cy="3476476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34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OPERATIONAL UNIT STRUCTURE</a:t>
            </a:r>
            <a:endParaRPr/>
          </a:p>
        </p:txBody>
      </p:sp>
      <p:sp>
        <p:nvSpPr>
          <p:cNvPr id="650" name="Google Shape;650;p34"/>
          <p:cNvSpPr txBox="1"/>
          <p:nvPr/>
        </p:nvSpPr>
        <p:spPr>
          <a:xfrm>
            <a:off x="762000" y="1314450"/>
            <a:ext cx="10668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Proposed internal structure:</a:t>
            </a:r>
            <a:endParaRPr/>
          </a:p>
        </p:txBody>
      </p:sp>
      <p:sp>
        <p:nvSpPr>
          <p:cNvPr id="651" name="Google Shape;651;p34"/>
          <p:cNvSpPr txBox="1"/>
          <p:nvPr/>
        </p:nvSpPr>
        <p:spPr>
          <a:xfrm>
            <a:off x="762000" y="5543401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No functional overlap. Clear role separation prevents internal ambiguity.</a:t>
            </a:r>
            <a:endParaRPr/>
          </a:p>
        </p:txBody>
      </p:sp>
      <p:sp>
        <p:nvSpPr>
          <p:cNvPr id="652" name="Google Shape;652;p34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53" name="Google Shape;653;p34"/>
          <p:cNvGraphicFramePr/>
          <p:nvPr/>
        </p:nvGraphicFramePr>
        <p:xfrm>
          <a:off x="771525" y="17907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{205658A8-B75E-4893-B863-9B2F382446B2}</a:tableStyleId>
              </a:tblPr>
              <a:tblGrid>
                <a:gridCol w="4531375"/>
                <a:gridCol w="6117575"/>
              </a:tblGrid>
              <a:tr h="5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Unit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Core Responsibility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Operations Unit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Daily counter management &amp; workflow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Integration Unit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Bureau coordination &amp; service onboarding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Compliance Unit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SLA monitoring &amp; enforcement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Monitoring &amp; Reporting Desk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KPI tracking &amp; performance dashboards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Administrative Support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HR, logistics &amp; documentation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54" name="Google Shape;654;p34"/>
          <p:cNvSpPr/>
          <p:nvPr/>
        </p:nvSpPr>
        <p:spPr>
          <a:xfrm>
            <a:off x="771525" y="2286000"/>
            <a:ext cx="4531369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34"/>
          <p:cNvSpPr/>
          <p:nvPr/>
        </p:nvSpPr>
        <p:spPr>
          <a:xfrm>
            <a:off x="5302894" y="2286000"/>
            <a:ext cx="61175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4"/>
          <p:cNvSpPr/>
          <p:nvPr/>
        </p:nvSpPr>
        <p:spPr>
          <a:xfrm>
            <a:off x="771525" y="2888902"/>
            <a:ext cx="453136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34"/>
          <p:cNvSpPr/>
          <p:nvPr/>
        </p:nvSpPr>
        <p:spPr>
          <a:xfrm>
            <a:off x="5302894" y="2888902"/>
            <a:ext cx="611758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34"/>
          <p:cNvSpPr/>
          <p:nvPr/>
        </p:nvSpPr>
        <p:spPr>
          <a:xfrm>
            <a:off x="771525" y="3477517"/>
            <a:ext cx="453136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4"/>
          <p:cNvSpPr/>
          <p:nvPr/>
        </p:nvSpPr>
        <p:spPr>
          <a:xfrm>
            <a:off x="5302894" y="3477517"/>
            <a:ext cx="611758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34"/>
          <p:cNvSpPr/>
          <p:nvPr/>
        </p:nvSpPr>
        <p:spPr>
          <a:xfrm>
            <a:off x="771525" y="4066133"/>
            <a:ext cx="453136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34"/>
          <p:cNvSpPr/>
          <p:nvPr/>
        </p:nvSpPr>
        <p:spPr>
          <a:xfrm>
            <a:off x="5302894" y="4066133"/>
            <a:ext cx="611758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4"/>
          <p:cNvSpPr/>
          <p:nvPr/>
        </p:nvSpPr>
        <p:spPr>
          <a:xfrm>
            <a:off x="771525" y="4654748"/>
            <a:ext cx="453136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34"/>
          <p:cNvSpPr/>
          <p:nvPr/>
        </p:nvSpPr>
        <p:spPr>
          <a:xfrm>
            <a:off x="5302894" y="4654748"/>
            <a:ext cx="611758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68" name="Google Shape;66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9" name="Google Shape;66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714202"/>
            <a:ext cx="5143500" cy="41723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0" name="Google Shape;670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390775"/>
            <a:ext cx="5143500" cy="131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1" name="Google Shape;671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895725"/>
            <a:ext cx="5143500" cy="1314450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p35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BUREAU INTEGRATION MODEL</a:t>
            </a:r>
            <a:endParaRPr/>
          </a:p>
        </p:txBody>
      </p:sp>
      <p:sp>
        <p:nvSpPr>
          <p:cNvPr id="673" name="Google Shape;673;p35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674" name="Google Shape;674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2009477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35"/>
          <p:cNvSpPr txBox="1"/>
          <p:nvPr/>
        </p:nvSpPr>
        <p:spPr>
          <a:xfrm>
            <a:off x="1057275" y="2771477"/>
            <a:ext cx="478059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Each participating bureau will:</a:t>
            </a:r>
            <a:endParaRPr/>
          </a:p>
        </p:txBody>
      </p:sp>
      <p:pic>
        <p:nvPicPr>
          <p:cNvPr descr="image.png" id="676" name="Google Shape;676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81100" y="216187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7" name="Google Shape;677;p3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315679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35"/>
          <p:cNvSpPr txBox="1"/>
          <p:nvPr/>
        </p:nvSpPr>
        <p:spPr>
          <a:xfrm>
            <a:off x="1476375" y="3137743"/>
            <a:ext cx="3028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Assign an official MESOB focal person</a:t>
            </a:r>
            <a:endParaRPr/>
          </a:p>
        </p:txBody>
      </p:sp>
      <p:pic>
        <p:nvPicPr>
          <p:cNvPr descr="image.png" id="679" name="Google Shape;679;p3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363304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35"/>
          <p:cNvSpPr txBox="1"/>
          <p:nvPr/>
        </p:nvSpPr>
        <p:spPr>
          <a:xfrm>
            <a:off x="1476375" y="3613993"/>
            <a:ext cx="26098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Designate a deputy focal person</a:t>
            </a:r>
            <a:endParaRPr/>
          </a:p>
        </p:txBody>
      </p:sp>
      <p:pic>
        <p:nvPicPr>
          <p:cNvPr descr="image.png" id="681" name="Google Shape;681;p3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410929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35"/>
          <p:cNvSpPr txBox="1"/>
          <p:nvPr/>
        </p:nvSpPr>
        <p:spPr>
          <a:xfrm>
            <a:off x="1476375" y="4090243"/>
            <a:ext cx="41338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Submit complete service definitions prior to activation</a:t>
            </a:r>
            <a:endParaRPr/>
          </a:p>
        </p:txBody>
      </p:sp>
      <p:pic>
        <p:nvPicPr>
          <p:cNvPr descr="image.png" id="683" name="Google Shape;683;p3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484837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35"/>
          <p:cNvSpPr txBox="1"/>
          <p:nvPr/>
        </p:nvSpPr>
        <p:spPr>
          <a:xfrm>
            <a:off x="1476375" y="4829323"/>
            <a:ext cx="3619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Agree to documented service-level timelines</a:t>
            </a:r>
            <a:endParaRPr/>
          </a:p>
        </p:txBody>
      </p:sp>
      <p:pic>
        <p:nvPicPr>
          <p:cNvPr descr="image.png" id="685" name="Google Shape;685;p3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532462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35"/>
          <p:cNvSpPr txBox="1"/>
          <p:nvPr/>
        </p:nvSpPr>
        <p:spPr>
          <a:xfrm>
            <a:off x="1476375" y="5305573"/>
            <a:ext cx="29241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Participate in performance reporting</a:t>
            </a:r>
            <a:endParaRPr/>
          </a:p>
        </p:txBody>
      </p:sp>
      <p:pic>
        <p:nvPicPr>
          <p:cNvPr descr="image.png" id="687" name="Google Shape;687;p3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33475" y="322346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8" name="Google Shape;688;p3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33475" y="369971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9" name="Google Shape;689;p3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33475" y="417596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90" name="Google Shape;690;p3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33475" y="491504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91" name="Google Shape;691;p3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33475" y="5391298"/>
            <a:ext cx="1143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35"/>
          <p:cNvSpPr txBox="1"/>
          <p:nvPr/>
        </p:nvSpPr>
        <p:spPr>
          <a:xfrm>
            <a:off x="6677025" y="2781300"/>
            <a:ext cx="4362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Integration is structured participation — not optional presence.</a:t>
            </a:r>
            <a:endParaRPr/>
          </a:p>
        </p:txBody>
      </p:sp>
      <p:sp>
        <p:nvSpPr>
          <p:cNvPr id="693" name="Google Shape;693;p35"/>
          <p:cNvSpPr txBox="1"/>
          <p:nvPr/>
        </p:nvSpPr>
        <p:spPr>
          <a:xfrm>
            <a:off x="6677025" y="4286250"/>
            <a:ext cx="4362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Bureau authority remains intact within their technical mandate.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98" name="Google Shape;69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99" name="Google Shape;69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781175"/>
            <a:ext cx="10668000" cy="3476476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36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AUTHORITY PROTECTION FOR BUREAUS</a:t>
            </a:r>
            <a:endParaRPr/>
          </a:p>
        </p:txBody>
      </p:sp>
      <p:sp>
        <p:nvSpPr>
          <p:cNvPr id="701" name="Google Shape;701;p36"/>
          <p:cNvSpPr txBox="1"/>
          <p:nvPr/>
        </p:nvSpPr>
        <p:spPr>
          <a:xfrm>
            <a:off x="762000" y="1314450"/>
            <a:ext cx="10668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To prevent institutional resistance, the following protections are embedded:</a:t>
            </a:r>
            <a:endParaRPr/>
          </a:p>
        </p:txBody>
      </p:sp>
      <p:sp>
        <p:nvSpPr>
          <p:cNvPr id="702" name="Google Shape;702;p36"/>
          <p:cNvSpPr txBox="1"/>
          <p:nvPr/>
        </p:nvSpPr>
        <p:spPr>
          <a:xfrm>
            <a:off x="762000" y="5543401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5966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MESOB coordinates service access. It does not absorb institutional authority.</a:t>
            </a:r>
            <a:endParaRPr/>
          </a:p>
        </p:txBody>
      </p:sp>
      <p:sp>
        <p:nvSpPr>
          <p:cNvPr id="703" name="Google Shape;703;p36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04" name="Google Shape;704;p36"/>
          <p:cNvGraphicFramePr/>
          <p:nvPr/>
        </p:nvGraphicFramePr>
        <p:xfrm>
          <a:off x="771525" y="17907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{205658A8-B75E-4893-B863-9B2F382446B2}</a:tableStyleId>
              </a:tblPr>
              <a:tblGrid>
                <a:gridCol w="4469150"/>
                <a:gridCol w="6179800"/>
              </a:tblGrid>
              <a:tr h="5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Protected Domain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Safeguard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Technical Approval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Remains with respective bureau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Legal Mandate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Unchanged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Decision Authority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Defined per service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Staff Management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Remains bureau responsibility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Policy Direction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Not altered by MESOB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05" name="Google Shape;705;p36"/>
          <p:cNvSpPr/>
          <p:nvPr/>
        </p:nvSpPr>
        <p:spPr>
          <a:xfrm>
            <a:off x="771525" y="2286000"/>
            <a:ext cx="4469159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6"/>
          <p:cNvSpPr/>
          <p:nvPr/>
        </p:nvSpPr>
        <p:spPr>
          <a:xfrm>
            <a:off x="5240684" y="2286000"/>
            <a:ext cx="617979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36"/>
          <p:cNvSpPr/>
          <p:nvPr/>
        </p:nvSpPr>
        <p:spPr>
          <a:xfrm>
            <a:off x="771525" y="2888902"/>
            <a:ext cx="446915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6"/>
          <p:cNvSpPr/>
          <p:nvPr/>
        </p:nvSpPr>
        <p:spPr>
          <a:xfrm>
            <a:off x="5240684" y="2888902"/>
            <a:ext cx="617979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6"/>
          <p:cNvSpPr/>
          <p:nvPr/>
        </p:nvSpPr>
        <p:spPr>
          <a:xfrm>
            <a:off x="771525" y="3477517"/>
            <a:ext cx="446915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6"/>
          <p:cNvSpPr/>
          <p:nvPr/>
        </p:nvSpPr>
        <p:spPr>
          <a:xfrm>
            <a:off x="5240684" y="3477517"/>
            <a:ext cx="617979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6"/>
          <p:cNvSpPr/>
          <p:nvPr/>
        </p:nvSpPr>
        <p:spPr>
          <a:xfrm>
            <a:off x="771525" y="4066133"/>
            <a:ext cx="446915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6"/>
          <p:cNvSpPr/>
          <p:nvPr/>
        </p:nvSpPr>
        <p:spPr>
          <a:xfrm>
            <a:off x="5240684" y="4066133"/>
            <a:ext cx="617979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6"/>
          <p:cNvSpPr/>
          <p:nvPr/>
        </p:nvSpPr>
        <p:spPr>
          <a:xfrm>
            <a:off x="771525" y="4654748"/>
            <a:ext cx="446915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6"/>
          <p:cNvSpPr/>
          <p:nvPr/>
        </p:nvSpPr>
        <p:spPr>
          <a:xfrm>
            <a:off x="5240684" y="4654748"/>
            <a:ext cx="617979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19" name="Google Shape;71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20" name="Google Shape;720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012305"/>
            <a:ext cx="5143500" cy="35761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21" name="Google Shape;721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876127"/>
            <a:ext cx="5143500" cy="3848546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37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ESCALATION PROTOCOL FRAMEWORK</a:t>
            </a:r>
            <a:endParaRPr/>
          </a:p>
        </p:txBody>
      </p:sp>
      <p:sp>
        <p:nvSpPr>
          <p:cNvPr id="723" name="Google Shape;723;p37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724" name="Google Shape;724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275" y="2307580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37"/>
          <p:cNvSpPr txBox="1"/>
          <p:nvPr/>
        </p:nvSpPr>
        <p:spPr>
          <a:xfrm>
            <a:off x="1057275" y="3069580"/>
            <a:ext cx="478059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Structured escalation pathway:</a:t>
            </a:r>
            <a:endParaRPr/>
          </a:p>
        </p:txBody>
      </p:sp>
      <p:pic>
        <p:nvPicPr>
          <p:cNvPr descr="image.png" id="726" name="Google Shape;726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2171402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37"/>
          <p:cNvSpPr txBox="1"/>
          <p:nvPr/>
        </p:nvSpPr>
        <p:spPr>
          <a:xfrm>
            <a:off x="6581775" y="2933402"/>
            <a:ext cx="478059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All escalations must be:</a:t>
            </a:r>
            <a:endParaRPr/>
          </a:p>
        </p:txBody>
      </p:sp>
      <p:sp>
        <p:nvSpPr>
          <p:cNvPr id="728" name="Google Shape;728;p37"/>
          <p:cNvSpPr txBox="1"/>
          <p:nvPr/>
        </p:nvSpPr>
        <p:spPr>
          <a:xfrm>
            <a:off x="6581775" y="4880818"/>
            <a:ext cx="45529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Escalation clarity protects both citizens and institutions.</a:t>
            </a:r>
            <a:endParaRPr/>
          </a:p>
        </p:txBody>
      </p:sp>
      <p:pic>
        <p:nvPicPr>
          <p:cNvPr descr="image.png" id="729" name="Google Shape;729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95387" y="2459980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37"/>
          <p:cNvSpPr txBox="1"/>
          <p:nvPr/>
        </p:nvSpPr>
        <p:spPr>
          <a:xfrm>
            <a:off x="1057275" y="3626346"/>
            <a:ext cx="45529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Level 1 — Counter Supervisor</a:t>
            </a:r>
            <a:endParaRPr/>
          </a:p>
        </p:txBody>
      </p:sp>
      <p:sp>
        <p:nvSpPr>
          <p:cNvPr id="731" name="Google Shape;731;p37"/>
          <p:cNvSpPr txBox="1"/>
          <p:nvPr/>
        </p:nvSpPr>
        <p:spPr>
          <a:xfrm>
            <a:off x="1057275" y="3864471"/>
            <a:ext cx="45529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↓</a:t>
            </a:r>
            <a:endParaRPr/>
          </a:p>
        </p:txBody>
      </p:sp>
      <p:sp>
        <p:nvSpPr>
          <p:cNvPr id="732" name="Google Shape;732;p37"/>
          <p:cNvSpPr txBox="1"/>
          <p:nvPr/>
        </p:nvSpPr>
        <p:spPr>
          <a:xfrm>
            <a:off x="1057275" y="4102596"/>
            <a:ext cx="45529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Level 2 — Bureau Desk Lead</a:t>
            </a:r>
            <a:endParaRPr/>
          </a:p>
        </p:txBody>
      </p:sp>
      <p:sp>
        <p:nvSpPr>
          <p:cNvPr id="733" name="Google Shape;733;p37"/>
          <p:cNvSpPr txBox="1"/>
          <p:nvPr/>
        </p:nvSpPr>
        <p:spPr>
          <a:xfrm>
            <a:off x="1057275" y="4340721"/>
            <a:ext cx="45529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↓</a:t>
            </a:r>
            <a:endParaRPr/>
          </a:p>
        </p:txBody>
      </p:sp>
      <p:sp>
        <p:nvSpPr>
          <p:cNvPr id="734" name="Google Shape;734;p37"/>
          <p:cNvSpPr txBox="1"/>
          <p:nvPr/>
        </p:nvSpPr>
        <p:spPr>
          <a:xfrm>
            <a:off x="1057275" y="4578846"/>
            <a:ext cx="45529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Level 3 — MESOB Director</a:t>
            </a:r>
            <a:endParaRPr/>
          </a:p>
        </p:txBody>
      </p:sp>
      <p:sp>
        <p:nvSpPr>
          <p:cNvPr id="735" name="Google Shape;735;p37"/>
          <p:cNvSpPr txBox="1"/>
          <p:nvPr/>
        </p:nvSpPr>
        <p:spPr>
          <a:xfrm>
            <a:off x="1057275" y="4816971"/>
            <a:ext cx="45529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↓</a:t>
            </a:r>
            <a:endParaRPr/>
          </a:p>
        </p:txBody>
      </p:sp>
      <p:sp>
        <p:nvSpPr>
          <p:cNvPr id="736" name="Google Shape;736;p37"/>
          <p:cNvSpPr txBox="1"/>
          <p:nvPr/>
        </p:nvSpPr>
        <p:spPr>
          <a:xfrm>
            <a:off x="1057275" y="5055096"/>
            <a:ext cx="45529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Level 4 — Executive Oversight</a:t>
            </a:r>
            <a:endParaRPr/>
          </a:p>
        </p:txBody>
      </p:sp>
      <p:pic>
        <p:nvPicPr>
          <p:cNvPr descr="image.png" id="737" name="Google Shape;737;p3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62750" y="2323802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8" name="Google Shape;738;p3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81775" y="331871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37"/>
          <p:cNvSpPr txBox="1"/>
          <p:nvPr/>
        </p:nvSpPr>
        <p:spPr>
          <a:xfrm>
            <a:off x="7000875" y="3299668"/>
            <a:ext cx="1076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Documented</a:t>
            </a:r>
            <a:endParaRPr/>
          </a:p>
        </p:txBody>
      </p:sp>
      <p:pic>
        <p:nvPicPr>
          <p:cNvPr descr="image.png" id="740" name="Google Shape;740;p3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81775" y="379496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37"/>
          <p:cNvSpPr txBox="1"/>
          <p:nvPr/>
        </p:nvSpPr>
        <p:spPr>
          <a:xfrm>
            <a:off x="7000875" y="3775918"/>
            <a:ext cx="1000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Time-bound</a:t>
            </a:r>
            <a:endParaRPr/>
          </a:p>
        </p:txBody>
      </p:sp>
      <p:pic>
        <p:nvPicPr>
          <p:cNvPr descr="image.png" id="742" name="Google Shape;742;p3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81775" y="427121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37"/>
          <p:cNvSpPr txBox="1"/>
          <p:nvPr/>
        </p:nvSpPr>
        <p:spPr>
          <a:xfrm>
            <a:off x="7000875" y="4252168"/>
            <a:ext cx="7905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Traceable</a:t>
            </a:r>
            <a:endParaRPr/>
          </a:p>
        </p:txBody>
      </p:sp>
      <p:pic>
        <p:nvPicPr>
          <p:cNvPr descr="image.png" id="744" name="Google Shape;744;p3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648450" y="3385393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45" name="Google Shape;745;p3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648450" y="3861643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46" name="Google Shape;746;p3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48450" y="4337893"/>
            <a:ext cx="13335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51" name="Google Shape;75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52" name="Google Shape;752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781175"/>
            <a:ext cx="10668000" cy="3476476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38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COMPLIANCE &amp; ENFORCEMENT MODEL</a:t>
            </a:r>
            <a:endParaRPr/>
          </a:p>
        </p:txBody>
      </p:sp>
      <p:sp>
        <p:nvSpPr>
          <p:cNvPr id="754" name="Google Shape;754;p38"/>
          <p:cNvSpPr txBox="1"/>
          <p:nvPr/>
        </p:nvSpPr>
        <p:spPr>
          <a:xfrm>
            <a:off x="762000" y="1314450"/>
            <a:ext cx="10668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Non-compliance types and responses:</a:t>
            </a:r>
            <a:endParaRPr/>
          </a:p>
        </p:txBody>
      </p:sp>
      <p:sp>
        <p:nvSpPr>
          <p:cNvPr id="755" name="Google Shape;755;p38"/>
          <p:cNvSpPr txBox="1"/>
          <p:nvPr/>
        </p:nvSpPr>
        <p:spPr>
          <a:xfrm>
            <a:off x="762000" y="5543401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C262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Enforcement must be predictable — not discretionary.</a:t>
            </a:r>
            <a:endParaRPr/>
          </a:p>
        </p:txBody>
      </p:sp>
      <p:sp>
        <p:nvSpPr>
          <p:cNvPr id="756" name="Google Shape;756;p38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57" name="Google Shape;757;p38"/>
          <p:cNvGraphicFramePr/>
          <p:nvPr/>
        </p:nvGraphicFramePr>
        <p:xfrm>
          <a:off x="771525" y="17907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{205658A8-B75E-4893-B863-9B2F382446B2}</a:tableStyleId>
              </a:tblPr>
              <a:tblGrid>
                <a:gridCol w="5073100"/>
                <a:gridCol w="5575850"/>
              </a:tblGrid>
              <a:tr h="5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Issue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Structured Response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SLA Breach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Formal notice &amp; corrective timeline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Documentation Inconsistency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Service definition review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Bureau Non-Participation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Escalation to oversight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Repeated Delays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Performance review discussion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Data Reporting Gaps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Mandatory compliance reporting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58" name="Google Shape;758;p38"/>
          <p:cNvSpPr/>
          <p:nvPr/>
        </p:nvSpPr>
        <p:spPr>
          <a:xfrm>
            <a:off x="771525" y="2286000"/>
            <a:ext cx="5073104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8"/>
          <p:cNvSpPr/>
          <p:nvPr/>
        </p:nvSpPr>
        <p:spPr>
          <a:xfrm>
            <a:off x="5844629" y="2286000"/>
            <a:ext cx="557584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38"/>
          <p:cNvSpPr/>
          <p:nvPr/>
        </p:nvSpPr>
        <p:spPr>
          <a:xfrm>
            <a:off x="771525" y="2888902"/>
            <a:ext cx="507310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8"/>
          <p:cNvSpPr/>
          <p:nvPr/>
        </p:nvSpPr>
        <p:spPr>
          <a:xfrm>
            <a:off x="5844629" y="2888902"/>
            <a:ext cx="557584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8"/>
          <p:cNvSpPr/>
          <p:nvPr/>
        </p:nvSpPr>
        <p:spPr>
          <a:xfrm>
            <a:off x="771525" y="3477517"/>
            <a:ext cx="507310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38"/>
          <p:cNvSpPr/>
          <p:nvPr/>
        </p:nvSpPr>
        <p:spPr>
          <a:xfrm>
            <a:off x="5844629" y="3477517"/>
            <a:ext cx="557584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38"/>
          <p:cNvSpPr/>
          <p:nvPr/>
        </p:nvSpPr>
        <p:spPr>
          <a:xfrm>
            <a:off x="771525" y="4066133"/>
            <a:ext cx="507310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38"/>
          <p:cNvSpPr/>
          <p:nvPr/>
        </p:nvSpPr>
        <p:spPr>
          <a:xfrm>
            <a:off x="5844629" y="4066133"/>
            <a:ext cx="557584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8"/>
          <p:cNvSpPr/>
          <p:nvPr/>
        </p:nvSpPr>
        <p:spPr>
          <a:xfrm>
            <a:off x="771525" y="4654748"/>
            <a:ext cx="507310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38"/>
          <p:cNvSpPr/>
          <p:nvPr/>
        </p:nvSpPr>
        <p:spPr>
          <a:xfrm>
            <a:off x="5844629" y="4654748"/>
            <a:ext cx="557584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72" name="Google Shape;77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73" name="Google Shape;773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314450"/>
            <a:ext cx="3352800" cy="4972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74" name="Google Shape;774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9600" y="1314450"/>
            <a:ext cx="3352800" cy="4972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75" name="Google Shape;775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77200" y="1314450"/>
            <a:ext cx="3352800" cy="4972050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39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PERFORMANCE MONITORING ARCHITECTURE</a:t>
            </a:r>
            <a:endParaRPr/>
          </a:p>
        </p:txBody>
      </p:sp>
      <p:sp>
        <p:nvSpPr>
          <p:cNvPr id="777" name="Google Shape;777;p39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778" name="Google Shape;778;p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160972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39"/>
          <p:cNvSpPr txBox="1"/>
          <p:nvPr/>
        </p:nvSpPr>
        <p:spPr>
          <a:xfrm>
            <a:off x="1057275" y="2371725"/>
            <a:ext cx="2900362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Performance Measured at:</a:t>
            </a:r>
            <a:endParaRPr/>
          </a:p>
        </p:txBody>
      </p:sp>
      <p:pic>
        <p:nvPicPr>
          <p:cNvPr descr="image.png" id="780" name="Google Shape;780;p3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14875" y="160972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39"/>
          <p:cNvSpPr txBox="1"/>
          <p:nvPr/>
        </p:nvSpPr>
        <p:spPr>
          <a:xfrm>
            <a:off x="4714875" y="2371725"/>
            <a:ext cx="2900362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Indicators:</a:t>
            </a:r>
            <a:endParaRPr/>
          </a:p>
        </p:txBody>
      </p:sp>
      <p:pic>
        <p:nvPicPr>
          <p:cNvPr descr="image.png" id="782" name="Google Shape;782;p3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72475" y="160972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39"/>
          <p:cNvSpPr txBox="1"/>
          <p:nvPr/>
        </p:nvSpPr>
        <p:spPr>
          <a:xfrm>
            <a:off x="8372475" y="2371725"/>
            <a:ext cx="2900362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Reporting Cycle:</a:t>
            </a:r>
            <a:endParaRPr/>
          </a:p>
        </p:txBody>
      </p:sp>
      <p:sp>
        <p:nvSpPr>
          <p:cNvPr id="784" name="Google Shape;784;p39"/>
          <p:cNvSpPr txBox="1"/>
          <p:nvPr/>
        </p:nvSpPr>
        <p:spPr>
          <a:xfrm>
            <a:off x="8372475" y="3766691"/>
            <a:ext cx="2762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Performance visibility is central to reform credibility.</a:t>
            </a:r>
            <a:endParaRPr/>
          </a:p>
        </p:txBody>
      </p:sp>
      <p:pic>
        <p:nvPicPr>
          <p:cNvPr descr="image.png" id="785" name="Google Shape;785;p3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09675" y="17621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6" name="Google Shape;786;p3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67275" y="17621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7" name="Google Shape;787;p3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39162" y="176212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8" name="Google Shape;788;p3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57275" y="275704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39"/>
          <p:cNvSpPr txBox="1"/>
          <p:nvPr/>
        </p:nvSpPr>
        <p:spPr>
          <a:xfrm>
            <a:off x="1438275" y="2737991"/>
            <a:ext cx="10668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Counter level</a:t>
            </a:r>
            <a:endParaRPr/>
          </a:p>
        </p:txBody>
      </p:sp>
      <p:pic>
        <p:nvPicPr>
          <p:cNvPr descr="image.png" id="790" name="Google Shape;790;p3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57275" y="319519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39"/>
          <p:cNvSpPr txBox="1"/>
          <p:nvPr/>
        </p:nvSpPr>
        <p:spPr>
          <a:xfrm>
            <a:off x="1438275" y="3176141"/>
            <a:ext cx="9620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Bureau level</a:t>
            </a:r>
            <a:endParaRPr/>
          </a:p>
        </p:txBody>
      </p:sp>
      <p:pic>
        <p:nvPicPr>
          <p:cNvPr descr="image.png" id="792" name="Google Shape;792;p3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57275" y="363334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39"/>
          <p:cNvSpPr txBox="1"/>
          <p:nvPr/>
        </p:nvSpPr>
        <p:spPr>
          <a:xfrm>
            <a:off x="1438275" y="3614291"/>
            <a:ext cx="1943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Aggregate MESOB level</a:t>
            </a:r>
            <a:endParaRPr/>
          </a:p>
        </p:txBody>
      </p:sp>
      <p:pic>
        <p:nvPicPr>
          <p:cNvPr descr="image.png" id="794" name="Google Shape;794;p3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714875" y="275704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39"/>
          <p:cNvSpPr txBox="1"/>
          <p:nvPr/>
        </p:nvSpPr>
        <p:spPr>
          <a:xfrm>
            <a:off x="5095875" y="2737991"/>
            <a:ext cx="2000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Average processing time</a:t>
            </a:r>
            <a:endParaRPr/>
          </a:p>
        </p:txBody>
      </p:sp>
      <p:pic>
        <p:nvPicPr>
          <p:cNvPr descr="image.png" id="796" name="Google Shape;796;p3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714875" y="319519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39"/>
          <p:cNvSpPr txBox="1"/>
          <p:nvPr/>
        </p:nvSpPr>
        <p:spPr>
          <a:xfrm>
            <a:off x="5095875" y="3176141"/>
            <a:ext cx="1666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SLA compliance rate</a:t>
            </a:r>
            <a:endParaRPr/>
          </a:p>
        </p:txBody>
      </p:sp>
      <p:pic>
        <p:nvPicPr>
          <p:cNvPr descr="image.png" id="798" name="Google Shape;798;p3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714875" y="363334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39"/>
          <p:cNvSpPr txBox="1"/>
          <p:nvPr/>
        </p:nvSpPr>
        <p:spPr>
          <a:xfrm>
            <a:off x="5095875" y="3614291"/>
            <a:ext cx="17049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Escalation frequency</a:t>
            </a:r>
            <a:endParaRPr/>
          </a:p>
        </p:txBody>
      </p:sp>
      <p:pic>
        <p:nvPicPr>
          <p:cNvPr descr="image.png" id="800" name="Google Shape;800;p3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714875" y="407149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39"/>
          <p:cNvSpPr txBox="1"/>
          <p:nvPr/>
        </p:nvSpPr>
        <p:spPr>
          <a:xfrm>
            <a:off x="5095875" y="4052441"/>
            <a:ext cx="2381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Documentation accuracy rate</a:t>
            </a:r>
            <a:endParaRPr/>
          </a:p>
        </p:txBody>
      </p:sp>
      <p:pic>
        <p:nvPicPr>
          <p:cNvPr descr="image.png" id="802" name="Google Shape;802;p3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714875" y="477247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39"/>
          <p:cNvSpPr txBox="1"/>
          <p:nvPr/>
        </p:nvSpPr>
        <p:spPr>
          <a:xfrm>
            <a:off x="5095875" y="4753421"/>
            <a:ext cx="17811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Service volume trends</a:t>
            </a:r>
            <a:endParaRPr/>
          </a:p>
        </p:txBody>
      </p:sp>
      <p:pic>
        <p:nvPicPr>
          <p:cNvPr descr="image.png" id="804" name="Google Shape;804;p3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372475" y="275704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39"/>
          <p:cNvSpPr txBox="1"/>
          <p:nvPr/>
        </p:nvSpPr>
        <p:spPr>
          <a:xfrm>
            <a:off x="8753475" y="2737991"/>
            <a:ext cx="21526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Monthly operational report</a:t>
            </a:r>
            <a:endParaRPr/>
          </a:p>
        </p:txBody>
      </p:sp>
      <p:pic>
        <p:nvPicPr>
          <p:cNvPr descr="image.png" id="806" name="Google Shape;806;p3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372475" y="319519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39"/>
          <p:cNvSpPr txBox="1"/>
          <p:nvPr/>
        </p:nvSpPr>
        <p:spPr>
          <a:xfrm>
            <a:off x="8753475" y="3176141"/>
            <a:ext cx="23431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Quarterly executive summary</a:t>
            </a:r>
            <a:endParaRPr/>
          </a:p>
        </p:txBody>
      </p:sp>
      <p:pic>
        <p:nvPicPr>
          <p:cNvPr descr="image.png" id="808" name="Google Shape;808;p3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133475" y="2823716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09" name="Google Shape;809;p3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133475" y="3261866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10" name="Google Shape;810;p3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133475" y="3700016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11" name="Google Shape;811;p3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791075" y="2823716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12" name="Google Shape;812;p3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791075" y="3261866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13" name="Google Shape;813;p3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791075" y="3700016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14" name="Google Shape;814;p3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791075" y="4138166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15" name="Google Shape;815;p3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791075" y="4839146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16" name="Google Shape;816;p3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448675" y="2823716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17" name="Google Shape;817;p3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448675" y="3261866"/>
            <a:ext cx="11430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22" name="Google Shape;82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23" name="Google Shape;823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314450"/>
            <a:ext cx="10668000" cy="4065091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40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INSTITUTIONAL RISK MITIGATION MATRIX</a:t>
            </a:r>
            <a:endParaRPr/>
          </a:p>
        </p:txBody>
      </p:sp>
      <p:sp>
        <p:nvSpPr>
          <p:cNvPr id="825" name="Google Shape;825;p40"/>
          <p:cNvSpPr txBox="1"/>
          <p:nvPr/>
        </p:nvSpPr>
        <p:spPr>
          <a:xfrm>
            <a:off x="762000" y="5665291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governance model is designed to prevent institutional instability before it occurs.</a:t>
            </a:r>
            <a:endParaRPr/>
          </a:p>
        </p:txBody>
      </p:sp>
      <p:sp>
        <p:nvSpPr>
          <p:cNvPr id="826" name="Google Shape;826;p40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27" name="Google Shape;827;p40"/>
          <p:cNvGraphicFramePr/>
          <p:nvPr/>
        </p:nvGraphicFramePr>
        <p:xfrm>
          <a:off x="771525" y="13239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{205658A8-B75E-4893-B863-9B2F382446B2}</a:tableStyleId>
              </a:tblPr>
              <a:tblGrid>
                <a:gridCol w="4306800"/>
                <a:gridCol w="6342150"/>
              </a:tblGrid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Risk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Mitigation Mechanism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Authority Overlap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Formal role documentation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Bureau Resistance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Early consultation &amp; mandate clarity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Overexpansion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Phased integration model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Monitoring Weakness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Structured KPI framework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Political Interference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Defined oversight boundaries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Capacity Strain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Volume calibration before scaling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28" name="Google Shape;828;p40"/>
          <p:cNvSpPr/>
          <p:nvPr/>
        </p:nvSpPr>
        <p:spPr>
          <a:xfrm>
            <a:off x="771525" y="1819275"/>
            <a:ext cx="4306788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40"/>
          <p:cNvSpPr/>
          <p:nvPr/>
        </p:nvSpPr>
        <p:spPr>
          <a:xfrm>
            <a:off x="5078313" y="1819275"/>
            <a:ext cx="6342161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40"/>
          <p:cNvSpPr/>
          <p:nvPr/>
        </p:nvSpPr>
        <p:spPr>
          <a:xfrm>
            <a:off x="771525" y="2422177"/>
            <a:ext cx="430678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40"/>
          <p:cNvSpPr/>
          <p:nvPr/>
        </p:nvSpPr>
        <p:spPr>
          <a:xfrm>
            <a:off x="5078313" y="2422177"/>
            <a:ext cx="634216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40"/>
          <p:cNvSpPr/>
          <p:nvPr/>
        </p:nvSpPr>
        <p:spPr>
          <a:xfrm>
            <a:off x="771525" y="3010792"/>
            <a:ext cx="430678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40"/>
          <p:cNvSpPr/>
          <p:nvPr/>
        </p:nvSpPr>
        <p:spPr>
          <a:xfrm>
            <a:off x="5078313" y="3010792"/>
            <a:ext cx="634216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40"/>
          <p:cNvSpPr/>
          <p:nvPr/>
        </p:nvSpPr>
        <p:spPr>
          <a:xfrm>
            <a:off x="771525" y="3599408"/>
            <a:ext cx="430678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40"/>
          <p:cNvSpPr/>
          <p:nvPr/>
        </p:nvSpPr>
        <p:spPr>
          <a:xfrm>
            <a:off x="5078313" y="3599408"/>
            <a:ext cx="634216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40"/>
          <p:cNvSpPr/>
          <p:nvPr/>
        </p:nvSpPr>
        <p:spPr>
          <a:xfrm>
            <a:off x="771525" y="4188023"/>
            <a:ext cx="430678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40"/>
          <p:cNvSpPr/>
          <p:nvPr/>
        </p:nvSpPr>
        <p:spPr>
          <a:xfrm>
            <a:off x="5078313" y="4188023"/>
            <a:ext cx="634216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40"/>
          <p:cNvSpPr/>
          <p:nvPr/>
        </p:nvSpPr>
        <p:spPr>
          <a:xfrm>
            <a:off x="771525" y="4776638"/>
            <a:ext cx="430678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40"/>
          <p:cNvSpPr/>
          <p:nvPr/>
        </p:nvSpPr>
        <p:spPr>
          <a:xfrm>
            <a:off x="5078313" y="4776638"/>
            <a:ext cx="634216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4" name="Google Shape;84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45" name="Google Shape;845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95925" y="2570857"/>
            <a:ext cx="12001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41"/>
          <p:cNvSpPr txBox="1"/>
          <p:nvPr/>
        </p:nvSpPr>
        <p:spPr>
          <a:xfrm>
            <a:off x="886286" y="3142357"/>
            <a:ext cx="10419427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Service Integration &amp; Expansion Strategy</a:t>
            </a:r>
            <a:endParaRPr/>
          </a:p>
        </p:txBody>
      </p:sp>
      <p:sp>
        <p:nvSpPr>
          <p:cNvPr id="847" name="Google Shape;847;p41"/>
          <p:cNvSpPr txBox="1"/>
          <p:nvPr/>
        </p:nvSpPr>
        <p:spPr>
          <a:xfrm>
            <a:off x="3209925" y="3972817"/>
            <a:ext cx="57721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Content-heavy. Structured. Realistic. Cabinet-calibrated.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52" name="Google Shape;8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3" name="Google Shape;853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284065"/>
            <a:ext cx="3352800" cy="34690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4" name="Google Shape;854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9600" y="2284065"/>
            <a:ext cx="3352800" cy="34690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5" name="Google Shape;855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77200" y="2284065"/>
            <a:ext cx="3352800" cy="34690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6" name="Google Shape;856;p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2579340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7" name="Google Shape;857;p4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14875" y="2579340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8" name="Google Shape;858;p4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72475" y="2579340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42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SERVICE INTEGRATION PHILOSOPHY</a:t>
            </a:r>
            <a:endParaRPr/>
          </a:p>
        </p:txBody>
      </p:sp>
      <p:sp>
        <p:nvSpPr>
          <p:cNvPr id="860" name="Google Shape;860;p42"/>
          <p:cNvSpPr txBox="1"/>
          <p:nvPr/>
        </p:nvSpPr>
        <p:spPr>
          <a:xfrm>
            <a:off x="762000" y="1314450"/>
            <a:ext cx="10668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Controlled Expansion — Not Rapid Accumulation</a:t>
            </a:r>
            <a:endParaRPr/>
          </a:p>
        </p:txBody>
      </p:sp>
      <p:sp>
        <p:nvSpPr>
          <p:cNvPr id="861" name="Google Shape;861;p42"/>
          <p:cNvSpPr txBox="1"/>
          <p:nvPr/>
        </p:nvSpPr>
        <p:spPr>
          <a:xfrm>
            <a:off x="762000" y="1781175"/>
            <a:ext cx="10668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Hawassa’s integration model will follow three principles:</a:t>
            </a:r>
            <a:endParaRPr/>
          </a:p>
        </p:txBody>
      </p:sp>
      <p:sp>
        <p:nvSpPr>
          <p:cNvPr id="862" name="Google Shape;862;p42"/>
          <p:cNvSpPr txBox="1"/>
          <p:nvPr/>
        </p:nvSpPr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Expansion is phased by design — not momentum-driven.</a:t>
            </a:r>
            <a:endParaRPr/>
          </a:p>
        </p:txBody>
      </p:sp>
      <p:sp>
        <p:nvSpPr>
          <p:cNvPr id="863" name="Google Shape;863;p42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42"/>
          <p:cNvSpPr txBox="1"/>
          <p:nvPr/>
        </p:nvSpPr>
        <p:spPr>
          <a:xfrm>
            <a:off x="1057275" y="3341340"/>
            <a:ext cx="2900362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Priority-Based Activation</a:t>
            </a:r>
            <a:endParaRPr/>
          </a:p>
        </p:txBody>
      </p:sp>
      <p:sp>
        <p:nvSpPr>
          <p:cNvPr id="865" name="Google Shape;865;p42"/>
          <p:cNvSpPr txBox="1"/>
          <p:nvPr/>
        </p:nvSpPr>
        <p:spPr>
          <a:xfrm>
            <a:off x="1057275" y="3707606"/>
            <a:ext cx="2762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High-demand, high-impact services first.</a:t>
            </a:r>
            <a:endParaRPr/>
          </a:p>
        </p:txBody>
      </p:sp>
      <p:sp>
        <p:nvSpPr>
          <p:cNvPr id="866" name="Google Shape;866;p42"/>
          <p:cNvSpPr txBox="1"/>
          <p:nvPr/>
        </p:nvSpPr>
        <p:spPr>
          <a:xfrm>
            <a:off x="4714875" y="3341340"/>
            <a:ext cx="2900362" cy="427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Institutional Absorption Capacity Alignment</a:t>
            </a:r>
            <a:endParaRPr/>
          </a:p>
        </p:txBody>
      </p:sp>
      <p:sp>
        <p:nvSpPr>
          <p:cNvPr id="867" name="Google Shape;867;p42"/>
          <p:cNvSpPr txBox="1"/>
          <p:nvPr/>
        </p:nvSpPr>
        <p:spPr>
          <a:xfrm>
            <a:off x="4714875" y="3921472"/>
            <a:ext cx="27622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Integration speed must match staffing, space, and monitoring readiness.</a:t>
            </a:r>
            <a:endParaRPr/>
          </a:p>
        </p:txBody>
      </p:sp>
      <p:sp>
        <p:nvSpPr>
          <p:cNvPr id="868" name="Google Shape;868;p42"/>
          <p:cNvSpPr txBox="1"/>
          <p:nvPr/>
        </p:nvSpPr>
        <p:spPr>
          <a:xfrm>
            <a:off x="8372475" y="3341340"/>
            <a:ext cx="2900362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Standardization Before Scale</a:t>
            </a:r>
            <a:endParaRPr/>
          </a:p>
        </p:txBody>
      </p:sp>
      <p:sp>
        <p:nvSpPr>
          <p:cNvPr id="869" name="Google Shape;869;p42"/>
          <p:cNvSpPr txBox="1"/>
          <p:nvPr/>
        </p:nvSpPr>
        <p:spPr>
          <a:xfrm>
            <a:off x="8372475" y="3707606"/>
            <a:ext cx="27622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 service goes live without complete documentation, defined SLA, and assigned authority.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74" name="Google Shape;87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5" name="Google Shape;875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781175"/>
            <a:ext cx="10668000" cy="3914775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43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CRITERIA FOR SELECTING PRIORITY SERVICES (PHASE I)</a:t>
            </a:r>
            <a:endParaRPr/>
          </a:p>
        </p:txBody>
      </p:sp>
      <p:sp>
        <p:nvSpPr>
          <p:cNvPr id="877" name="Google Shape;877;p43"/>
          <p:cNvSpPr txBox="1"/>
          <p:nvPr/>
        </p:nvSpPr>
        <p:spPr>
          <a:xfrm>
            <a:off x="762000" y="1314450"/>
            <a:ext cx="10668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Services selected for early integration will meet at least one of the following criteria:</a:t>
            </a:r>
            <a:endParaRPr/>
          </a:p>
        </p:txBody>
      </p:sp>
      <p:sp>
        <p:nvSpPr>
          <p:cNvPr id="878" name="Google Shape;878;p43"/>
          <p:cNvSpPr txBox="1"/>
          <p:nvPr/>
        </p:nvSpPr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5966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Selection will be evidence-based — not politically symbolic.</a:t>
            </a:r>
            <a:endParaRPr/>
          </a:p>
        </p:txBody>
      </p:sp>
      <p:sp>
        <p:nvSpPr>
          <p:cNvPr id="879" name="Google Shape;879;p43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80" name="Google Shape;880;p43"/>
          <p:cNvGraphicFramePr/>
          <p:nvPr/>
        </p:nvGraphicFramePr>
        <p:xfrm>
          <a:off x="771525" y="17907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{205658A8-B75E-4893-B863-9B2F382446B2}</a:tableStyleId>
              </a:tblPr>
              <a:tblGrid>
                <a:gridCol w="5353650"/>
                <a:gridCol w="5295300"/>
              </a:tblGrid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Selection Criterion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Rationale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High Citizen Volume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Immediate visible impact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Multi-Bureau Interaction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Reduces fragmentation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Escalation Frequency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Improves accountability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Economic Relevance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Supports business activity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Licensing &amp; Permit Delays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Reduces bottlenecks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Social Service Sensitivity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Improves public trust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81" name="Google Shape;881;p43"/>
          <p:cNvSpPr/>
          <p:nvPr/>
        </p:nvSpPr>
        <p:spPr>
          <a:xfrm>
            <a:off x="771525" y="2286000"/>
            <a:ext cx="535364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43"/>
          <p:cNvSpPr/>
          <p:nvPr/>
        </p:nvSpPr>
        <p:spPr>
          <a:xfrm>
            <a:off x="6125170" y="2286000"/>
            <a:ext cx="5295304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43"/>
          <p:cNvSpPr/>
          <p:nvPr/>
        </p:nvSpPr>
        <p:spPr>
          <a:xfrm>
            <a:off x="771525" y="2888902"/>
            <a:ext cx="535364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43"/>
          <p:cNvSpPr/>
          <p:nvPr/>
        </p:nvSpPr>
        <p:spPr>
          <a:xfrm>
            <a:off x="6125170" y="2888902"/>
            <a:ext cx="529530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43"/>
          <p:cNvSpPr/>
          <p:nvPr/>
        </p:nvSpPr>
        <p:spPr>
          <a:xfrm>
            <a:off x="771525" y="3477517"/>
            <a:ext cx="535364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43"/>
          <p:cNvSpPr/>
          <p:nvPr/>
        </p:nvSpPr>
        <p:spPr>
          <a:xfrm>
            <a:off x="6125170" y="3477517"/>
            <a:ext cx="529530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43"/>
          <p:cNvSpPr/>
          <p:nvPr/>
        </p:nvSpPr>
        <p:spPr>
          <a:xfrm>
            <a:off x="771525" y="4066133"/>
            <a:ext cx="535364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43"/>
          <p:cNvSpPr/>
          <p:nvPr/>
        </p:nvSpPr>
        <p:spPr>
          <a:xfrm>
            <a:off x="6125170" y="4066133"/>
            <a:ext cx="529530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43"/>
          <p:cNvSpPr/>
          <p:nvPr/>
        </p:nvSpPr>
        <p:spPr>
          <a:xfrm>
            <a:off x="771525" y="4654748"/>
            <a:ext cx="535364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43"/>
          <p:cNvSpPr/>
          <p:nvPr/>
        </p:nvSpPr>
        <p:spPr>
          <a:xfrm>
            <a:off x="6125170" y="4654748"/>
            <a:ext cx="529530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43"/>
          <p:cNvSpPr/>
          <p:nvPr/>
        </p:nvSpPr>
        <p:spPr>
          <a:xfrm>
            <a:off x="771525" y="5243363"/>
            <a:ext cx="535364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43"/>
          <p:cNvSpPr/>
          <p:nvPr/>
        </p:nvSpPr>
        <p:spPr>
          <a:xfrm>
            <a:off x="6125170" y="5243363"/>
            <a:ext cx="529530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97" name="Google Shape;897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8" name="Google Shape;898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314450"/>
            <a:ext cx="5143500" cy="25189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9" name="Google Shape;899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533525"/>
            <a:ext cx="5143500" cy="20807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0" name="Google Shape;900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214366"/>
            <a:ext cx="5143500" cy="20807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1" name="Google Shape;901;p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4214366"/>
            <a:ext cx="5143500" cy="2080766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p44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IDENTIFIED PHASE I PRIORITY SERVICE CLUSTERS</a:t>
            </a:r>
            <a:endParaRPr/>
          </a:p>
        </p:txBody>
      </p:sp>
      <p:sp>
        <p:nvSpPr>
          <p:cNvPr id="903" name="Google Shape;903;p44"/>
          <p:cNvSpPr txBox="1"/>
          <p:nvPr/>
        </p:nvSpPr>
        <p:spPr>
          <a:xfrm>
            <a:off x="762000" y="6485632"/>
            <a:ext cx="10668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These clusters are structured for discussion and calibration.</a:t>
            </a:r>
            <a:endParaRPr/>
          </a:p>
        </p:txBody>
      </p:sp>
      <p:sp>
        <p:nvSpPr>
          <p:cNvPr id="904" name="Google Shape;904;p44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44"/>
          <p:cNvSpPr txBox="1"/>
          <p:nvPr/>
        </p:nvSpPr>
        <p:spPr>
          <a:xfrm>
            <a:off x="1057275" y="1609725"/>
            <a:ext cx="478059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Cluster A — Business &amp; Investment Services</a:t>
            </a:r>
            <a:endParaRPr/>
          </a:p>
        </p:txBody>
      </p:sp>
      <p:sp>
        <p:nvSpPr>
          <p:cNvPr id="906" name="Google Shape;906;p44"/>
          <p:cNvSpPr txBox="1"/>
          <p:nvPr/>
        </p:nvSpPr>
        <p:spPr>
          <a:xfrm>
            <a:off x="6581775" y="1828800"/>
            <a:ext cx="478059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Cluster B — Land &amp; Construction Services</a:t>
            </a:r>
            <a:endParaRPr/>
          </a:p>
        </p:txBody>
      </p:sp>
      <p:sp>
        <p:nvSpPr>
          <p:cNvPr id="907" name="Google Shape;907;p44"/>
          <p:cNvSpPr txBox="1"/>
          <p:nvPr/>
        </p:nvSpPr>
        <p:spPr>
          <a:xfrm>
            <a:off x="1057275" y="4509641"/>
            <a:ext cx="478059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Cluster C — Civil &amp; Social Services</a:t>
            </a:r>
            <a:endParaRPr/>
          </a:p>
        </p:txBody>
      </p:sp>
      <p:sp>
        <p:nvSpPr>
          <p:cNvPr id="908" name="Google Shape;908;p44"/>
          <p:cNvSpPr txBox="1"/>
          <p:nvPr/>
        </p:nvSpPr>
        <p:spPr>
          <a:xfrm>
            <a:off x="6581775" y="4509641"/>
            <a:ext cx="478059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Cluster D — Urban Service Permits</a:t>
            </a:r>
            <a:endParaRPr/>
          </a:p>
        </p:txBody>
      </p:sp>
      <p:pic>
        <p:nvPicPr>
          <p:cNvPr descr="image.png" id="909" name="Google Shape;909;p4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7275" y="199504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44"/>
          <p:cNvSpPr txBox="1"/>
          <p:nvPr/>
        </p:nvSpPr>
        <p:spPr>
          <a:xfrm>
            <a:off x="1438275" y="1975991"/>
            <a:ext cx="29908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Business licensing issuance &amp; renewal</a:t>
            </a:r>
            <a:endParaRPr/>
          </a:p>
        </p:txBody>
      </p:sp>
      <p:pic>
        <p:nvPicPr>
          <p:cNvPr descr="image.png" id="911" name="Google Shape;911;p4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243319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44"/>
          <p:cNvSpPr txBox="1"/>
          <p:nvPr/>
        </p:nvSpPr>
        <p:spPr>
          <a:xfrm>
            <a:off x="1438275" y="2414141"/>
            <a:ext cx="24860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Trade registration coordination</a:t>
            </a:r>
            <a:endParaRPr/>
          </a:p>
        </p:txBody>
      </p:sp>
      <p:pic>
        <p:nvPicPr>
          <p:cNvPr descr="image.png" id="913" name="Google Shape;913;p4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7275" y="287134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44"/>
          <p:cNvSpPr txBox="1"/>
          <p:nvPr/>
        </p:nvSpPr>
        <p:spPr>
          <a:xfrm>
            <a:off x="1438275" y="2852291"/>
            <a:ext cx="2409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Investment permit processing</a:t>
            </a:r>
            <a:endParaRPr/>
          </a:p>
        </p:txBody>
      </p:sp>
      <p:pic>
        <p:nvPicPr>
          <p:cNvPr descr="image.png" id="915" name="Google Shape;915;p4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7275" y="330949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44"/>
          <p:cNvSpPr txBox="1"/>
          <p:nvPr/>
        </p:nvSpPr>
        <p:spPr>
          <a:xfrm>
            <a:off x="1438275" y="3290441"/>
            <a:ext cx="28765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Municipal tax clearance certification</a:t>
            </a:r>
            <a:endParaRPr/>
          </a:p>
        </p:txBody>
      </p:sp>
      <p:pic>
        <p:nvPicPr>
          <p:cNvPr descr="image.png" id="917" name="Google Shape;917;p4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81775" y="221411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Google Shape;918;p44"/>
          <p:cNvSpPr txBox="1"/>
          <p:nvPr/>
        </p:nvSpPr>
        <p:spPr>
          <a:xfrm>
            <a:off x="6962775" y="2195066"/>
            <a:ext cx="19621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Land holding verification</a:t>
            </a:r>
            <a:endParaRPr/>
          </a:p>
        </p:txBody>
      </p:sp>
      <p:pic>
        <p:nvPicPr>
          <p:cNvPr descr="image.png" id="919" name="Google Shape;919;p4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1775" y="265226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44"/>
          <p:cNvSpPr txBox="1"/>
          <p:nvPr/>
        </p:nvSpPr>
        <p:spPr>
          <a:xfrm>
            <a:off x="6962775" y="2633216"/>
            <a:ext cx="26765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Building permit application intake</a:t>
            </a:r>
            <a:endParaRPr/>
          </a:p>
        </p:txBody>
      </p:sp>
      <p:pic>
        <p:nvPicPr>
          <p:cNvPr descr="image.png" id="921" name="Google Shape;921;p4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1775" y="309041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44"/>
          <p:cNvSpPr txBox="1"/>
          <p:nvPr/>
        </p:nvSpPr>
        <p:spPr>
          <a:xfrm>
            <a:off x="6962775" y="3071366"/>
            <a:ext cx="3952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Construction compliance documentation routing</a:t>
            </a:r>
            <a:endParaRPr/>
          </a:p>
        </p:txBody>
      </p:sp>
      <p:pic>
        <p:nvPicPr>
          <p:cNvPr descr="image.png" id="923" name="Google Shape;923;p4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57275" y="489495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44"/>
          <p:cNvSpPr txBox="1"/>
          <p:nvPr/>
        </p:nvSpPr>
        <p:spPr>
          <a:xfrm>
            <a:off x="1438275" y="4875907"/>
            <a:ext cx="23717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Civil registration coordination</a:t>
            </a:r>
            <a:endParaRPr/>
          </a:p>
        </p:txBody>
      </p:sp>
      <p:pic>
        <p:nvPicPr>
          <p:cNvPr descr="image.png" id="925" name="Google Shape;925;p4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57275" y="533310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44"/>
          <p:cNvSpPr txBox="1"/>
          <p:nvPr/>
        </p:nvSpPr>
        <p:spPr>
          <a:xfrm>
            <a:off x="1438275" y="5314057"/>
            <a:ext cx="2447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Resident ID verification routing</a:t>
            </a:r>
            <a:endParaRPr/>
          </a:p>
        </p:txBody>
      </p:sp>
      <p:pic>
        <p:nvPicPr>
          <p:cNvPr descr="image.png" id="927" name="Google Shape;927;p4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57275" y="577125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28" name="Google Shape;928;p44"/>
          <p:cNvSpPr txBox="1"/>
          <p:nvPr/>
        </p:nvSpPr>
        <p:spPr>
          <a:xfrm>
            <a:off x="1438275" y="5752207"/>
            <a:ext cx="2476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Social support service referrals</a:t>
            </a:r>
            <a:endParaRPr/>
          </a:p>
        </p:txBody>
      </p:sp>
      <p:pic>
        <p:nvPicPr>
          <p:cNvPr descr="image.png" id="929" name="Google Shape;929;p4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81775" y="489495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44"/>
          <p:cNvSpPr txBox="1"/>
          <p:nvPr/>
        </p:nvSpPr>
        <p:spPr>
          <a:xfrm>
            <a:off x="6962775" y="4875907"/>
            <a:ext cx="27527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Commercial signage permit intake</a:t>
            </a:r>
            <a:endParaRPr/>
          </a:p>
        </p:txBody>
      </p:sp>
      <p:pic>
        <p:nvPicPr>
          <p:cNvPr descr="image.png" id="931" name="Google Shape;931;p4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81775" y="533310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44"/>
          <p:cNvSpPr txBox="1"/>
          <p:nvPr/>
        </p:nvSpPr>
        <p:spPr>
          <a:xfrm>
            <a:off x="6962775" y="5314057"/>
            <a:ext cx="2743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Environmental compliance routing</a:t>
            </a:r>
            <a:endParaRPr/>
          </a:p>
        </p:txBody>
      </p:sp>
      <p:pic>
        <p:nvPicPr>
          <p:cNvPr descr="image.png" id="933" name="Google Shape;933;p4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81775" y="577125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34" name="Google Shape;934;p44"/>
          <p:cNvSpPr txBox="1"/>
          <p:nvPr/>
        </p:nvSpPr>
        <p:spPr>
          <a:xfrm>
            <a:off x="6962775" y="5752207"/>
            <a:ext cx="2790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Public utility coordination requests</a:t>
            </a:r>
            <a:endParaRPr/>
          </a:p>
        </p:txBody>
      </p:sp>
      <p:pic>
        <p:nvPicPr>
          <p:cNvPr descr="image.png" id="935" name="Google Shape;935;p4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33475" y="2061716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6" name="Google Shape;936;p4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33475" y="2499866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7" name="Google Shape;937;p4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33475" y="2938016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8" name="Google Shape;938;p4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33475" y="3376166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9" name="Google Shape;939;p4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657975" y="228079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0" name="Google Shape;940;p4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657975" y="271894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1" name="Google Shape;941;p4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657975" y="315709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2" name="Google Shape;942;p4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33475" y="496163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3" name="Google Shape;943;p4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33475" y="539978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4" name="Google Shape;944;p4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33475" y="583793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5" name="Google Shape;945;p4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57975" y="496163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6" name="Google Shape;946;p4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57975" y="539978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7" name="Google Shape;947;p4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57975" y="5837932"/>
            <a:ext cx="11430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2" name="Google Shape;95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3" name="Google Shape;953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314450"/>
            <a:ext cx="10668000" cy="4065091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45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SERVICE CLUSTERS — STRUCTURAL VIEW</a:t>
            </a:r>
            <a:endParaRPr/>
          </a:p>
        </p:txBody>
      </p:sp>
      <p:sp>
        <p:nvSpPr>
          <p:cNvPr id="955" name="Google Shape;955;p45"/>
          <p:cNvSpPr txBox="1"/>
          <p:nvPr/>
        </p:nvSpPr>
        <p:spPr>
          <a:xfrm>
            <a:off x="762000" y="5665291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Phasing reflects institutional readiness — not ambition alone.</a:t>
            </a:r>
            <a:endParaRPr/>
          </a:p>
        </p:txBody>
      </p:sp>
      <p:sp>
        <p:nvSpPr>
          <p:cNvPr id="956" name="Google Shape;956;p45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57" name="Google Shape;957;p45"/>
          <p:cNvGraphicFramePr/>
          <p:nvPr/>
        </p:nvGraphicFramePr>
        <p:xfrm>
          <a:off x="771525" y="13239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{205658A8-B75E-4893-B863-9B2F382446B2}</a:tableStyleId>
              </a:tblPr>
              <a:tblGrid>
                <a:gridCol w="3218400"/>
                <a:gridCol w="2837100"/>
                <a:gridCol w="3146675"/>
                <a:gridCol w="1446750"/>
              </a:tblGrid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Sector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Primary Bureau(s)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Integration Complexity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Phase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Business Licensing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Trade &amp; Industry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Medium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Phase 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Municipal Revenue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Finance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Low–Medium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Phase 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Construction &amp; Land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Urban Development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Phase I–II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Civil Registration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Civil Affairs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Medium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Phase II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Environmental Compliance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Environmental Office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Medium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Phase II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Investment Services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Investment Commission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Medium–High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Phase 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58" name="Google Shape;958;p45"/>
          <p:cNvSpPr/>
          <p:nvPr/>
        </p:nvSpPr>
        <p:spPr>
          <a:xfrm>
            <a:off x="771525" y="1819275"/>
            <a:ext cx="3218408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45"/>
          <p:cNvSpPr/>
          <p:nvPr/>
        </p:nvSpPr>
        <p:spPr>
          <a:xfrm>
            <a:off x="3989933" y="1819275"/>
            <a:ext cx="283711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45"/>
          <p:cNvSpPr/>
          <p:nvPr/>
        </p:nvSpPr>
        <p:spPr>
          <a:xfrm>
            <a:off x="6827043" y="1819275"/>
            <a:ext cx="3146673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45"/>
          <p:cNvSpPr/>
          <p:nvPr/>
        </p:nvSpPr>
        <p:spPr>
          <a:xfrm>
            <a:off x="9973716" y="1819275"/>
            <a:ext cx="1446758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45"/>
          <p:cNvSpPr/>
          <p:nvPr/>
        </p:nvSpPr>
        <p:spPr>
          <a:xfrm>
            <a:off x="771525" y="2422177"/>
            <a:ext cx="321840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45"/>
          <p:cNvSpPr/>
          <p:nvPr/>
        </p:nvSpPr>
        <p:spPr>
          <a:xfrm>
            <a:off x="3989933" y="2422177"/>
            <a:ext cx="283711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45"/>
          <p:cNvSpPr/>
          <p:nvPr/>
        </p:nvSpPr>
        <p:spPr>
          <a:xfrm>
            <a:off x="6827043" y="2422177"/>
            <a:ext cx="314667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45"/>
          <p:cNvSpPr/>
          <p:nvPr/>
        </p:nvSpPr>
        <p:spPr>
          <a:xfrm>
            <a:off x="9973716" y="2422177"/>
            <a:ext cx="144675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45"/>
          <p:cNvSpPr/>
          <p:nvPr/>
        </p:nvSpPr>
        <p:spPr>
          <a:xfrm>
            <a:off x="771525" y="3010792"/>
            <a:ext cx="321840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45"/>
          <p:cNvSpPr/>
          <p:nvPr/>
        </p:nvSpPr>
        <p:spPr>
          <a:xfrm>
            <a:off x="3989933" y="3010792"/>
            <a:ext cx="283711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45"/>
          <p:cNvSpPr/>
          <p:nvPr/>
        </p:nvSpPr>
        <p:spPr>
          <a:xfrm>
            <a:off x="6827043" y="3010792"/>
            <a:ext cx="314667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45"/>
          <p:cNvSpPr/>
          <p:nvPr/>
        </p:nvSpPr>
        <p:spPr>
          <a:xfrm>
            <a:off x="9973716" y="3010792"/>
            <a:ext cx="144675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45"/>
          <p:cNvSpPr/>
          <p:nvPr/>
        </p:nvSpPr>
        <p:spPr>
          <a:xfrm>
            <a:off x="771525" y="3599408"/>
            <a:ext cx="321840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45"/>
          <p:cNvSpPr/>
          <p:nvPr/>
        </p:nvSpPr>
        <p:spPr>
          <a:xfrm>
            <a:off x="3989933" y="3599408"/>
            <a:ext cx="283711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45"/>
          <p:cNvSpPr/>
          <p:nvPr/>
        </p:nvSpPr>
        <p:spPr>
          <a:xfrm>
            <a:off x="6827043" y="3599408"/>
            <a:ext cx="314667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45"/>
          <p:cNvSpPr/>
          <p:nvPr/>
        </p:nvSpPr>
        <p:spPr>
          <a:xfrm>
            <a:off x="9973716" y="3599408"/>
            <a:ext cx="144675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45"/>
          <p:cNvSpPr/>
          <p:nvPr/>
        </p:nvSpPr>
        <p:spPr>
          <a:xfrm>
            <a:off x="771525" y="4188023"/>
            <a:ext cx="321840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45"/>
          <p:cNvSpPr/>
          <p:nvPr/>
        </p:nvSpPr>
        <p:spPr>
          <a:xfrm>
            <a:off x="3989933" y="4188023"/>
            <a:ext cx="283711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45"/>
          <p:cNvSpPr/>
          <p:nvPr/>
        </p:nvSpPr>
        <p:spPr>
          <a:xfrm>
            <a:off x="6827043" y="4188023"/>
            <a:ext cx="314667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45"/>
          <p:cNvSpPr/>
          <p:nvPr/>
        </p:nvSpPr>
        <p:spPr>
          <a:xfrm>
            <a:off x="9973716" y="4188023"/>
            <a:ext cx="144675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45"/>
          <p:cNvSpPr/>
          <p:nvPr/>
        </p:nvSpPr>
        <p:spPr>
          <a:xfrm>
            <a:off x="771525" y="4776638"/>
            <a:ext cx="321840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45"/>
          <p:cNvSpPr/>
          <p:nvPr/>
        </p:nvSpPr>
        <p:spPr>
          <a:xfrm>
            <a:off x="3989933" y="4776638"/>
            <a:ext cx="283711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45"/>
          <p:cNvSpPr/>
          <p:nvPr/>
        </p:nvSpPr>
        <p:spPr>
          <a:xfrm>
            <a:off x="6827043" y="4776638"/>
            <a:ext cx="314667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45"/>
          <p:cNvSpPr/>
          <p:nvPr/>
        </p:nvSpPr>
        <p:spPr>
          <a:xfrm>
            <a:off x="9973716" y="4776638"/>
            <a:ext cx="144675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6" name="Google Shape;98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7" name="Google Shape;987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781175"/>
            <a:ext cx="3352800" cy="397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8" name="Google Shape;988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9600" y="1781175"/>
            <a:ext cx="3352800" cy="397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9" name="Google Shape;989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77200" y="1781175"/>
            <a:ext cx="3352800" cy="397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0" name="Google Shape;990;p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2076450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1" name="Google Shape;991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14875" y="2076450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2" name="Google Shape;992;p4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72475" y="2076450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46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MULTI-YEAR EXPANSION VISION</a:t>
            </a:r>
            <a:endParaRPr/>
          </a:p>
        </p:txBody>
      </p:sp>
      <p:sp>
        <p:nvSpPr>
          <p:cNvPr id="994" name="Google Shape;994;p46"/>
          <p:cNvSpPr txBox="1"/>
          <p:nvPr/>
        </p:nvSpPr>
        <p:spPr>
          <a:xfrm>
            <a:off x="762000" y="1314450"/>
            <a:ext cx="10668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Structured Growth Over 3 Years</a:t>
            </a:r>
            <a:endParaRPr/>
          </a:p>
        </p:txBody>
      </p:sp>
      <p:sp>
        <p:nvSpPr>
          <p:cNvPr id="995" name="Google Shape;995;p46"/>
          <p:cNvSpPr txBox="1"/>
          <p:nvPr/>
        </p:nvSpPr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Expansion demonstrates institutional growth — not administrative concentration.</a:t>
            </a:r>
            <a:endParaRPr/>
          </a:p>
        </p:txBody>
      </p:sp>
      <p:sp>
        <p:nvSpPr>
          <p:cNvPr id="996" name="Google Shape;996;p46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46"/>
          <p:cNvSpPr txBox="1"/>
          <p:nvPr/>
        </p:nvSpPr>
        <p:spPr>
          <a:xfrm>
            <a:off x="1057275" y="2838450"/>
            <a:ext cx="2900362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Year 1:</a:t>
            </a:r>
            <a:endParaRPr/>
          </a:p>
        </p:txBody>
      </p:sp>
      <p:sp>
        <p:nvSpPr>
          <p:cNvPr id="998" name="Google Shape;998;p46"/>
          <p:cNvSpPr txBox="1"/>
          <p:nvPr/>
        </p:nvSpPr>
        <p:spPr>
          <a:xfrm>
            <a:off x="4714875" y="2838450"/>
            <a:ext cx="2900362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Year 2:</a:t>
            </a:r>
            <a:endParaRPr/>
          </a:p>
        </p:txBody>
      </p:sp>
      <p:sp>
        <p:nvSpPr>
          <p:cNvPr id="999" name="Google Shape;999;p46"/>
          <p:cNvSpPr txBox="1"/>
          <p:nvPr/>
        </p:nvSpPr>
        <p:spPr>
          <a:xfrm>
            <a:off x="8372475" y="2838450"/>
            <a:ext cx="2900362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Year 3:</a:t>
            </a:r>
            <a:endParaRPr/>
          </a:p>
        </p:txBody>
      </p:sp>
      <p:pic>
        <p:nvPicPr>
          <p:cNvPr descr="image.png" id="1000" name="Google Shape;1000;p4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322376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1" name="Google Shape;1001;p46"/>
          <p:cNvSpPr txBox="1"/>
          <p:nvPr/>
        </p:nvSpPr>
        <p:spPr>
          <a:xfrm>
            <a:off x="1438275" y="3204716"/>
            <a:ext cx="2381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high-demand services integrated</a:t>
            </a:r>
            <a:endParaRPr/>
          </a:p>
        </p:txBody>
      </p:sp>
      <p:pic>
        <p:nvPicPr>
          <p:cNvPr descr="image.png" id="1002" name="Google Shape;1002;p4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392474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46"/>
          <p:cNvSpPr txBox="1"/>
          <p:nvPr/>
        </p:nvSpPr>
        <p:spPr>
          <a:xfrm>
            <a:off x="1438275" y="3905696"/>
            <a:ext cx="2381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Standardization maturity achieved</a:t>
            </a:r>
            <a:endParaRPr/>
          </a:p>
        </p:txBody>
      </p:sp>
      <p:pic>
        <p:nvPicPr>
          <p:cNvPr descr="image.png" id="1004" name="Google Shape;1004;p4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57275" y="462572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5" name="Google Shape;1005;p46"/>
          <p:cNvSpPr txBox="1"/>
          <p:nvPr/>
        </p:nvSpPr>
        <p:spPr>
          <a:xfrm>
            <a:off x="1438275" y="4606676"/>
            <a:ext cx="2381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Performance monitoring stabilized</a:t>
            </a:r>
            <a:endParaRPr/>
          </a:p>
        </p:txBody>
      </p:sp>
      <p:pic>
        <p:nvPicPr>
          <p:cNvPr descr="image.png" id="1006" name="Google Shape;1006;p4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14875" y="322376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p46"/>
          <p:cNvSpPr txBox="1"/>
          <p:nvPr/>
        </p:nvSpPr>
        <p:spPr>
          <a:xfrm>
            <a:off x="5095875" y="3204716"/>
            <a:ext cx="2381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Medium-complexity services added</a:t>
            </a:r>
            <a:endParaRPr/>
          </a:p>
        </p:txBody>
      </p:sp>
      <p:pic>
        <p:nvPicPr>
          <p:cNvPr descr="image.png" id="1008" name="Google Shape;1008;p4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14875" y="392474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9" name="Google Shape;1009;p46"/>
          <p:cNvSpPr txBox="1"/>
          <p:nvPr/>
        </p:nvSpPr>
        <p:spPr>
          <a:xfrm>
            <a:off x="5095875" y="3905696"/>
            <a:ext cx="2381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Expanded cross-bureau coordination</a:t>
            </a:r>
            <a:endParaRPr/>
          </a:p>
        </p:txBody>
      </p:sp>
      <p:pic>
        <p:nvPicPr>
          <p:cNvPr descr="image.png" id="1010" name="Google Shape;1010;p4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14875" y="462572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1" name="Google Shape;1011;p46"/>
          <p:cNvSpPr txBox="1"/>
          <p:nvPr/>
        </p:nvSpPr>
        <p:spPr>
          <a:xfrm>
            <a:off x="5095875" y="4606676"/>
            <a:ext cx="12287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SLA refinement</a:t>
            </a:r>
            <a:endParaRPr/>
          </a:p>
        </p:txBody>
      </p:sp>
      <p:pic>
        <p:nvPicPr>
          <p:cNvPr descr="image.png" id="1012" name="Google Shape;1012;p4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72475" y="322376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3" name="Google Shape;1013;p46"/>
          <p:cNvSpPr txBox="1"/>
          <p:nvPr/>
        </p:nvSpPr>
        <p:spPr>
          <a:xfrm>
            <a:off x="8753475" y="3204716"/>
            <a:ext cx="17430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Advanced integration</a:t>
            </a:r>
            <a:endParaRPr/>
          </a:p>
        </p:txBody>
      </p:sp>
      <p:pic>
        <p:nvPicPr>
          <p:cNvPr descr="image.png" id="1014" name="Google Shape;1014;p4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72475" y="366191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46"/>
          <p:cNvSpPr txBox="1"/>
          <p:nvPr/>
        </p:nvSpPr>
        <p:spPr>
          <a:xfrm>
            <a:off x="8753475" y="3642866"/>
            <a:ext cx="21621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Digital consolidation layers</a:t>
            </a:r>
            <a:endParaRPr/>
          </a:p>
        </p:txBody>
      </p:sp>
      <p:pic>
        <p:nvPicPr>
          <p:cNvPr descr="image.png" id="1016" name="Google Shape;1016;p4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72475" y="410006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7" name="Google Shape;1017;p46"/>
          <p:cNvSpPr txBox="1"/>
          <p:nvPr/>
        </p:nvSpPr>
        <p:spPr>
          <a:xfrm>
            <a:off x="8753475" y="4081016"/>
            <a:ext cx="2381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Performance benchmarking across sectors</a:t>
            </a:r>
            <a:endParaRPr/>
          </a:p>
        </p:txBody>
      </p:sp>
      <p:pic>
        <p:nvPicPr>
          <p:cNvPr descr="image.png" id="1018" name="Google Shape;1018;p4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33475" y="329044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9" name="Google Shape;1019;p4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33475" y="399142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0" name="Google Shape;1020;p4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33475" y="469240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1" name="Google Shape;1021;p4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791075" y="329044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2" name="Google Shape;1022;p4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791075" y="399142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3" name="Google Shape;1023;p4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791075" y="469240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4" name="Google Shape;1024;p4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48675" y="329044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5" name="Google Shape;1025;p4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48675" y="372859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6" name="Google Shape;1026;p4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48675" y="4166741"/>
            <a:ext cx="11430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1" name="Google Shape;1031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2" name="Google Shape;1032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940867"/>
            <a:ext cx="5143500" cy="37190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3" name="Google Shape;1033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524125"/>
            <a:ext cx="5143500" cy="131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4" name="Google Shape;1034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4029075"/>
            <a:ext cx="514350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5" name="Google Shape;1035;p47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CAPACITY BUILDING FOR SERVICE IDENTIFICATION</a:t>
            </a:r>
            <a:endParaRPr/>
          </a:p>
        </p:txBody>
      </p:sp>
      <p:sp>
        <p:nvSpPr>
          <p:cNvPr id="1036" name="Google Shape;1036;p47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37" name="Google Shape;1037;p4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2236142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47"/>
          <p:cNvSpPr txBox="1"/>
          <p:nvPr/>
        </p:nvSpPr>
        <p:spPr>
          <a:xfrm>
            <a:off x="1057275" y="2998142"/>
            <a:ext cx="478059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Successful integration requires:</a:t>
            </a:r>
            <a:endParaRPr/>
          </a:p>
        </p:txBody>
      </p:sp>
      <p:pic>
        <p:nvPicPr>
          <p:cNvPr descr="image.png" id="1039" name="Google Shape;1039;p4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81100" y="238854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0" name="Google Shape;1040;p4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338345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47"/>
          <p:cNvSpPr txBox="1"/>
          <p:nvPr/>
        </p:nvSpPr>
        <p:spPr>
          <a:xfrm>
            <a:off x="1438275" y="3364408"/>
            <a:ext cx="33242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Service mapping workshops with bureaus</a:t>
            </a:r>
            <a:endParaRPr/>
          </a:p>
        </p:txBody>
      </p:sp>
      <p:pic>
        <p:nvPicPr>
          <p:cNvPr descr="image.png" id="1042" name="Google Shape;1042;p4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382160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3" name="Google Shape;1043;p47"/>
          <p:cNvSpPr txBox="1"/>
          <p:nvPr/>
        </p:nvSpPr>
        <p:spPr>
          <a:xfrm>
            <a:off x="1438275" y="3802558"/>
            <a:ext cx="32289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Documentation harmonization exercises</a:t>
            </a:r>
            <a:endParaRPr/>
          </a:p>
        </p:txBody>
      </p:sp>
      <p:pic>
        <p:nvPicPr>
          <p:cNvPr descr="image.png" id="1044" name="Google Shape;1044;p4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425975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5" name="Google Shape;1045;p47"/>
          <p:cNvSpPr txBox="1"/>
          <p:nvPr/>
        </p:nvSpPr>
        <p:spPr>
          <a:xfrm>
            <a:off x="1438275" y="4240708"/>
            <a:ext cx="19716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SLA agreement sessions</a:t>
            </a:r>
            <a:endParaRPr/>
          </a:p>
        </p:txBody>
      </p:sp>
      <p:pic>
        <p:nvPicPr>
          <p:cNvPr descr="image.png" id="1046" name="Google Shape;1046;p4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469790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47"/>
          <p:cNvSpPr txBox="1"/>
          <p:nvPr/>
        </p:nvSpPr>
        <p:spPr>
          <a:xfrm>
            <a:off x="1438275" y="4678858"/>
            <a:ext cx="2600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Process flow redesign validation</a:t>
            </a:r>
            <a:endParaRPr/>
          </a:p>
        </p:txBody>
      </p:sp>
      <p:pic>
        <p:nvPicPr>
          <p:cNvPr descr="image.png" id="1048" name="Google Shape;1048;p4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513605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9" name="Google Shape;1049;p47"/>
          <p:cNvSpPr txBox="1"/>
          <p:nvPr/>
        </p:nvSpPr>
        <p:spPr>
          <a:xfrm>
            <a:off x="1438275" y="5117008"/>
            <a:ext cx="30670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Staff orientation &amp; operational training</a:t>
            </a:r>
            <a:endParaRPr/>
          </a:p>
        </p:txBody>
      </p:sp>
      <p:pic>
        <p:nvPicPr>
          <p:cNvPr descr="image.png" id="1050" name="Google Shape;1050;p4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33475" y="3450133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1" name="Google Shape;1051;p4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33475" y="3888283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2" name="Google Shape;1052;p4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33475" y="4326433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3" name="Google Shape;1053;p4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33475" y="4764583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4" name="Google Shape;1054;p4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33475" y="5202733"/>
            <a:ext cx="1143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p47"/>
          <p:cNvSpPr txBox="1"/>
          <p:nvPr/>
        </p:nvSpPr>
        <p:spPr>
          <a:xfrm>
            <a:off x="6677025" y="2914650"/>
            <a:ext cx="4362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Capacity building is continuous — not one-time.</a:t>
            </a:r>
            <a:endParaRPr/>
          </a:p>
        </p:txBody>
      </p:sp>
      <p:sp>
        <p:nvSpPr>
          <p:cNvPr id="1056" name="Google Shape;1056;p47"/>
          <p:cNvSpPr txBox="1"/>
          <p:nvPr/>
        </p:nvSpPr>
        <p:spPr>
          <a:xfrm>
            <a:off x="6677025" y="4419600"/>
            <a:ext cx="4362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Institutional maturity precedes scale.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1" name="Google Shape;106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2" name="Google Shape;1062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715541"/>
            <a:ext cx="5143500" cy="3636466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Google Shape;1063;p48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STAKEHOLDER RESISTANCE MITIGATION STRATEGY</a:t>
            </a:r>
            <a:endParaRPr/>
          </a:p>
        </p:txBody>
      </p:sp>
      <p:sp>
        <p:nvSpPr>
          <p:cNvPr id="1064" name="Google Shape;1064;p48"/>
          <p:cNvSpPr txBox="1"/>
          <p:nvPr/>
        </p:nvSpPr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5966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Resistance prevention is designed into the model.</a:t>
            </a:r>
            <a:endParaRPr/>
          </a:p>
        </p:txBody>
      </p:sp>
      <p:sp>
        <p:nvSpPr>
          <p:cNvPr id="1065" name="Google Shape;1065;p48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48"/>
          <p:cNvSpPr txBox="1"/>
          <p:nvPr/>
        </p:nvSpPr>
        <p:spPr>
          <a:xfrm>
            <a:off x="762000" y="2425005"/>
            <a:ext cx="5143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Potential resistance areas:</a:t>
            </a:r>
            <a:endParaRPr/>
          </a:p>
        </p:txBody>
      </p:sp>
      <p:graphicFrame>
        <p:nvGraphicFramePr>
          <p:cNvPr id="1067" name="Google Shape;1067;p48"/>
          <p:cNvGraphicFramePr/>
          <p:nvPr/>
        </p:nvGraphicFramePr>
        <p:xfrm>
          <a:off x="6296025" y="17250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{205658A8-B75E-4893-B863-9B2F382446B2}</a:tableStyleId>
              </a:tblPr>
              <a:tblGrid>
                <a:gridCol w="1999350"/>
                <a:gridCol w="3125100"/>
              </a:tblGrid>
              <a:tr h="72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Resistance Source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Mitigation Approach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72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Bureau Heads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Formal mandate clarity &amp; protection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Technical Staff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Early engagement &amp; role clarity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Operational Staff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Training &amp; workflow support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Executive Concerns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Escalation safeguards &amp; oversight clarity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68" name="Google Shape;1068;p48"/>
          <p:cNvSpPr/>
          <p:nvPr/>
        </p:nvSpPr>
        <p:spPr>
          <a:xfrm>
            <a:off x="6296025" y="2420391"/>
            <a:ext cx="1999357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48"/>
          <p:cNvSpPr/>
          <p:nvPr/>
        </p:nvSpPr>
        <p:spPr>
          <a:xfrm>
            <a:off x="8295382" y="2420391"/>
            <a:ext cx="312509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70" name="Google Shape;1070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87074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p48"/>
          <p:cNvSpPr txBox="1"/>
          <p:nvPr/>
        </p:nvSpPr>
        <p:spPr>
          <a:xfrm>
            <a:off x="1143000" y="2851695"/>
            <a:ext cx="22098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Perceived authority dilution</a:t>
            </a:r>
            <a:endParaRPr/>
          </a:p>
        </p:txBody>
      </p:sp>
      <p:pic>
        <p:nvPicPr>
          <p:cNvPr descr="image.png" id="1072" name="Google Shape;1072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30889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48"/>
          <p:cNvSpPr txBox="1"/>
          <p:nvPr/>
        </p:nvSpPr>
        <p:spPr>
          <a:xfrm>
            <a:off x="1143000" y="3289845"/>
            <a:ext cx="27241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Additional reporting requirements</a:t>
            </a:r>
            <a:endParaRPr/>
          </a:p>
        </p:txBody>
      </p:sp>
      <p:pic>
        <p:nvPicPr>
          <p:cNvPr descr="image.png" id="1074" name="Google Shape;1074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74704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5" name="Google Shape;1075;p48"/>
          <p:cNvSpPr txBox="1"/>
          <p:nvPr/>
        </p:nvSpPr>
        <p:spPr>
          <a:xfrm>
            <a:off x="1143000" y="3727995"/>
            <a:ext cx="22098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Standardization discomfort</a:t>
            </a:r>
            <a:endParaRPr/>
          </a:p>
        </p:txBody>
      </p:sp>
      <p:pic>
        <p:nvPicPr>
          <p:cNvPr descr="image.png" id="1076" name="Google Shape;1076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18519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48"/>
          <p:cNvSpPr txBox="1"/>
          <p:nvPr/>
        </p:nvSpPr>
        <p:spPr>
          <a:xfrm>
            <a:off x="1143000" y="4166145"/>
            <a:ext cx="26765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Resource redistribution concerns</a:t>
            </a:r>
            <a:endParaRPr/>
          </a:p>
        </p:txBody>
      </p:sp>
      <p:sp>
        <p:nvSpPr>
          <p:cNvPr id="1078" name="Google Shape;1078;p48"/>
          <p:cNvSpPr/>
          <p:nvPr/>
        </p:nvSpPr>
        <p:spPr>
          <a:xfrm>
            <a:off x="6296025" y="3297584"/>
            <a:ext cx="199935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48"/>
          <p:cNvSpPr/>
          <p:nvPr/>
        </p:nvSpPr>
        <p:spPr>
          <a:xfrm>
            <a:off x="8295382" y="3297584"/>
            <a:ext cx="312509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48"/>
          <p:cNvSpPr/>
          <p:nvPr/>
        </p:nvSpPr>
        <p:spPr>
          <a:xfrm>
            <a:off x="6296025" y="3886200"/>
            <a:ext cx="199935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48"/>
          <p:cNvSpPr/>
          <p:nvPr/>
        </p:nvSpPr>
        <p:spPr>
          <a:xfrm>
            <a:off x="8295382" y="3886200"/>
            <a:ext cx="312509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48"/>
          <p:cNvSpPr/>
          <p:nvPr/>
        </p:nvSpPr>
        <p:spPr>
          <a:xfrm>
            <a:off x="6296025" y="4474815"/>
            <a:ext cx="199935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48"/>
          <p:cNvSpPr/>
          <p:nvPr/>
        </p:nvSpPr>
        <p:spPr>
          <a:xfrm>
            <a:off x="8295382" y="4474815"/>
            <a:ext cx="312509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84" name="Google Shape;1084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2962" y="2937420"/>
            <a:ext cx="1047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5" name="Google Shape;1085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2962" y="3375570"/>
            <a:ext cx="1047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6" name="Google Shape;1086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2962" y="3813720"/>
            <a:ext cx="1047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7" name="Google Shape;1087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2962" y="4251870"/>
            <a:ext cx="104775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2" name="Google Shape;109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3" name="Google Shape;1093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089969"/>
            <a:ext cx="5143500" cy="1421010"/>
          </a:xfrm>
          <a:prstGeom prst="rect">
            <a:avLst/>
          </a:prstGeom>
          <a:noFill/>
          <a:ln>
            <a:noFill/>
          </a:ln>
        </p:spPr>
      </p:pic>
      <p:sp>
        <p:nvSpPr>
          <p:cNvPr id="1094" name="Google Shape;1094;p49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CROSS-BUREAU DEPENDENCY MODEL</a:t>
            </a:r>
            <a:endParaRPr/>
          </a:p>
        </p:txBody>
      </p:sp>
      <p:sp>
        <p:nvSpPr>
          <p:cNvPr id="1095" name="Google Shape;1095;p49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49"/>
          <p:cNvSpPr txBox="1"/>
          <p:nvPr/>
        </p:nvSpPr>
        <p:spPr>
          <a:xfrm>
            <a:off x="762000" y="2167830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Many services involve sequential or parallel bureau actions.</a:t>
            </a:r>
            <a:endParaRPr/>
          </a:p>
        </p:txBody>
      </p:sp>
      <p:sp>
        <p:nvSpPr>
          <p:cNvPr id="1097" name="Google Shape;1097;p49"/>
          <p:cNvSpPr txBox="1"/>
          <p:nvPr/>
        </p:nvSpPr>
        <p:spPr>
          <a:xfrm>
            <a:off x="762000" y="2967930"/>
            <a:ext cx="5143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Integration model requires:</a:t>
            </a:r>
            <a:endParaRPr/>
          </a:p>
        </p:txBody>
      </p:sp>
      <p:pic>
        <p:nvPicPr>
          <p:cNvPr descr="image.png" id="1098" name="Google Shape;1098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45177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9" name="Google Shape;1099;p49"/>
          <p:cNvSpPr txBox="1"/>
          <p:nvPr/>
        </p:nvSpPr>
        <p:spPr>
          <a:xfrm>
            <a:off x="1143000" y="3432720"/>
            <a:ext cx="3000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Defined process mapping per service</a:t>
            </a:r>
            <a:endParaRPr/>
          </a:p>
        </p:txBody>
      </p:sp>
      <p:pic>
        <p:nvPicPr>
          <p:cNvPr descr="image.png" id="1100" name="Google Shape;1100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88992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1" name="Google Shape;1101;p49"/>
          <p:cNvSpPr txBox="1"/>
          <p:nvPr/>
        </p:nvSpPr>
        <p:spPr>
          <a:xfrm>
            <a:off x="1143000" y="3870870"/>
            <a:ext cx="2219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Clear handoff responsibility</a:t>
            </a:r>
            <a:endParaRPr/>
          </a:p>
        </p:txBody>
      </p:sp>
      <p:pic>
        <p:nvPicPr>
          <p:cNvPr descr="image.png" id="1102" name="Google Shape;1102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32807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3" name="Google Shape;1103;p49"/>
          <p:cNvSpPr txBox="1"/>
          <p:nvPr/>
        </p:nvSpPr>
        <p:spPr>
          <a:xfrm>
            <a:off x="1143000" y="4309020"/>
            <a:ext cx="25622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Document routing transparency</a:t>
            </a:r>
            <a:endParaRPr/>
          </a:p>
        </p:txBody>
      </p:sp>
      <p:pic>
        <p:nvPicPr>
          <p:cNvPr descr="image.png" id="1104" name="Google Shape;1104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76622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5" name="Google Shape;1105;p49"/>
          <p:cNvSpPr txBox="1"/>
          <p:nvPr/>
        </p:nvSpPr>
        <p:spPr>
          <a:xfrm>
            <a:off x="1143000" y="4747170"/>
            <a:ext cx="2286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Time-bound action windows</a:t>
            </a:r>
            <a:endParaRPr/>
          </a:p>
        </p:txBody>
      </p:sp>
      <p:pic>
        <p:nvPicPr>
          <p:cNvPr descr="image.png" id="1106" name="Google Shape;1106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20437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7" name="Google Shape;1107;p49"/>
          <p:cNvSpPr txBox="1"/>
          <p:nvPr/>
        </p:nvSpPr>
        <p:spPr>
          <a:xfrm>
            <a:off x="1143000" y="5185320"/>
            <a:ext cx="23050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Escalation trigger thresholds</a:t>
            </a:r>
            <a:endParaRPr/>
          </a:p>
        </p:txBody>
      </p:sp>
      <p:pic>
        <p:nvPicPr>
          <p:cNvPr descr="image.png" id="1108" name="Google Shape;1108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8200" y="3518445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9" name="Google Shape;1109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8200" y="3956595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0" name="Google Shape;1110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8200" y="4394745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1" name="Google Shape;1111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8200" y="4832895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2" name="Google Shape;1112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8200" y="5271045"/>
            <a:ext cx="1143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3" name="Google Shape;1113;p49"/>
          <p:cNvSpPr txBox="1"/>
          <p:nvPr/>
        </p:nvSpPr>
        <p:spPr>
          <a:xfrm>
            <a:off x="6677025" y="3480494"/>
            <a:ext cx="43624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Cross-bureau dependency must be engineered — not assumed.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8" name="Google Shape;111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9" name="Google Shape;1119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781175"/>
            <a:ext cx="10668000" cy="397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50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SERVICE STANDARDIZATION &amp; SLA FRAMEWORK</a:t>
            </a:r>
            <a:endParaRPr/>
          </a:p>
        </p:txBody>
      </p:sp>
      <p:sp>
        <p:nvSpPr>
          <p:cNvPr id="1121" name="Google Shape;1121;p50"/>
          <p:cNvSpPr txBox="1"/>
          <p:nvPr/>
        </p:nvSpPr>
        <p:spPr>
          <a:xfrm>
            <a:off x="762000" y="1314450"/>
            <a:ext cx="10668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Each service integrated must define:</a:t>
            </a:r>
            <a:endParaRPr/>
          </a:p>
        </p:txBody>
      </p:sp>
      <p:sp>
        <p:nvSpPr>
          <p:cNvPr id="1122" name="Google Shape;1122;p50"/>
          <p:cNvSpPr txBox="1"/>
          <p:nvPr/>
        </p:nvSpPr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C262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No service is activated without full documentation.</a:t>
            </a:r>
            <a:endParaRPr/>
          </a:p>
        </p:txBody>
      </p:sp>
      <p:sp>
        <p:nvSpPr>
          <p:cNvPr id="1123" name="Google Shape;1123;p50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24" name="Google Shape;1124;p50"/>
          <p:cNvGraphicFramePr/>
          <p:nvPr/>
        </p:nvGraphicFramePr>
        <p:xfrm>
          <a:off x="771525" y="17907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{205658A8-B75E-4893-B863-9B2F382446B2}</a:tableStyleId>
              </a:tblPr>
              <a:tblGrid>
                <a:gridCol w="4995425"/>
                <a:gridCol w="5653525"/>
              </a:tblGrid>
              <a:tr h="579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Field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Required Definition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79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Service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Official designation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Required Documents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Exhaustive list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Processing Steps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Sequential workflow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Responsible Authority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Named decision level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SLA Duration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Defined timeline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Escalation Trigger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Time-based threshold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Output Format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Certificate / Approval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25" name="Google Shape;1125;p50"/>
          <p:cNvSpPr/>
          <p:nvPr/>
        </p:nvSpPr>
        <p:spPr>
          <a:xfrm>
            <a:off x="771525" y="2286000"/>
            <a:ext cx="4995416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50"/>
          <p:cNvSpPr/>
          <p:nvPr/>
        </p:nvSpPr>
        <p:spPr>
          <a:xfrm>
            <a:off x="5766941" y="2286000"/>
            <a:ext cx="5653533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50"/>
          <p:cNvSpPr/>
          <p:nvPr/>
        </p:nvSpPr>
        <p:spPr>
          <a:xfrm>
            <a:off x="771525" y="2888902"/>
            <a:ext cx="499541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50"/>
          <p:cNvSpPr/>
          <p:nvPr/>
        </p:nvSpPr>
        <p:spPr>
          <a:xfrm>
            <a:off x="5766941" y="2888902"/>
            <a:ext cx="565353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50"/>
          <p:cNvSpPr/>
          <p:nvPr/>
        </p:nvSpPr>
        <p:spPr>
          <a:xfrm>
            <a:off x="771525" y="3477517"/>
            <a:ext cx="499541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50"/>
          <p:cNvSpPr/>
          <p:nvPr/>
        </p:nvSpPr>
        <p:spPr>
          <a:xfrm>
            <a:off x="5766941" y="3477517"/>
            <a:ext cx="565353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50"/>
          <p:cNvSpPr/>
          <p:nvPr/>
        </p:nvSpPr>
        <p:spPr>
          <a:xfrm>
            <a:off x="771525" y="4066133"/>
            <a:ext cx="499541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50"/>
          <p:cNvSpPr/>
          <p:nvPr/>
        </p:nvSpPr>
        <p:spPr>
          <a:xfrm>
            <a:off x="5766941" y="4066133"/>
            <a:ext cx="565353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50"/>
          <p:cNvSpPr/>
          <p:nvPr/>
        </p:nvSpPr>
        <p:spPr>
          <a:xfrm>
            <a:off x="771525" y="4654748"/>
            <a:ext cx="499541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50"/>
          <p:cNvSpPr/>
          <p:nvPr/>
        </p:nvSpPr>
        <p:spPr>
          <a:xfrm>
            <a:off x="5766941" y="4654748"/>
            <a:ext cx="565353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50"/>
          <p:cNvSpPr/>
          <p:nvPr/>
        </p:nvSpPr>
        <p:spPr>
          <a:xfrm>
            <a:off x="771525" y="5243363"/>
            <a:ext cx="499541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50"/>
          <p:cNvSpPr/>
          <p:nvPr/>
        </p:nvSpPr>
        <p:spPr>
          <a:xfrm>
            <a:off x="5766941" y="5243363"/>
            <a:ext cx="565353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50"/>
          <p:cNvSpPr/>
          <p:nvPr/>
        </p:nvSpPr>
        <p:spPr>
          <a:xfrm>
            <a:off x="771525" y="5831978"/>
            <a:ext cx="499541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50"/>
          <p:cNvSpPr/>
          <p:nvPr/>
        </p:nvSpPr>
        <p:spPr>
          <a:xfrm>
            <a:off x="5766941" y="5831978"/>
            <a:ext cx="565353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3" name="Google Shape;114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4" name="Google Shape;1144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483322"/>
            <a:ext cx="5143500" cy="1101030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Google Shape;1145;p51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INTEGRATION TIMELINE MODEL</a:t>
            </a:r>
            <a:endParaRPr/>
          </a:p>
        </p:txBody>
      </p:sp>
      <p:sp>
        <p:nvSpPr>
          <p:cNvPr id="1146" name="Google Shape;1146;p51"/>
          <p:cNvSpPr txBox="1"/>
          <p:nvPr/>
        </p:nvSpPr>
        <p:spPr>
          <a:xfrm>
            <a:off x="762000" y="1314450"/>
            <a:ext cx="10668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Realistic Phasing Approach</a:t>
            </a:r>
            <a:endParaRPr/>
          </a:p>
        </p:txBody>
      </p:sp>
      <p:sp>
        <p:nvSpPr>
          <p:cNvPr id="1147" name="Google Shape;1147;p51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51"/>
          <p:cNvSpPr txBox="1"/>
          <p:nvPr/>
        </p:nvSpPr>
        <p:spPr>
          <a:xfrm>
            <a:off x="762000" y="3057525"/>
            <a:ext cx="5400675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0 — Preparation</a:t>
            </a:r>
            <a:endParaRPr/>
          </a:p>
        </p:txBody>
      </p:sp>
      <p:sp>
        <p:nvSpPr>
          <p:cNvPr id="1149" name="Google Shape;1149;p51"/>
          <p:cNvSpPr txBox="1"/>
          <p:nvPr/>
        </p:nvSpPr>
        <p:spPr>
          <a:xfrm>
            <a:off x="762000" y="3271391"/>
            <a:ext cx="5143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Service mapping, Bureau agreements, Staff allocation</a:t>
            </a:r>
            <a:endParaRPr/>
          </a:p>
        </p:txBody>
      </p:sp>
      <p:sp>
        <p:nvSpPr>
          <p:cNvPr id="1150" name="Google Shape;1150;p51"/>
          <p:cNvSpPr txBox="1"/>
          <p:nvPr/>
        </p:nvSpPr>
        <p:spPr>
          <a:xfrm>
            <a:off x="762000" y="3545681"/>
            <a:ext cx="5400675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I — Controlled Activation</a:t>
            </a:r>
            <a:endParaRPr/>
          </a:p>
        </p:txBody>
      </p:sp>
      <p:sp>
        <p:nvSpPr>
          <p:cNvPr id="1151" name="Google Shape;1151;p51"/>
          <p:cNvSpPr txBox="1"/>
          <p:nvPr/>
        </p:nvSpPr>
        <p:spPr>
          <a:xfrm>
            <a:off x="762000" y="3759547"/>
            <a:ext cx="5143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8–15 priority services, Monitoring calibration</a:t>
            </a:r>
            <a:endParaRPr/>
          </a:p>
        </p:txBody>
      </p:sp>
      <p:sp>
        <p:nvSpPr>
          <p:cNvPr id="1152" name="Google Shape;1152;p51"/>
          <p:cNvSpPr txBox="1"/>
          <p:nvPr/>
        </p:nvSpPr>
        <p:spPr>
          <a:xfrm>
            <a:off x="762000" y="4033837"/>
            <a:ext cx="5400675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II — Expansion</a:t>
            </a:r>
            <a:endParaRPr/>
          </a:p>
        </p:txBody>
      </p:sp>
      <p:sp>
        <p:nvSpPr>
          <p:cNvPr id="1153" name="Google Shape;1153;p51"/>
          <p:cNvSpPr txBox="1"/>
          <p:nvPr/>
        </p:nvSpPr>
        <p:spPr>
          <a:xfrm>
            <a:off x="762000" y="4247703"/>
            <a:ext cx="5143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Additional service clusters, Process refinement</a:t>
            </a:r>
            <a:endParaRPr/>
          </a:p>
        </p:txBody>
      </p:sp>
      <p:sp>
        <p:nvSpPr>
          <p:cNvPr id="1154" name="Google Shape;1154;p51"/>
          <p:cNvSpPr txBox="1"/>
          <p:nvPr/>
        </p:nvSpPr>
        <p:spPr>
          <a:xfrm>
            <a:off x="762000" y="4521993"/>
            <a:ext cx="5400675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III — Consolidation</a:t>
            </a:r>
            <a:endParaRPr/>
          </a:p>
        </p:txBody>
      </p:sp>
      <p:sp>
        <p:nvSpPr>
          <p:cNvPr id="1155" name="Google Shape;1155;p51"/>
          <p:cNvSpPr txBox="1"/>
          <p:nvPr/>
        </p:nvSpPr>
        <p:spPr>
          <a:xfrm>
            <a:off x="762000" y="4735859"/>
            <a:ext cx="5143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Performance optimization, Digital integration deepening</a:t>
            </a:r>
            <a:endParaRPr/>
          </a:p>
        </p:txBody>
      </p:sp>
      <p:sp>
        <p:nvSpPr>
          <p:cNvPr id="1156" name="Google Shape;1156;p51"/>
          <p:cNvSpPr txBox="1"/>
          <p:nvPr/>
        </p:nvSpPr>
        <p:spPr>
          <a:xfrm>
            <a:off x="6677025" y="3873847"/>
            <a:ext cx="43624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Integration is staged for stability.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1" name="Google Shape;116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2" name="Google Shape;1162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1523" y="2093714"/>
            <a:ext cx="1148804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3" name="Google Shape;1163;p52"/>
          <p:cNvSpPr txBox="1"/>
          <p:nvPr/>
        </p:nvSpPr>
        <p:spPr>
          <a:xfrm>
            <a:off x="495300" y="2665214"/>
            <a:ext cx="11201400" cy="12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Implementation Readiness &amp; Preparation Status</a:t>
            </a:r>
            <a:endParaRPr/>
          </a:p>
        </p:txBody>
      </p:sp>
      <p:sp>
        <p:nvSpPr>
          <p:cNvPr id="1164" name="Google Shape;1164;p52"/>
          <p:cNvSpPr txBox="1"/>
          <p:nvPr/>
        </p:nvSpPr>
        <p:spPr>
          <a:xfrm>
            <a:off x="2943225" y="4135635"/>
            <a:ext cx="63055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This section must signal maturity, preparation, and seriousness.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Tone: Concrete. Structured. Evidence-driven. No exaggeration.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9" name="Google Shape;116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0" name="Google Shape;1170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089969"/>
            <a:ext cx="5143500" cy="1421010"/>
          </a:xfrm>
          <a:prstGeom prst="rect">
            <a:avLst/>
          </a:prstGeom>
          <a:noFill/>
          <a:ln>
            <a:noFill/>
          </a:ln>
        </p:spPr>
      </p:pic>
      <p:sp>
        <p:nvSpPr>
          <p:cNvPr id="1171" name="Google Shape;1171;p53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WORK COMPLETED TO DATE BY THE MESOB TEAM</a:t>
            </a:r>
            <a:endParaRPr/>
          </a:p>
        </p:txBody>
      </p:sp>
      <p:sp>
        <p:nvSpPr>
          <p:cNvPr id="1172" name="Google Shape;1172;p53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53"/>
          <p:cNvSpPr txBox="1"/>
          <p:nvPr/>
        </p:nvSpPr>
        <p:spPr>
          <a:xfrm>
            <a:off x="762000" y="1948904"/>
            <a:ext cx="5143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following foundational work has already been undertaken:</a:t>
            </a:r>
            <a:endParaRPr/>
          </a:p>
        </p:txBody>
      </p:sp>
      <p:pic>
        <p:nvPicPr>
          <p:cNvPr descr="image.png" id="1174" name="Google Shape;1174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707034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5" name="Google Shape;1175;p53"/>
          <p:cNvSpPr txBox="1"/>
          <p:nvPr/>
        </p:nvSpPr>
        <p:spPr>
          <a:xfrm>
            <a:off x="1143000" y="2687984"/>
            <a:ext cx="4762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Drafting of Institutional &amp; Governance Architecture (Document–2)</a:t>
            </a:r>
            <a:endParaRPr/>
          </a:p>
        </p:txBody>
      </p:sp>
      <p:pic>
        <p:nvPicPr>
          <p:cNvPr descr="image.png" id="1176" name="Google Shape;1176;p5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40801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7" name="Google Shape;1177;p53"/>
          <p:cNvSpPr txBox="1"/>
          <p:nvPr/>
        </p:nvSpPr>
        <p:spPr>
          <a:xfrm>
            <a:off x="1143000" y="3388965"/>
            <a:ext cx="4524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Development of Service Integration Strategy framework</a:t>
            </a:r>
            <a:endParaRPr/>
          </a:p>
        </p:txBody>
      </p:sp>
      <p:pic>
        <p:nvPicPr>
          <p:cNvPr descr="image.png" id="1178" name="Google Shape;1178;p5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84616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9" name="Google Shape;1179;p53"/>
          <p:cNvSpPr txBox="1"/>
          <p:nvPr/>
        </p:nvSpPr>
        <p:spPr>
          <a:xfrm>
            <a:off x="1143000" y="3827115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Preliminary service mapping consultations with key bureaus</a:t>
            </a:r>
            <a:endParaRPr/>
          </a:p>
        </p:txBody>
      </p:sp>
      <p:pic>
        <p:nvPicPr>
          <p:cNvPr descr="image.png" id="1180" name="Google Shape;1180;p5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28431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1" name="Google Shape;1181;p53"/>
          <p:cNvSpPr txBox="1"/>
          <p:nvPr/>
        </p:nvSpPr>
        <p:spPr>
          <a:xfrm>
            <a:off x="1143000" y="4265265"/>
            <a:ext cx="4762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Engagement visit and structured discussion with Sidama Regional MESOB leadership</a:t>
            </a:r>
            <a:endParaRPr/>
          </a:p>
        </p:txBody>
      </p:sp>
      <p:pic>
        <p:nvPicPr>
          <p:cNvPr descr="image.png" id="1182" name="Google Shape;1182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98529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3" name="Google Shape;1183;p53"/>
          <p:cNvSpPr txBox="1"/>
          <p:nvPr/>
        </p:nvSpPr>
        <p:spPr>
          <a:xfrm>
            <a:off x="1143000" y="4966245"/>
            <a:ext cx="40576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Initial infrastructure assessment of potential facility</a:t>
            </a:r>
            <a:endParaRPr/>
          </a:p>
        </p:txBody>
      </p:sp>
      <p:pic>
        <p:nvPicPr>
          <p:cNvPr descr="image.png" id="1184" name="Google Shape;1184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42344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5" name="Google Shape;1185;p53"/>
          <p:cNvSpPr txBox="1"/>
          <p:nvPr/>
        </p:nvSpPr>
        <p:spPr>
          <a:xfrm>
            <a:off x="1143000" y="5404395"/>
            <a:ext cx="40290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Early-stage technology requirement identification</a:t>
            </a:r>
            <a:endParaRPr/>
          </a:p>
        </p:txBody>
      </p:sp>
      <p:pic>
        <p:nvPicPr>
          <p:cNvPr descr="image.png" id="1186" name="Google Shape;1186;p5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8200" y="2773709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7" name="Google Shape;1187;p5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8200" y="3474690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8" name="Google Shape;1188;p5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8200" y="3912840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9" name="Google Shape;1189;p5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8200" y="4350990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0" name="Google Shape;1190;p5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8200" y="5051970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1" name="Google Shape;1191;p5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8200" y="5490120"/>
            <a:ext cx="1143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2" name="Google Shape;1192;p53"/>
          <p:cNvSpPr txBox="1"/>
          <p:nvPr/>
        </p:nvSpPr>
        <p:spPr>
          <a:xfrm>
            <a:off x="6677025" y="3480494"/>
            <a:ext cx="43624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Preparation has preceded presentation.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7" name="Google Shape;1197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8" name="Google Shape;1198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781175"/>
            <a:ext cx="10668000" cy="391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9" name="Google Shape;1199;p54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STRATEGIC DOCUMENTATION FINALIZED</a:t>
            </a:r>
            <a:endParaRPr/>
          </a:p>
        </p:txBody>
      </p:sp>
      <p:sp>
        <p:nvSpPr>
          <p:cNvPr id="1200" name="Google Shape;1200;p54"/>
          <p:cNvSpPr txBox="1"/>
          <p:nvPr/>
        </p:nvSpPr>
        <p:spPr>
          <a:xfrm>
            <a:off x="762000" y="1314450"/>
            <a:ext cx="10668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following structured documents have been prepared:</a:t>
            </a:r>
            <a:endParaRPr/>
          </a:p>
        </p:txBody>
      </p:sp>
      <p:sp>
        <p:nvSpPr>
          <p:cNvPr id="1201" name="Google Shape;1201;p54"/>
          <p:cNvSpPr txBox="1"/>
          <p:nvPr/>
        </p:nvSpPr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Documentation is structured to support institutional continuity.</a:t>
            </a:r>
            <a:endParaRPr/>
          </a:p>
        </p:txBody>
      </p:sp>
      <p:sp>
        <p:nvSpPr>
          <p:cNvPr id="1202" name="Google Shape;1202;p54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03" name="Google Shape;1203;p54"/>
          <p:cNvGraphicFramePr/>
          <p:nvPr/>
        </p:nvGraphicFramePr>
        <p:xfrm>
          <a:off x="771525" y="17907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{205658A8-B75E-4893-B863-9B2F382446B2}</a:tableStyleId>
              </a:tblPr>
              <a:tblGrid>
                <a:gridCol w="5986325"/>
                <a:gridCol w="4662625"/>
              </a:tblGrid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Document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Strategic Rationale &amp; Reform Vision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Draft completed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Institutional &amp; Governance Architecture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Draft completed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Service Integration &amp; Expansion Strategy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Draft framework completed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Implementation Phasing Model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Draft completed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Citizen Experience &amp; Trust Framework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Draft completed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Budget Directional Model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Preliminary estimation prepared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04" name="Google Shape;1204;p54"/>
          <p:cNvSpPr/>
          <p:nvPr/>
        </p:nvSpPr>
        <p:spPr>
          <a:xfrm>
            <a:off x="771525" y="2286000"/>
            <a:ext cx="5986313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54"/>
          <p:cNvSpPr/>
          <p:nvPr/>
        </p:nvSpPr>
        <p:spPr>
          <a:xfrm>
            <a:off x="6757838" y="2286000"/>
            <a:ext cx="4662636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54"/>
          <p:cNvSpPr/>
          <p:nvPr/>
        </p:nvSpPr>
        <p:spPr>
          <a:xfrm>
            <a:off x="771525" y="2888902"/>
            <a:ext cx="598631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54"/>
          <p:cNvSpPr/>
          <p:nvPr/>
        </p:nvSpPr>
        <p:spPr>
          <a:xfrm>
            <a:off x="6757838" y="2888902"/>
            <a:ext cx="466263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54"/>
          <p:cNvSpPr/>
          <p:nvPr/>
        </p:nvSpPr>
        <p:spPr>
          <a:xfrm>
            <a:off x="771525" y="3477517"/>
            <a:ext cx="598631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54"/>
          <p:cNvSpPr/>
          <p:nvPr/>
        </p:nvSpPr>
        <p:spPr>
          <a:xfrm>
            <a:off x="6757838" y="3477517"/>
            <a:ext cx="466263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54"/>
          <p:cNvSpPr/>
          <p:nvPr/>
        </p:nvSpPr>
        <p:spPr>
          <a:xfrm>
            <a:off x="771525" y="4066133"/>
            <a:ext cx="598631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54"/>
          <p:cNvSpPr/>
          <p:nvPr/>
        </p:nvSpPr>
        <p:spPr>
          <a:xfrm>
            <a:off x="6757838" y="4066133"/>
            <a:ext cx="466263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54"/>
          <p:cNvSpPr/>
          <p:nvPr/>
        </p:nvSpPr>
        <p:spPr>
          <a:xfrm>
            <a:off x="771525" y="4654748"/>
            <a:ext cx="598631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54"/>
          <p:cNvSpPr/>
          <p:nvPr/>
        </p:nvSpPr>
        <p:spPr>
          <a:xfrm>
            <a:off x="6757838" y="4654748"/>
            <a:ext cx="466263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54"/>
          <p:cNvSpPr/>
          <p:nvPr/>
        </p:nvSpPr>
        <p:spPr>
          <a:xfrm>
            <a:off x="771525" y="5243363"/>
            <a:ext cx="598631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54"/>
          <p:cNvSpPr/>
          <p:nvPr/>
        </p:nvSpPr>
        <p:spPr>
          <a:xfrm>
            <a:off x="6757838" y="5243363"/>
            <a:ext cx="466263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0" name="Google Shape;122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1" name="Google Shape;1221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809452"/>
            <a:ext cx="5143500" cy="39818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2" name="Google Shape;1222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851421"/>
            <a:ext cx="5143500" cy="3898106"/>
          </a:xfrm>
          <a:prstGeom prst="rect">
            <a:avLst/>
          </a:prstGeom>
          <a:noFill/>
          <a:ln>
            <a:noFill/>
          </a:ln>
        </p:spPr>
      </p:pic>
      <p:sp>
        <p:nvSpPr>
          <p:cNvPr id="1223" name="Google Shape;1223;p55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INTER-BUREAU CONSULTATIONS CONDUCTED</a:t>
            </a:r>
            <a:endParaRPr/>
          </a:p>
        </p:txBody>
      </p:sp>
      <p:sp>
        <p:nvSpPr>
          <p:cNvPr id="1224" name="Google Shape;1224;p55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25" name="Google Shape;1225;p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275" y="2104727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p55"/>
          <p:cNvSpPr txBox="1"/>
          <p:nvPr/>
        </p:nvSpPr>
        <p:spPr>
          <a:xfrm>
            <a:off x="1057275" y="2866727"/>
            <a:ext cx="478059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Engagement activities have included:</a:t>
            </a:r>
            <a:endParaRPr/>
          </a:p>
        </p:txBody>
      </p:sp>
      <p:pic>
        <p:nvPicPr>
          <p:cNvPr descr="image.png" id="1227" name="Google Shape;1227;p5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2146696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8" name="Google Shape;1228;p55"/>
          <p:cNvSpPr txBox="1"/>
          <p:nvPr/>
        </p:nvSpPr>
        <p:spPr>
          <a:xfrm>
            <a:off x="6581775" y="2908696"/>
            <a:ext cx="478059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Consultation findings:</a:t>
            </a:r>
            <a:endParaRPr/>
          </a:p>
        </p:txBody>
      </p:sp>
      <p:sp>
        <p:nvSpPr>
          <p:cNvPr id="1229" name="Google Shape;1229;p55"/>
          <p:cNvSpPr txBox="1"/>
          <p:nvPr/>
        </p:nvSpPr>
        <p:spPr>
          <a:xfrm>
            <a:off x="6581775" y="5179962"/>
            <a:ext cx="4552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These findings have informed the phased strategy.</a:t>
            </a:r>
            <a:endParaRPr/>
          </a:p>
        </p:txBody>
      </p:sp>
      <p:pic>
        <p:nvPicPr>
          <p:cNvPr descr="image.png" id="1230" name="Google Shape;1230;p5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81100" y="225712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1" name="Google Shape;1231;p5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62750" y="2299096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2" name="Google Shape;1232;p5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325204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3" name="Google Shape;1233;p55"/>
          <p:cNvSpPr txBox="1"/>
          <p:nvPr/>
        </p:nvSpPr>
        <p:spPr>
          <a:xfrm>
            <a:off x="1438275" y="3232993"/>
            <a:ext cx="41148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Preliminary discussions with priority service bureaus</a:t>
            </a:r>
            <a:endParaRPr/>
          </a:p>
        </p:txBody>
      </p:sp>
      <p:pic>
        <p:nvPicPr>
          <p:cNvPr descr="image.png" id="1234" name="Google Shape;1234;p5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369019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5" name="Google Shape;1235;p55"/>
          <p:cNvSpPr txBox="1"/>
          <p:nvPr/>
        </p:nvSpPr>
        <p:spPr>
          <a:xfrm>
            <a:off x="1438275" y="3671143"/>
            <a:ext cx="3857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Identification of high-volume service categories</a:t>
            </a:r>
            <a:endParaRPr/>
          </a:p>
        </p:txBody>
      </p:sp>
      <p:pic>
        <p:nvPicPr>
          <p:cNvPr descr="image.png" id="1236" name="Google Shape;1236;p5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412834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7" name="Google Shape;1237;p55"/>
          <p:cNvSpPr txBox="1"/>
          <p:nvPr/>
        </p:nvSpPr>
        <p:spPr>
          <a:xfrm>
            <a:off x="1438275" y="4109293"/>
            <a:ext cx="3000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Early discussion of SLA harmonization</a:t>
            </a:r>
            <a:endParaRPr/>
          </a:p>
        </p:txBody>
      </p:sp>
      <p:pic>
        <p:nvPicPr>
          <p:cNvPr descr="image.png" id="1238" name="Google Shape;1238;p5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456649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9" name="Google Shape;1239;p55"/>
          <p:cNvSpPr txBox="1"/>
          <p:nvPr/>
        </p:nvSpPr>
        <p:spPr>
          <a:xfrm>
            <a:off x="1438275" y="4547443"/>
            <a:ext cx="36290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Clarification of authority protection concerns</a:t>
            </a:r>
            <a:endParaRPr/>
          </a:p>
        </p:txBody>
      </p:sp>
      <p:pic>
        <p:nvPicPr>
          <p:cNvPr descr="image.png" id="1240" name="Google Shape;1240;p5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500464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1" name="Google Shape;1241;p55"/>
          <p:cNvSpPr txBox="1"/>
          <p:nvPr/>
        </p:nvSpPr>
        <p:spPr>
          <a:xfrm>
            <a:off x="1438275" y="4985593"/>
            <a:ext cx="41719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Initial feedback collection regarding integration feasibility</a:t>
            </a:r>
            <a:endParaRPr/>
          </a:p>
        </p:txBody>
      </p:sp>
      <p:pic>
        <p:nvPicPr>
          <p:cNvPr descr="image.png" id="1242" name="Google Shape;1242;p5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81775" y="329401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3" name="Google Shape;1243;p55"/>
          <p:cNvSpPr txBox="1"/>
          <p:nvPr/>
        </p:nvSpPr>
        <p:spPr>
          <a:xfrm>
            <a:off x="6962775" y="3274962"/>
            <a:ext cx="25908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General openness to integration</a:t>
            </a:r>
            <a:endParaRPr/>
          </a:p>
        </p:txBody>
      </p:sp>
      <p:pic>
        <p:nvPicPr>
          <p:cNvPr descr="image.png" id="1244" name="Google Shape;1244;p5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81775" y="373216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55"/>
          <p:cNvSpPr txBox="1"/>
          <p:nvPr/>
        </p:nvSpPr>
        <p:spPr>
          <a:xfrm>
            <a:off x="6962775" y="3713112"/>
            <a:ext cx="1981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Need for authority clarity</a:t>
            </a:r>
            <a:endParaRPr/>
          </a:p>
        </p:txBody>
      </p:sp>
      <p:pic>
        <p:nvPicPr>
          <p:cNvPr descr="image.png" id="1246" name="Google Shape;1246;p5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81775" y="417031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7" name="Google Shape;1247;p55"/>
          <p:cNvSpPr txBox="1"/>
          <p:nvPr/>
        </p:nvSpPr>
        <p:spPr>
          <a:xfrm>
            <a:off x="6962775" y="4151262"/>
            <a:ext cx="21240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Request for phased rollout</a:t>
            </a:r>
            <a:endParaRPr/>
          </a:p>
        </p:txBody>
      </p:sp>
      <p:pic>
        <p:nvPicPr>
          <p:cNvPr descr="image.png" id="1248" name="Google Shape;1248;p5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81775" y="460846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9" name="Google Shape;1249;p55"/>
          <p:cNvSpPr txBox="1"/>
          <p:nvPr/>
        </p:nvSpPr>
        <p:spPr>
          <a:xfrm>
            <a:off x="6962775" y="4589412"/>
            <a:ext cx="34194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Capacity concerns in high-volume bureaus</a:t>
            </a:r>
            <a:endParaRPr/>
          </a:p>
        </p:txBody>
      </p:sp>
      <p:pic>
        <p:nvPicPr>
          <p:cNvPr descr="image.png" id="1250" name="Google Shape;1250;p5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33475" y="331871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1" name="Google Shape;1251;p5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33475" y="375686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2" name="Google Shape;1252;p5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33475" y="419501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3" name="Google Shape;1253;p5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33475" y="463316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4" name="Google Shape;1254;p5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33475" y="507131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5" name="Google Shape;1255;p5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657975" y="3360687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6" name="Google Shape;1256;p5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657975" y="3798837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7" name="Google Shape;1257;p5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657975" y="4236987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8" name="Google Shape;1258;p5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657975" y="4675137"/>
            <a:ext cx="11430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3" name="Google Shape;1263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4" name="Google Shape;1264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876425"/>
            <a:ext cx="5143500" cy="3314551"/>
          </a:xfrm>
          <a:prstGeom prst="rect">
            <a:avLst/>
          </a:prstGeom>
          <a:noFill/>
          <a:ln>
            <a:noFill/>
          </a:ln>
        </p:spPr>
      </p:pic>
      <p:sp>
        <p:nvSpPr>
          <p:cNvPr id="1265" name="Google Shape;1265;p56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TECHNOLOGY ARCHITECTURE PREPAREDNESS</a:t>
            </a:r>
            <a:endParaRPr/>
          </a:p>
        </p:txBody>
      </p:sp>
      <p:sp>
        <p:nvSpPr>
          <p:cNvPr id="1266" name="Google Shape;1266;p56"/>
          <p:cNvSpPr txBox="1"/>
          <p:nvPr/>
        </p:nvSpPr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Vendor consultation initiated for feasibility validation.</a:t>
            </a:r>
            <a:endParaRPr/>
          </a:p>
        </p:txBody>
      </p:sp>
      <p:sp>
        <p:nvSpPr>
          <p:cNvPr id="1267" name="Google Shape;1267;p56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56"/>
          <p:cNvSpPr txBox="1"/>
          <p:nvPr/>
        </p:nvSpPr>
        <p:spPr>
          <a:xfrm>
            <a:off x="762000" y="2224980"/>
            <a:ext cx="5143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Identified core technological requirements:</a:t>
            </a:r>
            <a:endParaRPr/>
          </a:p>
        </p:txBody>
      </p:sp>
      <p:sp>
        <p:nvSpPr>
          <p:cNvPr id="1269" name="Google Shape;1269;p56"/>
          <p:cNvSpPr txBox="1"/>
          <p:nvPr/>
        </p:nvSpPr>
        <p:spPr>
          <a:xfrm>
            <a:off x="6524625" y="2038350"/>
            <a:ext cx="4667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Technology approach:</a:t>
            </a:r>
            <a:endParaRPr/>
          </a:p>
        </p:txBody>
      </p:sp>
      <p:graphicFrame>
        <p:nvGraphicFramePr>
          <p:cNvPr id="1270" name="Google Shape;1270;p56"/>
          <p:cNvGraphicFramePr/>
          <p:nvPr/>
        </p:nvGraphicFramePr>
        <p:xfrm>
          <a:off x="6296025" y="23126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{205658A8-B75E-4893-B863-9B2F382446B2}</a:tableStyleId>
              </a:tblPr>
              <a:tblGrid>
                <a:gridCol w="2072125"/>
                <a:gridCol w="3052325"/>
              </a:tblGrid>
              <a:tr h="57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Layer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Direction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7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Application Layer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Modular, scalable system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Data Layer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Centralized reporting visibility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Monitoring Layer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KPI dashboard integration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Security Layer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Role-based access control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71" name="Google Shape;1271;p56"/>
          <p:cNvSpPr/>
          <p:nvPr/>
        </p:nvSpPr>
        <p:spPr>
          <a:xfrm>
            <a:off x="6296025" y="2807940"/>
            <a:ext cx="2072133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56"/>
          <p:cNvSpPr/>
          <p:nvPr/>
        </p:nvSpPr>
        <p:spPr>
          <a:xfrm>
            <a:off x="8368158" y="2807940"/>
            <a:ext cx="3052316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73" name="Google Shape;1273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63262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4" name="Google Shape;1274;p56"/>
          <p:cNvSpPr txBox="1"/>
          <p:nvPr/>
        </p:nvSpPr>
        <p:spPr>
          <a:xfrm>
            <a:off x="1143000" y="2613570"/>
            <a:ext cx="28765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Service queue management system</a:t>
            </a:r>
            <a:endParaRPr/>
          </a:p>
        </p:txBody>
      </p:sp>
      <p:pic>
        <p:nvPicPr>
          <p:cNvPr descr="image.png" id="1275" name="Google Shape;1275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07077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6" name="Google Shape;1276;p56"/>
          <p:cNvSpPr txBox="1"/>
          <p:nvPr/>
        </p:nvSpPr>
        <p:spPr>
          <a:xfrm>
            <a:off x="1143000" y="3051720"/>
            <a:ext cx="30384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Document routing &amp; tracking platform</a:t>
            </a:r>
            <a:endParaRPr/>
          </a:p>
        </p:txBody>
      </p:sp>
      <p:pic>
        <p:nvPicPr>
          <p:cNvPr descr="image.png" id="1277" name="Google Shape;1277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50892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8" name="Google Shape;1278;p56"/>
          <p:cNvSpPr txBox="1"/>
          <p:nvPr/>
        </p:nvSpPr>
        <p:spPr>
          <a:xfrm>
            <a:off x="1143000" y="3489870"/>
            <a:ext cx="2800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Performance dashboard capability</a:t>
            </a:r>
            <a:endParaRPr/>
          </a:p>
        </p:txBody>
      </p:sp>
      <p:pic>
        <p:nvPicPr>
          <p:cNvPr descr="image.png" id="1279" name="Google Shape;1279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94707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0" name="Google Shape;1280;p56"/>
          <p:cNvSpPr txBox="1"/>
          <p:nvPr/>
        </p:nvSpPr>
        <p:spPr>
          <a:xfrm>
            <a:off x="1143000" y="3928020"/>
            <a:ext cx="2447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Escalation logging mechanism</a:t>
            </a:r>
            <a:endParaRPr/>
          </a:p>
        </p:txBody>
      </p:sp>
      <p:pic>
        <p:nvPicPr>
          <p:cNvPr descr="image.png" id="1281" name="Google Shape;1281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38522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Google Shape;1282;p56"/>
          <p:cNvSpPr txBox="1"/>
          <p:nvPr/>
        </p:nvSpPr>
        <p:spPr>
          <a:xfrm>
            <a:off x="1143000" y="4366170"/>
            <a:ext cx="2762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Secure data storage infrastructure</a:t>
            </a:r>
            <a:endParaRPr/>
          </a:p>
        </p:txBody>
      </p:sp>
      <p:sp>
        <p:nvSpPr>
          <p:cNvPr id="1283" name="Google Shape;1283;p56"/>
          <p:cNvSpPr/>
          <p:nvPr/>
        </p:nvSpPr>
        <p:spPr>
          <a:xfrm>
            <a:off x="6296025" y="3410842"/>
            <a:ext cx="207213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4" name="Google Shape;1284;p56"/>
          <p:cNvSpPr/>
          <p:nvPr/>
        </p:nvSpPr>
        <p:spPr>
          <a:xfrm>
            <a:off x="8368158" y="3410842"/>
            <a:ext cx="305231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56"/>
          <p:cNvSpPr/>
          <p:nvPr/>
        </p:nvSpPr>
        <p:spPr>
          <a:xfrm>
            <a:off x="6296025" y="3999458"/>
            <a:ext cx="207213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56"/>
          <p:cNvSpPr/>
          <p:nvPr/>
        </p:nvSpPr>
        <p:spPr>
          <a:xfrm>
            <a:off x="8368158" y="3999458"/>
            <a:ext cx="305231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56"/>
          <p:cNvSpPr/>
          <p:nvPr/>
        </p:nvSpPr>
        <p:spPr>
          <a:xfrm>
            <a:off x="6296025" y="4588073"/>
            <a:ext cx="207213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56"/>
          <p:cNvSpPr/>
          <p:nvPr/>
        </p:nvSpPr>
        <p:spPr>
          <a:xfrm>
            <a:off x="8368158" y="4588073"/>
            <a:ext cx="305231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89" name="Google Shape;1289;p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8200" y="2699295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0" name="Google Shape;1290;p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8200" y="3137445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1" name="Google Shape;1291;p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8200" y="3575595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2" name="Google Shape;1292;p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8200" y="4013745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3" name="Google Shape;1293;p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8200" y="4451895"/>
            <a:ext cx="11430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8" name="Google Shape;1298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9" name="Google Shape;1299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721792"/>
            <a:ext cx="5143500" cy="41572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0" name="Google Shape;1300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070496"/>
            <a:ext cx="5143500" cy="3459956"/>
          </a:xfrm>
          <a:prstGeom prst="rect">
            <a:avLst/>
          </a:prstGeom>
          <a:noFill/>
          <a:ln>
            <a:noFill/>
          </a:ln>
        </p:spPr>
      </p:pic>
      <p:sp>
        <p:nvSpPr>
          <p:cNvPr id="1301" name="Google Shape;1301;p57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PHYSICAL INFRASTRUCTURE ASSESSMENT</a:t>
            </a:r>
            <a:endParaRPr/>
          </a:p>
        </p:txBody>
      </p:sp>
      <p:sp>
        <p:nvSpPr>
          <p:cNvPr id="1302" name="Google Shape;1302;p57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03" name="Google Shape;1303;p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275" y="2017067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4" name="Google Shape;1304;p57"/>
          <p:cNvSpPr txBox="1"/>
          <p:nvPr/>
        </p:nvSpPr>
        <p:spPr>
          <a:xfrm>
            <a:off x="1057275" y="2779067"/>
            <a:ext cx="478059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Preliminary facility assessment considered:</a:t>
            </a:r>
            <a:endParaRPr/>
          </a:p>
        </p:txBody>
      </p:sp>
      <p:pic>
        <p:nvPicPr>
          <p:cNvPr descr="image.png" id="1305" name="Google Shape;1305;p5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2365771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6" name="Google Shape;1306;p57"/>
          <p:cNvSpPr txBox="1"/>
          <p:nvPr/>
        </p:nvSpPr>
        <p:spPr>
          <a:xfrm>
            <a:off x="6581775" y="3127771"/>
            <a:ext cx="478059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Infrastructure readiness evaluation includes:</a:t>
            </a:r>
            <a:endParaRPr/>
          </a:p>
        </p:txBody>
      </p:sp>
      <p:sp>
        <p:nvSpPr>
          <p:cNvPr id="1307" name="Google Shape;1307;p57"/>
          <p:cNvSpPr txBox="1"/>
          <p:nvPr/>
        </p:nvSpPr>
        <p:spPr>
          <a:xfrm>
            <a:off x="6581775" y="4960887"/>
            <a:ext cx="4552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Physical layout must support governance structure.</a:t>
            </a:r>
            <a:endParaRPr/>
          </a:p>
        </p:txBody>
      </p:sp>
      <p:pic>
        <p:nvPicPr>
          <p:cNvPr descr="image.png" id="1308" name="Google Shape;1308;p5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38250" y="2169467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9" name="Google Shape;1309;p5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34175" y="2518171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0" name="Google Shape;1310;p5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316438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1" name="Google Shape;1311;p57"/>
          <p:cNvSpPr txBox="1"/>
          <p:nvPr/>
        </p:nvSpPr>
        <p:spPr>
          <a:xfrm>
            <a:off x="1438275" y="3145333"/>
            <a:ext cx="1409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Counter capacity</a:t>
            </a:r>
            <a:endParaRPr/>
          </a:p>
        </p:txBody>
      </p:sp>
      <p:pic>
        <p:nvPicPr>
          <p:cNvPr descr="image.png" id="1312" name="Google Shape;1312;p5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360253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3" name="Google Shape;1313;p57"/>
          <p:cNvSpPr txBox="1"/>
          <p:nvPr/>
        </p:nvSpPr>
        <p:spPr>
          <a:xfrm>
            <a:off x="1438275" y="3583483"/>
            <a:ext cx="18192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Bureau desk allocation</a:t>
            </a:r>
            <a:endParaRPr/>
          </a:p>
        </p:txBody>
      </p:sp>
      <p:pic>
        <p:nvPicPr>
          <p:cNvPr descr="image.png" id="1314" name="Google Shape;1314;p5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404068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5" name="Google Shape;1315;p57"/>
          <p:cNvSpPr txBox="1"/>
          <p:nvPr/>
        </p:nvSpPr>
        <p:spPr>
          <a:xfrm>
            <a:off x="1438275" y="4021633"/>
            <a:ext cx="1838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Waiting area adequacy</a:t>
            </a:r>
            <a:endParaRPr/>
          </a:p>
        </p:txBody>
      </p:sp>
      <p:pic>
        <p:nvPicPr>
          <p:cNvPr descr="image.png" id="1316" name="Google Shape;1316;p5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447883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7" name="Google Shape;1317;p57"/>
          <p:cNvSpPr txBox="1"/>
          <p:nvPr/>
        </p:nvSpPr>
        <p:spPr>
          <a:xfrm>
            <a:off x="1438275" y="4459783"/>
            <a:ext cx="2705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Secure document handling space</a:t>
            </a:r>
            <a:endParaRPr/>
          </a:p>
        </p:txBody>
      </p:sp>
      <p:pic>
        <p:nvPicPr>
          <p:cNvPr descr="image.png" id="1318" name="Google Shape;1318;p5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491698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9" name="Google Shape;1319;p57"/>
          <p:cNvSpPr txBox="1"/>
          <p:nvPr/>
        </p:nvSpPr>
        <p:spPr>
          <a:xfrm>
            <a:off x="1438275" y="4897933"/>
            <a:ext cx="21812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Power &amp; network readiness</a:t>
            </a:r>
            <a:endParaRPr/>
          </a:p>
        </p:txBody>
      </p:sp>
      <p:pic>
        <p:nvPicPr>
          <p:cNvPr descr="image.png" id="1320" name="Google Shape;1320;p5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535513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1" name="Google Shape;1321;p57"/>
          <p:cNvSpPr txBox="1"/>
          <p:nvPr/>
        </p:nvSpPr>
        <p:spPr>
          <a:xfrm>
            <a:off x="1438275" y="5336083"/>
            <a:ext cx="18669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Accessibility standards</a:t>
            </a:r>
            <a:endParaRPr/>
          </a:p>
        </p:txBody>
      </p:sp>
      <p:pic>
        <p:nvPicPr>
          <p:cNvPr descr="image.png" id="1322" name="Google Shape;1322;p5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81775" y="351308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3" name="Google Shape;1323;p57"/>
          <p:cNvSpPr txBox="1"/>
          <p:nvPr/>
        </p:nvSpPr>
        <p:spPr>
          <a:xfrm>
            <a:off x="6962775" y="3494037"/>
            <a:ext cx="39909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Minor modifications required for optimal workflow</a:t>
            </a:r>
            <a:endParaRPr/>
          </a:p>
        </p:txBody>
      </p:sp>
      <p:pic>
        <p:nvPicPr>
          <p:cNvPr descr="image.png" id="1324" name="Google Shape;1324;p5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81775" y="395123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5" name="Google Shape;1325;p57"/>
          <p:cNvSpPr txBox="1"/>
          <p:nvPr/>
        </p:nvSpPr>
        <p:spPr>
          <a:xfrm>
            <a:off x="6962775" y="3932187"/>
            <a:ext cx="2790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Structured counter layout planning</a:t>
            </a:r>
            <a:endParaRPr/>
          </a:p>
        </p:txBody>
      </p:sp>
      <p:pic>
        <p:nvPicPr>
          <p:cNvPr descr="image.png" id="1326" name="Google Shape;1326;p5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81775" y="438938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7" name="Google Shape;1327;p57"/>
          <p:cNvSpPr txBox="1"/>
          <p:nvPr/>
        </p:nvSpPr>
        <p:spPr>
          <a:xfrm>
            <a:off x="6962775" y="4370337"/>
            <a:ext cx="29908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Dedicated escalation desk allocation</a:t>
            </a:r>
            <a:endParaRPr/>
          </a:p>
        </p:txBody>
      </p:sp>
      <p:pic>
        <p:nvPicPr>
          <p:cNvPr descr="image.png" id="1328" name="Google Shape;1328;p5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33475" y="323105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9" name="Google Shape;1329;p5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33475" y="366920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0" name="Google Shape;1330;p5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33475" y="410735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1" name="Google Shape;1331;p5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33475" y="454550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2" name="Google Shape;1332;p5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33475" y="498365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3" name="Google Shape;1333;p5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33475" y="542180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4" name="Google Shape;1334;p5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57975" y="357976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5" name="Google Shape;1335;p5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57975" y="401791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6" name="Google Shape;1336;p5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57975" y="4456062"/>
            <a:ext cx="11430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1" name="Google Shape;1341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2" name="Google Shape;1342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314450"/>
            <a:ext cx="5143500" cy="44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343" name="Google Shape;1343;p58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STAFFING &amp; HUMAN RESOURCE READINESS</a:t>
            </a:r>
            <a:endParaRPr/>
          </a:p>
        </p:txBody>
      </p:sp>
      <p:sp>
        <p:nvSpPr>
          <p:cNvPr id="1344" name="Google Shape;1344;p58"/>
          <p:cNvSpPr txBox="1"/>
          <p:nvPr/>
        </p:nvSpPr>
        <p:spPr>
          <a:xfrm>
            <a:off x="762000" y="5994796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Capacity calibration will align with service volume.</a:t>
            </a:r>
            <a:endParaRPr/>
          </a:p>
        </p:txBody>
      </p:sp>
      <p:sp>
        <p:nvSpPr>
          <p:cNvPr id="1345" name="Google Shape;1345;p58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6" name="Google Shape;1346;p58"/>
          <p:cNvSpPr txBox="1"/>
          <p:nvPr/>
        </p:nvSpPr>
        <p:spPr>
          <a:xfrm>
            <a:off x="762000" y="2231528"/>
            <a:ext cx="5143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Preliminary HR planning includes:</a:t>
            </a:r>
            <a:endParaRPr/>
          </a:p>
        </p:txBody>
      </p:sp>
      <p:sp>
        <p:nvSpPr>
          <p:cNvPr id="1347" name="Google Shape;1347;p58"/>
          <p:cNvSpPr txBox="1"/>
          <p:nvPr/>
        </p:nvSpPr>
        <p:spPr>
          <a:xfrm>
            <a:off x="6524625" y="1476375"/>
            <a:ext cx="4667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Estimated Phase I staffing categories:</a:t>
            </a:r>
            <a:endParaRPr/>
          </a:p>
        </p:txBody>
      </p:sp>
      <p:graphicFrame>
        <p:nvGraphicFramePr>
          <p:cNvPr id="1348" name="Google Shape;1348;p58"/>
          <p:cNvGraphicFramePr/>
          <p:nvPr/>
        </p:nvGraphicFramePr>
        <p:xfrm>
          <a:off x="6296025" y="17506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{205658A8-B75E-4893-B863-9B2F382446B2}</a:tableStyleId>
              </a:tblPr>
              <a:tblGrid>
                <a:gridCol w="2386900"/>
                <a:gridCol w="2737550"/>
              </a:tblGrid>
              <a:tr h="66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Role Category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6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Director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To be formally designated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Operations Staff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Identified from internal pools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Monitoring Desk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To be assigned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Bureau Focal Points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To be nominated by bureaus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Administrative Support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To be allocated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49" name="Google Shape;1349;p58"/>
          <p:cNvSpPr/>
          <p:nvPr/>
        </p:nvSpPr>
        <p:spPr>
          <a:xfrm>
            <a:off x="6296025" y="2245965"/>
            <a:ext cx="238690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58"/>
          <p:cNvSpPr/>
          <p:nvPr/>
        </p:nvSpPr>
        <p:spPr>
          <a:xfrm>
            <a:off x="8682930" y="2245965"/>
            <a:ext cx="2737544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51" name="Google Shape;1351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639169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p58"/>
          <p:cNvSpPr txBox="1"/>
          <p:nvPr/>
        </p:nvSpPr>
        <p:spPr>
          <a:xfrm>
            <a:off x="1143000" y="2620119"/>
            <a:ext cx="2457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MESOB Director role definition</a:t>
            </a:r>
            <a:endParaRPr/>
          </a:p>
        </p:txBody>
      </p:sp>
      <p:pic>
        <p:nvPicPr>
          <p:cNvPr descr="image.png" id="1353" name="Google Shape;1353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077319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4" name="Google Shape;1354;p58"/>
          <p:cNvSpPr txBox="1"/>
          <p:nvPr/>
        </p:nvSpPr>
        <p:spPr>
          <a:xfrm>
            <a:off x="1143000" y="3058269"/>
            <a:ext cx="2619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Unit head structure identification</a:t>
            </a:r>
            <a:endParaRPr/>
          </a:p>
        </p:txBody>
      </p:sp>
      <p:pic>
        <p:nvPicPr>
          <p:cNvPr descr="image.png" id="1355" name="Google Shape;1355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515469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6" name="Google Shape;1356;p58"/>
          <p:cNvSpPr txBox="1"/>
          <p:nvPr/>
        </p:nvSpPr>
        <p:spPr>
          <a:xfrm>
            <a:off x="1143000" y="3496419"/>
            <a:ext cx="25812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Counter staff volume estimation</a:t>
            </a:r>
            <a:endParaRPr/>
          </a:p>
        </p:txBody>
      </p:sp>
      <p:pic>
        <p:nvPicPr>
          <p:cNvPr descr="image.png" id="1357" name="Google Shape;1357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953619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Google Shape;1358;p58"/>
          <p:cNvSpPr txBox="1"/>
          <p:nvPr/>
        </p:nvSpPr>
        <p:spPr>
          <a:xfrm>
            <a:off x="1143000" y="3934569"/>
            <a:ext cx="3143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Bureau focal person designation model</a:t>
            </a:r>
            <a:endParaRPr/>
          </a:p>
        </p:txBody>
      </p:sp>
      <p:pic>
        <p:nvPicPr>
          <p:cNvPr descr="image.png" id="1359" name="Google Shape;1359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391769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0" name="Google Shape;1360;p58"/>
          <p:cNvSpPr txBox="1"/>
          <p:nvPr/>
        </p:nvSpPr>
        <p:spPr>
          <a:xfrm>
            <a:off x="1143000" y="4372719"/>
            <a:ext cx="2705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Training requirements assessment</a:t>
            </a:r>
            <a:endParaRPr/>
          </a:p>
        </p:txBody>
      </p:sp>
      <p:sp>
        <p:nvSpPr>
          <p:cNvPr id="1361" name="Google Shape;1361;p58"/>
          <p:cNvSpPr/>
          <p:nvPr/>
        </p:nvSpPr>
        <p:spPr>
          <a:xfrm>
            <a:off x="6296025" y="2848867"/>
            <a:ext cx="238690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58"/>
          <p:cNvSpPr/>
          <p:nvPr/>
        </p:nvSpPr>
        <p:spPr>
          <a:xfrm>
            <a:off x="8682930" y="2848867"/>
            <a:ext cx="273754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58"/>
          <p:cNvSpPr/>
          <p:nvPr/>
        </p:nvSpPr>
        <p:spPr>
          <a:xfrm>
            <a:off x="6296025" y="3711773"/>
            <a:ext cx="238690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58"/>
          <p:cNvSpPr/>
          <p:nvPr/>
        </p:nvSpPr>
        <p:spPr>
          <a:xfrm>
            <a:off x="8682930" y="3711773"/>
            <a:ext cx="273754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58"/>
          <p:cNvSpPr/>
          <p:nvPr/>
        </p:nvSpPr>
        <p:spPr>
          <a:xfrm>
            <a:off x="6296025" y="4300388"/>
            <a:ext cx="238690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58"/>
          <p:cNvSpPr/>
          <p:nvPr/>
        </p:nvSpPr>
        <p:spPr>
          <a:xfrm>
            <a:off x="8682930" y="4300388"/>
            <a:ext cx="273754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58"/>
          <p:cNvSpPr/>
          <p:nvPr/>
        </p:nvSpPr>
        <p:spPr>
          <a:xfrm>
            <a:off x="6296025" y="4889003"/>
            <a:ext cx="238690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58"/>
          <p:cNvSpPr/>
          <p:nvPr/>
        </p:nvSpPr>
        <p:spPr>
          <a:xfrm>
            <a:off x="8682930" y="4889003"/>
            <a:ext cx="273754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69" name="Google Shape;1369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8200" y="2705844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0" name="Google Shape;1370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8200" y="3143994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1" name="Google Shape;1371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8200" y="3582144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2" name="Google Shape;1372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8200" y="4020294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3" name="Google Shape;1373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8200" y="4458444"/>
            <a:ext cx="11430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8" name="Google Shape;1378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9" name="Google Shape;1379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314450"/>
            <a:ext cx="5143500" cy="50003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0" name="Google Shape;1380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245173"/>
            <a:ext cx="5143500" cy="879871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59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VENDOR IDENTIFICATION STATUS</a:t>
            </a:r>
            <a:endParaRPr/>
          </a:p>
        </p:txBody>
      </p:sp>
      <p:sp>
        <p:nvSpPr>
          <p:cNvPr id="1382" name="Google Shape;1382;p59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59"/>
          <p:cNvSpPr txBox="1"/>
          <p:nvPr/>
        </p:nvSpPr>
        <p:spPr>
          <a:xfrm>
            <a:off x="762000" y="2504033"/>
            <a:ext cx="5143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Where specific vendors are identified:</a:t>
            </a:r>
            <a:endParaRPr/>
          </a:p>
        </p:txBody>
      </p:sp>
      <p:sp>
        <p:nvSpPr>
          <p:cNvPr id="1384" name="Google Shape;1384;p59"/>
          <p:cNvSpPr txBox="1"/>
          <p:nvPr/>
        </p:nvSpPr>
        <p:spPr>
          <a:xfrm>
            <a:off x="6524625" y="1476375"/>
            <a:ext cx="4667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Where vendors are not yet finalized (Vendor Strategy Model):</a:t>
            </a:r>
            <a:endParaRPr/>
          </a:p>
        </p:txBody>
      </p:sp>
      <p:graphicFrame>
        <p:nvGraphicFramePr>
          <p:cNvPr id="1385" name="Google Shape;1385;p59"/>
          <p:cNvGraphicFramePr/>
          <p:nvPr/>
        </p:nvGraphicFramePr>
        <p:xfrm>
          <a:off x="6296025" y="20249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{205658A8-B75E-4893-B863-9B2F382446B2}</a:tableStyleId>
              </a:tblPr>
              <a:tblGrid>
                <a:gridCol w="2356250"/>
                <a:gridCol w="2768200"/>
              </a:tblGrid>
              <a:tr h="71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Component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Strategy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71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Technology Platform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Competitive evaluation process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Queue System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Modular procurement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Network Infrastructure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Existing city IT integration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Equipment Procurement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Phased acquisition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Support Services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SLA-based contracting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86" name="Google Shape;1386;p59"/>
          <p:cNvSpPr/>
          <p:nvPr/>
        </p:nvSpPr>
        <p:spPr>
          <a:xfrm>
            <a:off x="6296025" y="2520255"/>
            <a:ext cx="2356246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59"/>
          <p:cNvSpPr/>
          <p:nvPr/>
        </p:nvSpPr>
        <p:spPr>
          <a:xfrm>
            <a:off x="8652271" y="2520255"/>
            <a:ext cx="2768203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88" name="Google Shape;1388;p5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291167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9" name="Google Shape;1389;p59"/>
          <p:cNvSpPr txBox="1"/>
          <p:nvPr/>
        </p:nvSpPr>
        <p:spPr>
          <a:xfrm>
            <a:off x="1143000" y="2892623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Initial consultations held with technology solution providers</a:t>
            </a:r>
            <a:endParaRPr/>
          </a:p>
        </p:txBody>
      </p:sp>
      <p:pic>
        <p:nvPicPr>
          <p:cNvPr descr="image.png" id="1390" name="Google Shape;1390;p5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34982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1" name="Google Shape;1391;p59"/>
          <p:cNvSpPr txBox="1"/>
          <p:nvPr/>
        </p:nvSpPr>
        <p:spPr>
          <a:xfrm>
            <a:off x="1143000" y="3330773"/>
            <a:ext cx="30765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Infrastructure supply vendors mapped</a:t>
            </a:r>
            <a:endParaRPr/>
          </a:p>
        </p:txBody>
      </p:sp>
      <p:pic>
        <p:nvPicPr>
          <p:cNvPr descr="image.png" id="1392" name="Google Shape;1392;p5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78797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3" name="Google Shape;1393;p59"/>
          <p:cNvSpPr txBox="1"/>
          <p:nvPr/>
        </p:nvSpPr>
        <p:spPr>
          <a:xfrm>
            <a:off x="1143000" y="3768923"/>
            <a:ext cx="3362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Preliminary interest confirmation obtained</a:t>
            </a:r>
            <a:endParaRPr/>
          </a:p>
        </p:txBody>
      </p:sp>
      <p:sp>
        <p:nvSpPr>
          <p:cNvPr id="1394" name="Google Shape;1394;p59"/>
          <p:cNvSpPr/>
          <p:nvPr/>
        </p:nvSpPr>
        <p:spPr>
          <a:xfrm>
            <a:off x="6296025" y="3397448"/>
            <a:ext cx="235624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59"/>
          <p:cNvSpPr/>
          <p:nvPr/>
        </p:nvSpPr>
        <p:spPr>
          <a:xfrm>
            <a:off x="8652271" y="3397448"/>
            <a:ext cx="276820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59"/>
          <p:cNvSpPr/>
          <p:nvPr/>
        </p:nvSpPr>
        <p:spPr>
          <a:xfrm>
            <a:off x="6296025" y="3986063"/>
            <a:ext cx="235624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59"/>
          <p:cNvSpPr/>
          <p:nvPr/>
        </p:nvSpPr>
        <p:spPr>
          <a:xfrm>
            <a:off x="8652271" y="3986063"/>
            <a:ext cx="276820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59"/>
          <p:cNvSpPr/>
          <p:nvPr/>
        </p:nvSpPr>
        <p:spPr>
          <a:xfrm>
            <a:off x="6296025" y="4848969"/>
            <a:ext cx="235624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59"/>
          <p:cNvSpPr/>
          <p:nvPr/>
        </p:nvSpPr>
        <p:spPr>
          <a:xfrm>
            <a:off x="8652271" y="4848969"/>
            <a:ext cx="276820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0" name="Google Shape;1400;p59"/>
          <p:cNvSpPr/>
          <p:nvPr/>
        </p:nvSpPr>
        <p:spPr>
          <a:xfrm>
            <a:off x="6296025" y="5711874"/>
            <a:ext cx="235624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1" name="Google Shape;1401;p59"/>
          <p:cNvSpPr/>
          <p:nvPr/>
        </p:nvSpPr>
        <p:spPr>
          <a:xfrm>
            <a:off x="8652271" y="5711874"/>
            <a:ext cx="276820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02" name="Google Shape;1402;p5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8200" y="297834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3" name="Google Shape;1403;p5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8200" y="341649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4" name="Google Shape;1404;p5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8200" y="3854648"/>
            <a:ext cx="1143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5" name="Google Shape;1405;p59"/>
          <p:cNvSpPr txBox="1"/>
          <p:nvPr/>
        </p:nvSpPr>
        <p:spPr>
          <a:xfrm>
            <a:off x="962025" y="4445198"/>
            <a:ext cx="474345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No vendor commitments have been finalized prior to Cabinet alignment.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0" name="Google Shape;141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1" name="Google Shape;1411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781175"/>
            <a:ext cx="5143500" cy="50003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2" name="Google Shape;1412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551360"/>
            <a:ext cx="5143500" cy="3459956"/>
          </a:xfrm>
          <a:prstGeom prst="rect">
            <a:avLst/>
          </a:prstGeom>
          <a:noFill/>
          <a:ln>
            <a:noFill/>
          </a:ln>
        </p:spPr>
      </p:pic>
      <p:sp>
        <p:nvSpPr>
          <p:cNvPr id="1413" name="Google Shape;1413;p60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DIRECTIONAL BUDGET ENVELOPE OVERVIEW</a:t>
            </a:r>
            <a:endParaRPr/>
          </a:p>
        </p:txBody>
      </p:sp>
      <p:sp>
        <p:nvSpPr>
          <p:cNvPr id="1414" name="Google Shape;1414;p60"/>
          <p:cNvSpPr txBox="1"/>
          <p:nvPr/>
        </p:nvSpPr>
        <p:spPr>
          <a:xfrm>
            <a:off x="762000" y="1314450"/>
            <a:ext cx="10668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Budget is presented directionally, not as final allocation.</a:t>
            </a:r>
            <a:endParaRPr/>
          </a:p>
        </p:txBody>
      </p:sp>
      <p:sp>
        <p:nvSpPr>
          <p:cNvPr id="1415" name="Google Shape;1415;p60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6" name="Google Shape;1416;p60"/>
          <p:cNvSpPr txBox="1"/>
          <p:nvPr/>
        </p:nvSpPr>
        <p:spPr>
          <a:xfrm>
            <a:off x="1000125" y="1943100"/>
            <a:ext cx="4667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Major cost categories:</a:t>
            </a:r>
            <a:endParaRPr/>
          </a:p>
        </p:txBody>
      </p:sp>
      <p:graphicFrame>
        <p:nvGraphicFramePr>
          <p:cNvPr id="1417" name="Google Shape;1417;p60"/>
          <p:cNvGraphicFramePr/>
          <p:nvPr/>
        </p:nvGraphicFramePr>
        <p:xfrm>
          <a:off x="771525" y="22173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{205658A8-B75E-4893-B863-9B2F382446B2}</a:tableStyleId>
              </a:tblPr>
              <a:tblGrid>
                <a:gridCol w="2106950"/>
                <a:gridCol w="3017500"/>
              </a:tblGrid>
              <a:tr h="75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Category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Cost Drivers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75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Physical Setup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Counters, partitioning, waiting area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Technology Systems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Software platform, dashboards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Equipment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Computers, scanners, networking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Training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Staff orientation &amp; process training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Initial Operations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Setup phase support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1418" name="Google Shape;1418;p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1775" y="284663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9" name="Google Shape;1419;p60"/>
          <p:cNvSpPr txBox="1"/>
          <p:nvPr/>
        </p:nvSpPr>
        <p:spPr>
          <a:xfrm>
            <a:off x="6581775" y="3608635"/>
            <a:ext cx="478059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Phased spending logic:</a:t>
            </a:r>
            <a:endParaRPr/>
          </a:p>
        </p:txBody>
      </p:sp>
      <p:sp>
        <p:nvSpPr>
          <p:cNvPr id="1420" name="Google Shape;1420;p60"/>
          <p:cNvSpPr txBox="1"/>
          <p:nvPr/>
        </p:nvSpPr>
        <p:spPr>
          <a:xfrm>
            <a:off x="6581775" y="5441751"/>
            <a:ext cx="4552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Budget discipline embedded through phased release.</a:t>
            </a:r>
            <a:endParaRPr/>
          </a:p>
        </p:txBody>
      </p:sp>
      <p:sp>
        <p:nvSpPr>
          <p:cNvPr id="1421" name="Google Shape;1421;p60"/>
          <p:cNvSpPr/>
          <p:nvPr/>
        </p:nvSpPr>
        <p:spPr>
          <a:xfrm>
            <a:off x="771525" y="2712690"/>
            <a:ext cx="2106959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2" name="Google Shape;1422;p60"/>
          <p:cNvSpPr/>
          <p:nvPr/>
        </p:nvSpPr>
        <p:spPr>
          <a:xfrm>
            <a:off x="2878484" y="2712690"/>
            <a:ext cx="301749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23" name="Google Shape;1423;p6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19887" y="2999035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4" name="Google Shape;1424;p60"/>
          <p:cNvSpPr/>
          <p:nvPr/>
        </p:nvSpPr>
        <p:spPr>
          <a:xfrm>
            <a:off x="771525" y="3589883"/>
            <a:ext cx="210695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p60"/>
          <p:cNvSpPr/>
          <p:nvPr/>
        </p:nvSpPr>
        <p:spPr>
          <a:xfrm>
            <a:off x="2878484" y="3589883"/>
            <a:ext cx="301749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6" name="Google Shape;1426;p60"/>
          <p:cNvSpPr/>
          <p:nvPr/>
        </p:nvSpPr>
        <p:spPr>
          <a:xfrm>
            <a:off x="771525" y="4452788"/>
            <a:ext cx="210695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7" name="Google Shape;1427;p60"/>
          <p:cNvSpPr/>
          <p:nvPr/>
        </p:nvSpPr>
        <p:spPr>
          <a:xfrm>
            <a:off x="2878484" y="4452788"/>
            <a:ext cx="301749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8" name="Google Shape;1428;p60"/>
          <p:cNvSpPr/>
          <p:nvPr/>
        </p:nvSpPr>
        <p:spPr>
          <a:xfrm>
            <a:off x="771525" y="5315694"/>
            <a:ext cx="210695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9" name="Google Shape;1429;p60"/>
          <p:cNvSpPr/>
          <p:nvPr/>
        </p:nvSpPr>
        <p:spPr>
          <a:xfrm>
            <a:off x="2878484" y="5315694"/>
            <a:ext cx="301749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0" name="Google Shape;1430;p60"/>
          <p:cNvSpPr/>
          <p:nvPr/>
        </p:nvSpPr>
        <p:spPr>
          <a:xfrm>
            <a:off x="771525" y="6178599"/>
            <a:ext cx="210695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1" name="Google Shape;1431;p60"/>
          <p:cNvSpPr/>
          <p:nvPr/>
        </p:nvSpPr>
        <p:spPr>
          <a:xfrm>
            <a:off x="2878484" y="6178599"/>
            <a:ext cx="301749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32" name="Google Shape;1432;p6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1775" y="399395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3" name="Google Shape;1433;p60"/>
          <p:cNvSpPr txBox="1"/>
          <p:nvPr/>
        </p:nvSpPr>
        <p:spPr>
          <a:xfrm>
            <a:off x="6962775" y="3974901"/>
            <a:ext cx="26384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0 — Preparation allocation</a:t>
            </a:r>
            <a:endParaRPr/>
          </a:p>
        </p:txBody>
      </p:sp>
      <p:pic>
        <p:nvPicPr>
          <p:cNvPr descr="image.png" id="1434" name="Google Shape;1434;p6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1775" y="443210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5" name="Google Shape;1435;p60"/>
          <p:cNvSpPr txBox="1"/>
          <p:nvPr/>
        </p:nvSpPr>
        <p:spPr>
          <a:xfrm>
            <a:off x="6962775" y="4413051"/>
            <a:ext cx="3124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I — Controlled activation budget</a:t>
            </a:r>
            <a:endParaRPr/>
          </a:p>
        </p:txBody>
      </p:sp>
      <p:pic>
        <p:nvPicPr>
          <p:cNvPr descr="image.png" id="1436" name="Google Shape;1436;p6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1775" y="487025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7" name="Google Shape;1437;p60"/>
          <p:cNvSpPr txBox="1"/>
          <p:nvPr/>
        </p:nvSpPr>
        <p:spPr>
          <a:xfrm>
            <a:off x="6962775" y="4851201"/>
            <a:ext cx="3086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II — Expansion scaling allocation</a:t>
            </a:r>
            <a:endParaRPr/>
          </a:p>
        </p:txBody>
      </p:sp>
      <p:pic>
        <p:nvPicPr>
          <p:cNvPr descr="image.png" id="1438" name="Google Shape;1438;p6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57975" y="4060626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9" name="Google Shape;1439;p6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57975" y="4498776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0" name="Google Shape;1440;p6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57975" y="4936926"/>
            <a:ext cx="11430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5" name="Google Shape;1445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6" name="Google Shape;1446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314450"/>
            <a:ext cx="5143500" cy="50335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7" name="Google Shape;1447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120628"/>
            <a:ext cx="5143500" cy="1421010"/>
          </a:xfrm>
          <a:prstGeom prst="rect">
            <a:avLst/>
          </a:prstGeom>
          <a:noFill/>
          <a:ln>
            <a:noFill/>
          </a:ln>
        </p:spPr>
      </p:pic>
      <p:sp>
        <p:nvSpPr>
          <p:cNvPr id="1448" name="Google Shape;1448;p61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PROCUREMENT &amp; ACTIVATION PATHWAY</a:t>
            </a:r>
            <a:endParaRPr/>
          </a:p>
        </p:txBody>
      </p:sp>
      <p:sp>
        <p:nvSpPr>
          <p:cNvPr id="1449" name="Google Shape;1449;p61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50" name="Google Shape;1450;p6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275" y="160972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1" name="Google Shape;1451;p61"/>
          <p:cNvSpPr txBox="1"/>
          <p:nvPr/>
        </p:nvSpPr>
        <p:spPr>
          <a:xfrm>
            <a:off x="1057275" y="2371725"/>
            <a:ext cx="478059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Proposed structured activation sequence:</a:t>
            </a:r>
            <a:endParaRPr/>
          </a:p>
        </p:txBody>
      </p:sp>
      <p:pic>
        <p:nvPicPr>
          <p:cNvPr descr="image.png" id="1452" name="Google Shape;1452;p6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09675" y="17621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3" name="Google Shape;1453;p6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7275" y="275704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4" name="Google Shape;1454;p61"/>
          <p:cNvSpPr txBox="1"/>
          <p:nvPr/>
        </p:nvSpPr>
        <p:spPr>
          <a:xfrm>
            <a:off x="1438275" y="2737991"/>
            <a:ext cx="14954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Cabinet Alignment</a:t>
            </a:r>
            <a:endParaRPr/>
          </a:p>
        </p:txBody>
      </p:sp>
      <p:pic>
        <p:nvPicPr>
          <p:cNvPr descr="image.png" id="1455" name="Google Shape;1455;p6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319519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6" name="Google Shape;1456;p61"/>
          <p:cNvSpPr txBox="1"/>
          <p:nvPr/>
        </p:nvSpPr>
        <p:spPr>
          <a:xfrm>
            <a:off x="1438275" y="3176141"/>
            <a:ext cx="30099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Finalization of Service Scope (Phase I)</a:t>
            </a:r>
            <a:endParaRPr/>
          </a:p>
        </p:txBody>
      </p:sp>
      <p:pic>
        <p:nvPicPr>
          <p:cNvPr descr="image.png" id="1457" name="Google Shape;1457;p6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363334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8" name="Google Shape;1458;p61"/>
          <p:cNvSpPr txBox="1"/>
          <p:nvPr/>
        </p:nvSpPr>
        <p:spPr>
          <a:xfrm>
            <a:off x="1438275" y="3614291"/>
            <a:ext cx="2457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Budget envelope confirmation</a:t>
            </a:r>
            <a:endParaRPr/>
          </a:p>
        </p:txBody>
      </p:sp>
      <p:pic>
        <p:nvPicPr>
          <p:cNvPr descr="image.png" id="1459" name="Google Shape;1459;p6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57275" y="407149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Google Shape;1460;p61"/>
          <p:cNvSpPr txBox="1"/>
          <p:nvPr/>
        </p:nvSpPr>
        <p:spPr>
          <a:xfrm>
            <a:off x="1438275" y="4052441"/>
            <a:ext cx="24384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Vendor selection formalization</a:t>
            </a:r>
            <a:endParaRPr/>
          </a:p>
        </p:txBody>
      </p:sp>
      <p:pic>
        <p:nvPicPr>
          <p:cNvPr descr="image.png" id="1461" name="Google Shape;1461;p6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57275" y="450964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2" name="Google Shape;1462;p61"/>
          <p:cNvSpPr txBox="1"/>
          <p:nvPr/>
        </p:nvSpPr>
        <p:spPr>
          <a:xfrm>
            <a:off x="1438275" y="4490591"/>
            <a:ext cx="15906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Infrastructure setup</a:t>
            </a:r>
            <a:endParaRPr/>
          </a:p>
        </p:txBody>
      </p:sp>
      <p:pic>
        <p:nvPicPr>
          <p:cNvPr descr="image.png" id="1463" name="Google Shape;1463;p6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57275" y="494779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4" name="Google Shape;1464;p61"/>
          <p:cNvSpPr txBox="1"/>
          <p:nvPr/>
        </p:nvSpPr>
        <p:spPr>
          <a:xfrm>
            <a:off x="1438275" y="4928741"/>
            <a:ext cx="21812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Staff designation &amp; training</a:t>
            </a:r>
            <a:endParaRPr/>
          </a:p>
        </p:txBody>
      </p:sp>
      <p:pic>
        <p:nvPicPr>
          <p:cNvPr descr="image.png" id="1465" name="Google Shape;1465;p6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57275" y="538594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6" name="Google Shape;1466;p61"/>
          <p:cNvSpPr txBox="1"/>
          <p:nvPr/>
        </p:nvSpPr>
        <p:spPr>
          <a:xfrm>
            <a:off x="1438275" y="5366891"/>
            <a:ext cx="18192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Soft-launch simulation</a:t>
            </a:r>
            <a:endParaRPr/>
          </a:p>
        </p:txBody>
      </p:sp>
      <p:pic>
        <p:nvPicPr>
          <p:cNvPr descr="image.png" id="1467" name="Google Shape;1467;p6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57275" y="582409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p61"/>
          <p:cNvSpPr txBox="1"/>
          <p:nvPr/>
        </p:nvSpPr>
        <p:spPr>
          <a:xfrm>
            <a:off x="1438275" y="5805041"/>
            <a:ext cx="1381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Formal activation</a:t>
            </a:r>
            <a:endParaRPr/>
          </a:p>
        </p:txBody>
      </p:sp>
      <p:sp>
        <p:nvSpPr>
          <p:cNvPr id="1469" name="Google Shape;1469;p61"/>
          <p:cNvSpPr txBox="1"/>
          <p:nvPr/>
        </p:nvSpPr>
        <p:spPr>
          <a:xfrm>
            <a:off x="6677025" y="3511153"/>
            <a:ext cx="43624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Activation is structured — not immediate upon approval.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4" name="Google Shape;1474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5" name="Google Shape;1475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95925" y="2413694"/>
            <a:ext cx="12001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6" name="Google Shape;1476;p62"/>
          <p:cNvSpPr txBox="1"/>
          <p:nvPr/>
        </p:nvSpPr>
        <p:spPr>
          <a:xfrm>
            <a:off x="2164102" y="2985194"/>
            <a:ext cx="786379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90-Day Structured Action Plan</a:t>
            </a:r>
            <a:endParaRPr/>
          </a:p>
        </p:txBody>
      </p:sp>
      <p:sp>
        <p:nvSpPr>
          <p:cNvPr id="1477" name="Google Shape;1477;p62"/>
          <p:cNvSpPr txBox="1"/>
          <p:nvPr/>
        </p:nvSpPr>
        <p:spPr>
          <a:xfrm>
            <a:off x="3133725" y="3815655"/>
            <a:ext cx="59245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Tone: Precise. Accountable. Measured. Alignment-focused.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This section is critical for executive confidence.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2" name="Google Shape;1482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3" name="Google Shape;1483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323332"/>
            <a:ext cx="5143500" cy="1421010"/>
          </a:xfrm>
          <a:prstGeom prst="rect">
            <a:avLst/>
          </a:prstGeom>
          <a:noFill/>
          <a:ln>
            <a:noFill/>
          </a:ln>
        </p:spPr>
      </p:pic>
      <p:sp>
        <p:nvSpPr>
          <p:cNvPr id="1484" name="Google Shape;1484;p63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90-DAY REFORM OBJECTIVES</a:t>
            </a:r>
            <a:endParaRPr/>
          </a:p>
        </p:txBody>
      </p:sp>
      <p:sp>
        <p:nvSpPr>
          <p:cNvPr id="1485" name="Google Shape;1485;p63"/>
          <p:cNvSpPr txBox="1"/>
          <p:nvPr/>
        </p:nvSpPr>
        <p:spPr>
          <a:xfrm>
            <a:off x="762000" y="1314450"/>
            <a:ext cx="10668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Structured Foundation Before Full Activation</a:t>
            </a:r>
            <a:endParaRPr/>
          </a:p>
        </p:txBody>
      </p:sp>
      <p:sp>
        <p:nvSpPr>
          <p:cNvPr id="1486" name="Google Shape;1486;p63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7" name="Google Shape;1487;p63"/>
          <p:cNvSpPr txBox="1"/>
          <p:nvPr/>
        </p:nvSpPr>
        <p:spPr>
          <a:xfrm>
            <a:off x="762000" y="2467867"/>
            <a:ext cx="5143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first 90 days will focus on:</a:t>
            </a:r>
            <a:endParaRPr/>
          </a:p>
        </p:txBody>
      </p:sp>
      <p:pic>
        <p:nvPicPr>
          <p:cNvPr descr="image.png" id="1488" name="Google Shape;1488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95170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9" name="Google Shape;1489;p63"/>
          <p:cNvSpPr txBox="1"/>
          <p:nvPr/>
        </p:nvSpPr>
        <p:spPr>
          <a:xfrm>
            <a:off x="1181100" y="2932658"/>
            <a:ext cx="23526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Formal institutional anchoring</a:t>
            </a:r>
            <a:endParaRPr/>
          </a:p>
        </p:txBody>
      </p:sp>
      <p:pic>
        <p:nvPicPr>
          <p:cNvPr descr="image.png" id="1490" name="Google Shape;1490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42795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1" name="Google Shape;1491;p63"/>
          <p:cNvSpPr txBox="1"/>
          <p:nvPr/>
        </p:nvSpPr>
        <p:spPr>
          <a:xfrm>
            <a:off x="1181100" y="3408908"/>
            <a:ext cx="2857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Finalization of Phase I service scope</a:t>
            </a:r>
            <a:endParaRPr/>
          </a:p>
        </p:txBody>
      </p:sp>
      <p:pic>
        <p:nvPicPr>
          <p:cNvPr descr="image.png" id="1492" name="Google Shape;1492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90420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3" name="Google Shape;1493;p63"/>
          <p:cNvSpPr txBox="1"/>
          <p:nvPr/>
        </p:nvSpPr>
        <p:spPr>
          <a:xfrm>
            <a:off x="1181100" y="3885158"/>
            <a:ext cx="30670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Governance documentation adoption</a:t>
            </a:r>
            <a:endParaRPr/>
          </a:p>
        </p:txBody>
      </p:sp>
      <p:pic>
        <p:nvPicPr>
          <p:cNvPr descr="image.png" id="1494" name="Google Shape;1494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38045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5" name="Google Shape;1495;p63"/>
          <p:cNvSpPr txBox="1"/>
          <p:nvPr/>
        </p:nvSpPr>
        <p:spPr>
          <a:xfrm>
            <a:off x="1181100" y="4361408"/>
            <a:ext cx="2714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Technology &amp; infrastructure setup</a:t>
            </a:r>
            <a:endParaRPr/>
          </a:p>
        </p:txBody>
      </p:sp>
      <p:pic>
        <p:nvPicPr>
          <p:cNvPr descr="image.png" id="1496" name="Google Shape;1496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85670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7" name="Google Shape;1497;p63"/>
          <p:cNvSpPr txBox="1"/>
          <p:nvPr/>
        </p:nvSpPr>
        <p:spPr>
          <a:xfrm>
            <a:off x="1181100" y="4837658"/>
            <a:ext cx="2362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Staff designation and training</a:t>
            </a:r>
            <a:endParaRPr/>
          </a:p>
        </p:txBody>
      </p:sp>
      <p:pic>
        <p:nvPicPr>
          <p:cNvPr descr="image.png" id="1498" name="Google Shape;1498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33295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9" name="Google Shape;1499;p63"/>
          <p:cNvSpPr txBox="1"/>
          <p:nvPr/>
        </p:nvSpPr>
        <p:spPr>
          <a:xfrm>
            <a:off x="1181100" y="5313908"/>
            <a:ext cx="31337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Monitoring system activation readiness</a:t>
            </a:r>
            <a:endParaRPr/>
          </a:p>
        </p:txBody>
      </p:sp>
      <p:pic>
        <p:nvPicPr>
          <p:cNvPr descr="image.png" id="1500" name="Google Shape;1500;p6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8200" y="3018383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1" name="Google Shape;1501;p6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8200" y="3494633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2" name="Google Shape;1502;p6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8200" y="3970883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3" name="Google Shape;1503;p6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8200" y="4447133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4" name="Google Shape;1504;p6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8200" y="4923383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5" name="Google Shape;1505;p6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8200" y="5399633"/>
            <a:ext cx="1143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6" name="Google Shape;1506;p63"/>
          <p:cNvSpPr txBox="1"/>
          <p:nvPr/>
        </p:nvSpPr>
        <p:spPr>
          <a:xfrm>
            <a:off x="6677025" y="3713857"/>
            <a:ext cx="43624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objective is controlled operational readiness — not rushed public launch.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1" name="Google Shape;1511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2" name="Google Shape;1512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781175"/>
            <a:ext cx="5143500" cy="45953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3" name="Google Shape;1513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348805"/>
            <a:ext cx="5143500" cy="3459956"/>
          </a:xfrm>
          <a:prstGeom prst="rect">
            <a:avLst/>
          </a:prstGeom>
          <a:noFill/>
          <a:ln>
            <a:noFill/>
          </a:ln>
        </p:spPr>
      </p:pic>
      <p:sp>
        <p:nvSpPr>
          <p:cNvPr id="1514" name="Google Shape;1514;p64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MONTH 1 — FOUNDATION &amp; FORMALIZATION</a:t>
            </a:r>
            <a:endParaRPr/>
          </a:p>
        </p:txBody>
      </p:sp>
      <p:sp>
        <p:nvSpPr>
          <p:cNvPr id="1515" name="Google Shape;1515;p64"/>
          <p:cNvSpPr txBox="1"/>
          <p:nvPr/>
        </p:nvSpPr>
        <p:spPr>
          <a:xfrm>
            <a:off x="762000" y="1314450"/>
            <a:ext cx="10668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Primary Focus: Institutional Anchoring</a:t>
            </a:r>
            <a:endParaRPr/>
          </a:p>
        </p:txBody>
      </p:sp>
      <p:sp>
        <p:nvSpPr>
          <p:cNvPr id="1516" name="Google Shape;1516;p64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17" name="Google Shape;1517;p6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275" y="2076450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8" name="Google Shape;1518;p64"/>
          <p:cNvSpPr txBox="1"/>
          <p:nvPr/>
        </p:nvSpPr>
        <p:spPr>
          <a:xfrm>
            <a:off x="1057275" y="2838450"/>
            <a:ext cx="478059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Actions:</a:t>
            </a:r>
            <a:endParaRPr/>
          </a:p>
        </p:txBody>
      </p:sp>
      <p:pic>
        <p:nvPicPr>
          <p:cNvPr descr="image.png" id="1519" name="Google Shape;1519;p6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2644080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0" name="Google Shape;1520;p64"/>
          <p:cNvSpPr txBox="1"/>
          <p:nvPr/>
        </p:nvSpPr>
        <p:spPr>
          <a:xfrm>
            <a:off x="6581775" y="3406080"/>
            <a:ext cx="478059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Deliverable by End of Month 1:</a:t>
            </a:r>
            <a:endParaRPr/>
          </a:p>
        </p:txBody>
      </p:sp>
      <p:sp>
        <p:nvSpPr>
          <p:cNvPr id="1521" name="Google Shape;1521;p64"/>
          <p:cNvSpPr txBox="1"/>
          <p:nvPr/>
        </p:nvSpPr>
        <p:spPr>
          <a:xfrm>
            <a:off x="6581775" y="5239196"/>
            <a:ext cx="4552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Month 1 is structural — not operational.</a:t>
            </a:r>
            <a:endParaRPr/>
          </a:p>
        </p:txBody>
      </p:sp>
      <p:pic>
        <p:nvPicPr>
          <p:cNvPr descr="image.png" id="1522" name="Google Shape;1522;p6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09675" y="22288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3" name="Google Shape;1523;p6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48462" y="279648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4" name="Google Shape;1524;p6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322376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5" name="Google Shape;1525;p64"/>
          <p:cNvSpPr txBox="1"/>
          <p:nvPr/>
        </p:nvSpPr>
        <p:spPr>
          <a:xfrm>
            <a:off x="1438275" y="3204716"/>
            <a:ext cx="25336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Cabinet alignment confirmation</a:t>
            </a:r>
            <a:endParaRPr/>
          </a:p>
        </p:txBody>
      </p:sp>
      <p:pic>
        <p:nvPicPr>
          <p:cNvPr descr="image.png" id="1526" name="Google Shape;1526;p6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366191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7" name="Google Shape;1527;p64"/>
          <p:cNvSpPr txBox="1"/>
          <p:nvPr/>
        </p:nvSpPr>
        <p:spPr>
          <a:xfrm>
            <a:off x="1438275" y="3642866"/>
            <a:ext cx="3209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Formal issuance of institutional mandate</a:t>
            </a:r>
            <a:endParaRPr/>
          </a:p>
        </p:txBody>
      </p:sp>
      <p:pic>
        <p:nvPicPr>
          <p:cNvPr descr="image.png" id="1528" name="Google Shape;1528;p6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410006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9" name="Google Shape;1529;p64"/>
          <p:cNvSpPr txBox="1"/>
          <p:nvPr/>
        </p:nvSpPr>
        <p:spPr>
          <a:xfrm>
            <a:off x="1438275" y="4081016"/>
            <a:ext cx="36766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Appointment/designation of MESOB Director</a:t>
            </a:r>
            <a:endParaRPr/>
          </a:p>
        </p:txBody>
      </p:sp>
      <p:pic>
        <p:nvPicPr>
          <p:cNvPr descr="image.png" id="1530" name="Google Shape;1530;p6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453821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1" name="Google Shape;1531;p64"/>
          <p:cNvSpPr txBox="1"/>
          <p:nvPr/>
        </p:nvSpPr>
        <p:spPr>
          <a:xfrm>
            <a:off x="1438275" y="4519166"/>
            <a:ext cx="2828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Bureau nomination of focal persons</a:t>
            </a:r>
            <a:endParaRPr/>
          </a:p>
        </p:txBody>
      </p:sp>
      <p:pic>
        <p:nvPicPr>
          <p:cNvPr descr="image.png" id="1532" name="Google Shape;1532;p6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497636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3" name="Google Shape;1533;p64"/>
          <p:cNvSpPr txBox="1"/>
          <p:nvPr/>
        </p:nvSpPr>
        <p:spPr>
          <a:xfrm>
            <a:off x="1438275" y="4957316"/>
            <a:ext cx="35337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Final confirmation of Phase I priority services</a:t>
            </a:r>
            <a:endParaRPr/>
          </a:p>
        </p:txBody>
      </p:sp>
      <p:pic>
        <p:nvPicPr>
          <p:cNvPr descr="image.png" id="1534" name="Google Shape;1534;p6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541451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5" name="Google Shape;1535;p64"/>
          <p:cNvSpPr txBox="1"/>
          <p:nvPr/>
        </p:nvSpPr>
        <p:spPr>
          <a:xfrm>
            <a:off x="1438275" y="5395466"/>
            <a:ext cx="32004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Service definition finalization workshops</a:t>
            </a:r>
            <a:endParaRPr/>
          </a:p>
        </p:txBody>
      </p:sp>
      <p:pic>
        <p:nvPicPr>
          <p:cNvPr descr="image.png" id="1536" name="Google Shape;1536;p6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585266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7" name="Google Shape;1537;p64"/>
          <p:cNvSpPr txBox="1"/>
          <p:nvPr/>
        </p:nvSpPr>
        <p:spPr>
          <a:xfrm>
            <a:off x="1438275" y="5833616"/>
            <a:ext cx="2476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Procurement process initiation</a:t>
            </a:r>
            <a:endParaRPr/>
          </a:p>
        </p:txBody>
      </p:sp>
      <p:pic>
        <p:nvPicPr>
          <p:cNvPr descr="image.png" id="1538" name="Google Shape;1538;p6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81775" y="379139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9" name="Google Shape;1539;p64"/>
          <p:cNvSpPr txBox="1"/>
          <p:nvPr/>
        </p:nvSpPr>
        <p:spPr>
          <a:xfrm>
            <a:off x="6962775" y="3772346"/>
            <a:ext cx="3095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Governance structure formally defined</a:t>
            </a:r>
            <a:endParaRPr/>
          </a:p>
        </p:txBody>
      </p:sp>
      <p:pic>
        <p:nvPicPr>
          <p:cNvPr descr="image.png" id="1540" name="Google Shape;1540;p6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81775" y="422954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1" name="Google Shape;1541;p64"/>
          <p:cNvSpPr txBox="1"/>
          <p:nvPr/>
        </p:nvSpPr>
        <p:spPr>
          <a:xfrm>
            <a:off x="6962775" y="4210496"/>
            <a:ext cx="27241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I services fully documented</a:t>
            </a:r>
            <a:endParaRPr/>
          </a:p>
        </p:txBody>
      </p:sp>
      <p:pic>
        <p:nvPicPr>
          <p:cNvPr descr="image.png" id="1542" name="Google Shape;1542;p6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81775" y="466769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3" name="Google Shape;1543;p64"/>
          <p:cNvSpPr txBox="1"/>
          <p:nvPr/>
        </p:nvSpPr>
        <p:spPr>
          <a:xfrm>
            <a:off x="6962775" y="4648646"/>
            <a:ext cx="23717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Activation roadmap validated</a:t>
            </a:r>
            <a:endParaRPr/>
          </a:p>
        </p:txBody>
      </p:sp>
      <p:pic>
        <p:nvPicPr>
          <p:cNvPr descr="image.png" id="1544" name="Google Shape;1544;p6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33475" y="329044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5" name="Google Shape;1545;p6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33475" y="372859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6" name="Google Shape;1546;p6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33475" y="416674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7" name="Google Shape;1547;p6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33475" y="460489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8" name="Google Shape;1548;p6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33475" y="504304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9" name="Google Shape;1549;p6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33475" y="548119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0" name="Google Shape;1550;p6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33475" y="591934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1" name="Google Shape;1551;p6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657975" y="385807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2" name="Google Shape;1552;p6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657975" y="429622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3" name="Google Shape;1553;p6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657975" y="4734371"/>
            <a:ext cx="11430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8" name="Google Shape;1558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9" name="Google Shape;1559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781175"/>
            <a:ext cx="3352800" cy="60084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0" name="Google Shape;1560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9600" y="1781175"/>
            <a:ext cx="3352800" cy="60084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1" name="Google Shape;1561;p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77200" y="1781175"/>
            <a:ext cx="3352800" cy="6008489"/>
          </a:xfrm>
          <a:prstGeom prst="rect">
            <a:avLst/>
          </a:prstGeom>
          <a:noFill/>
          <a:ln>
            <a:noFill/>
          </a:ln>
        </p:spPr>
      </p:pic>
      <p:sp>
        <p:nvSpPr>
          <p:cNvPr id="1562" name="Google Shape;1562;p65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MONTH 2 — INTEGRATION &amp; SYSTEM SETUP</a:t>
            </a:r>
            <a:endParaRPr/>
          </a:p>
        </p:txBody>
      </p:sp>
      <p:sp>
        <p:nvSpPr>
          <p:cNvPr id="1563" name="Google Shape;1563;p65"/>
          <p:cNvSpPr txBox="1"/>
          <p:nvPr/>
        </p:nvSpPr>
        <p:spPr>
          <a:xfrm>
            <a:off x="762000" y="1314450"/>
            <a:ext cx="10668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Primary Focus: Operational Infrastructure Preparation</a:t>
            </a:r>
            <a:endParaRPr/>
          </a:p>
        </p:txBody>
      </p:sp>
      <p:sp>
        <p:nvSpPr>
          <p:cNvPr id="1564" name="Google Shape;1564;p65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65" name="Google Shape;1565;p6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2076450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6" name="Google Shape;1566;p65"/>
          <p:cNvSpPr txBox="1"/>
          <p:nvPr/>
        </p:nvSpPr>
        <p:spPr>
          <a:xfrm>
            <a:off x="1057275" y="2838450"/>
            <a:ext cx="2900362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Actions:</a:t>
            </a:r>
            <a:endParaRPr/>
          </a:p>
        </p:txBody>
      </p:sp>
      <p:pic>
        <p:nvPicPr>
          <p:cNvPr descr="image.png" id="1567" name="Google Shape;1567;p6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14875" y="2076450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8" name="Google Shape;1568;p65"/>
          <p:cNvSpPr txBox="1"/>
          <p:nvPr/>
        </p:nvSpPr>
        <p:spPr>
          <a:xfrm>
            <a:off x="4714875" y="2838450"/>
            <a:ext cx="2900362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Parallel Activities:</a:t>
            </a:r>
            <a:endParaRPr/>
          </a:p>
        </p:txBody>
      </p:sp>
      <p:pic>
        <p:nvPicPr>
          <p:cNvPr descr="image.png" id="1569" name="Google Shape;1569;p6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72475" y="2076450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0" name="Google Shape;1570;p65"/>
          <p:cNvSpPr txBox="1"/>
          <p:nvPr/>
        </p:nvSpPr>
        <p:spPr>
          <a:xfrm>
            <a:off x="8372475" y="2838450"/>
            <a:ext cx="2900362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Deliverable by End of Month 2:</a:t>
            </a:r>
            <a:endParaRPr/>
          </a:p>
        </p:txBody>
      </p:sp>
      <p:pic>
        <p:nvPicPr>
          <p:cNvPr descr="image.png" id="1571" name="Google Shape;1571;p6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09675" y="22288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2" name="Google Shape;1572;p6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67275" y="22288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3" name="Google Shape;1573;p6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39162" y="222885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4" name="Google Shape;1574;p6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57275" y="322376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5" name="Google Shape;1575;p65"/>
          <p:cNvSpPr txBox="1"/>
          <p:nvPr/>
        </p:nvSpPr>
        <p:spPr>
          <a:xfrm>
            <a:off x="1438275" y="3204716"/>
            <a:ext cx="2381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Physical space modification and counter setup</a:t>
            </a:r>
            <a:endParaRPr/>
          </a:p>
        </p:txBody>
      </p:sp>
      <p:pic>
        <p:nvPicPr>
          <p:cNvPr descr="image.png" id="1576" name="Google Shape;1576;p6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57275" y="392474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7" name="Google Shape;1577;p65"/>
          <p:cNvSpPr txBox="1"/>
          <p:nvPr/>
        </p:nvSpPr>
        <p:spPr>
          <a:xfrm>
            <a:off x="1438275" y="3905696"/>
            <a:ext cx="23812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Technology system procurement and configuration</a:t>
            </a:r>
            <a:endParaRPr/>
          </a:p>
        </p:txBody>
      </p:sp>
      <p:pic>
        <p:nvPicPr>
          <p:cNvPr descr="image.png" id="1578" name="Google Shape;1578;p6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57275" y="490001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9" name="Google Shape;1579;p65"/>
          <p:cNvSpPr txBox="1"/>
          <p:nvPr/>
        </p:nvSpPr>
        <p:spPr>
          <a:xfrm>
            <a:off x="1438275" y="4880967"/>
            <a:ext cx="2381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Service workflow configuration within system</a:t>
            </a:r>
            <a:endParaRPr/>
          </a:p>
        </p:txBody>
      </p:sp>
      <p:pic>
        <p:nvPicPr>
          <p:cNvPr descr="image.png" id="1580" name="Google Shape;1580;p6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57275" y="560099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1" name="Google Shape;1581;p65"/>
          <p:cNvSpPr txBox="1"/>
          <p:nvPr/>
        </p:nvSpPr>
        <p:spPr>
          <a:xfrm>
            <a:off x="1438275" y="5581947"/>
            <a:ext cx="2381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Escalation logging system design</a:t>
            </a:r>
            <a:endParaRPr/>
          </a:p>
        </p:txBody>
      </p:sp>
      <p:pic>
        <p:nvPicPr>
          <p:cNvPr descr="image.png" id="1582" name="Google Shape;1582;p6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57275" y="630197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3" name="Google Shape;1583;p65"/>
          <p:cNvSpPr txBox="1"/>
          <p:nvPr/>
        </p:nvSpPr>
        <p:spPr>
          <a:xfrm>
            <a:off x="1438275" y="6282928"/>
            <a:ext cx="2381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Monitoring dashboard preparation</a:t>
            </a:r>
            <a:endParaRPr/>
          </a:p>
        </p:txBody>
      </p:sp>
      <p:pic>
        <p:nvPicPr>
          <p:cNvPr descr="image.png" id="1584" name="Google Shape;1584;p6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57275" y="700295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5" name="Google Shape;1585;p65"/>
          <p:cNvSpPr txBox="1"/>
          <p:nvPr/>
        </p:nvSpPr>
        <p:spPr>
          <a:xfrm>
            <a:off x="1438275" y="6983908"/>
            <a:ext cx="23812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Staff assignment and role confirmation</a:t>
            </a:r>
            <a:endParaRPr/>
          </a:p>
        </p:txBody>
      </p:sp>
      <p:pic>
        <p:nvPicPr>
          <p:cNvPr descr="image.png" id="1586" name="Google Shape;1586;p6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714875" y="322376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7" name="Google Shape;1587;p65"/>
          <p:cNvSpPr txBox="1"/>
          <p:nvPr/>
        </p:nvSpPr>
        <p:spPr>
          <a:xfrm>
            <a:off x="5095875" y="3204716"/>
            <a:ext cx="1762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Staff training sessions</a:t>
            </a:r>
            <a:endParaRPr/>
          </a:p>
        </p:txBody>
      </p:sp>
      <p:pic>
        <p:nvPicPr>
          <p:cNvPr descr="image.png" id="1588" name="Google Shape;1588;p6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714875" y="366191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9" name="Google Shape;1589;p65"/>
          <p:cNvSpPr txBox="1"/>
          <p:nvPr/>
        </p:nvSpPr>
        <p:spPr>
          <a:xfrm>
            <a:off x="5095875" y="3642866"/>
            <a:ext cx="22764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Simulation of service routing</a:t>
            </a:r>
            <a:endParaRPr/>
          </a:p>
        </p:txBody>
      </p:sp>
      <p:pic>
        <p:nvPicPr>
          <p:cNvPr descr="image.png" id="1590" name="Google Shape;1590;p6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714875" y="410006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1" name="Google Shape;1591;p65"/>
          <p:cNvSpPr txBox="1"/>
          <p:nvPr/>
        </p:nvSpPr>
        <p:spPr>
          <a:xfrm>
            <a:off x="5095875" y="4081016"/>
            <a:ext cx="17335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SLA validation testing</a:t>
            </a:r>
            <a:endParaRPr/>
          </a:p>
        </p:txBody>
      </p:sp>
      <p:pic>
        <p:nvPicPr>
          <p:cNvPr descr="image.png" id="1592" name="Google Shape;1592;p6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372475" y="322376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3" name="Google Shape;1593;p65"/>
          <p:cNvSpPr txBox="1"/>
          <p:nvPr/>
        </p:nvSpPr>
        <p:spPr>
          <a:xfrm>
            <a:off x="8753475" y="3204716"/>
            <a:ext cx="15906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Infrastructure ready</a:t>
            </a:r>
            <a:endParaRPr/>
          </a:p>
        </p:txBody>
      </p:sp>
      <p:pic>
        <p:nvPicPr>
          <p:cNvPr descr="image.png" id="1594" name="Google Shape;1594;p6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372475" y="366191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5" name="Google Shape;1595;p65"/>
          <p:cNvSpPr txBox="1"/>
          <p:nvPr/>
        </p:nvSpPr>
        <p:spPr>
          <a:xfrm>
            <a:off x="8753475" y="3642866"/>
            <a:ext cx="1409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Systems installed</a:t>
            </a:r>
            <a:endParaRPr/>
          </a:p>
        </p:txBody>
      </p:sp>
      <p:pic>
        <p:nvPicPr>
          <p:cNvPr descr="image.png" id="1596" name="Google Shape;1596;p6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372475" y="410006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7" name="Google Shape;1597;p65"/>
          <p:cNvSpPr txBox="1"/>
          <p:nvPr/>
        </p:nvSpPr>
        <p:spPr>
          <a:xfrm>
            <a:off x="8753475" y="4081016"/>
            <a:ext cx="10096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Staff trained</a:t>
            </a:r>
            <a:endParaRPr/>
          </a:p>
        </p:txBody>
      </p:sp>
      <p:pic>
        <p:nvPicPr>
          <p:cNvPr descr="image.png" id="1598" name="Google Shape;1598;p6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372475" y="453821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9" name="Google Shape;1599;p65"/>
          <p:cNvSpPr txBox="1"/>
          <p:nvPr/>
        </p:nvSpPr>
        <p:spPr>
          <a:xfrm>
            <a:off x="8753475" y="4519166"/>
            <a:ext cx="1790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Simulation completed</a:t>
            </a:r>
            <a:endParaRPr/>
          </a:p>
        </p:txBody>
      </p:sp>
      <p:pic>
        <p:nvPicPr>
          <p:cNvPr descr="image.png" id="1600" name="Google Shape;1600;p6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133475" y="329044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1" name="Google Shape;1601;p6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133475" y="399142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2" name="Google Shape;1602;p6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133475" y="496669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3" name="Google Shape;1603;p6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133475" y="566767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4" name="Google Shape;1604;p6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133475" y="6368653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5" name="Google Shape;1605;p6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133475" y="7069633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6" name="Google Shape;1606;p6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791075" y="329044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7" name="Google Shape;1607;p6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791075" y="372859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8" name="Google Shape;1608;p6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791075" y="416674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9" name="Google Shape;1609;p6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448675" y="329044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0" name="Google Shape;1610;p6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448675" y="372859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1" name="Google Shape;1611;p6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448675" y="416674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2" name="Google Shape;1612;p6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448675" y="4604891"/>
            <a:ext cx="11430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6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7" name="Google Shape;1617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8" name="Google Shape;1618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781175"/>
            <a:ext cx="3352800" cy="49457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9" name="Google Shape;1619;p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9600" y="1781175"/>
            <a:ext cx="3352800" cy="49457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0" name="Google Shape;1620;p6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77200" y="1781175"/>
            <a:ext cx="3352800" cy="4945707"/>
          </a:xfrm>
          <a:prstGeom prst="rect">
            <a:avLst/>
          </a:prstGeom>
          <a:noFill/>
          <a:ln>
            <a:noFill/>
          </a:ln>
        </p:spPr>
      </p:pic>
      <p:sp>
        <p:nvSpPr>
          <p:cNvPr id="1621" name="Google Shape;1621;p66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MONTH 3 — CONTROLLED ACTIVATION READINESS</a:t>
            </a:r>
            <a:endParaRPr/>
          </a:p>
        </p:txBody>
      </p:sp>
      <p:sp>
        <p:nvSpPr>
          <p:cNvPr id="1622" name="Google Shape;1622;p66"/>
          <p:cNvSpPr txBox="1"/>
          <p:nvPr/>
        </p:nvSpPr>
        <p:spPr>
          <a:xfrm>
            <a:off x="762000" y="1314450"/>
            <a:ext cx="10668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Primary Focus: Pre-Launch Validation</a:t>
            </a:r>
            <a:endParaRPr/>
          </a:p>
        </p:txBody>
      </p:sp>
      <p:sp>
        <p:nvSpPr>
          <p:cNvPr id="1623" name="Google Shape;1623;p66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24" name="Google Shape;1624;p6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2076450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5" name="Google Shape;1625;p66"/>
          <p:cNvSpPr txBox="1"/>
          <p:nvPr/>
        </p:nvSpPr>
        <p:spPr>
          <a:xfrm>
            <a:off x="1057275" y="2838450"/>
            <a:ext cx="2900362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Actions:</a:t>
            </a:r>
            <a:endParaRPr/>
          </a:p>
        </p:txBody>
      </p:sp>
      <p:pic>
        <p:nvPicPr>
          <p:cNvPr descr="image.png" id="1626" name="Google Shape;1626;p6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14875" y="2076450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7" name="Google Shape;1627;p66"/>
          <p:cNvSpPr txBox="1"/>
          <p:nvPr/>
        </p:nvSpPr>
        <p:spPr>
          <a:xfrm>
            <a:off x="4714875" y="2838450"/>
            <a:ext cx="2900362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Stability Checks:</a:t>
            </a:r>
            <a:endParaRPr/>
          </a:p>
        </p:txBody>
      </p:sp>
      <p:pic>
        <p:nvPicPr>
          <p:cNvPr descr="image.png" id="1628" name="Google Shape;1628;p6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72475" y="2076450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9" name="Google Shape;1629;p66"/>
          <p:cNvSpPr txBox="1"/>
          <p:nvPr/>
        </p:nvSpPr>
        <p:spPr>
          <a:xfrm>
            <a:off x="8372475" y="2838450"/>
            <a:ext cx="2900362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Deliverable by Day 90:</a:t>
            </a:r>
            <a:endParaRPr/>
          </a:p>
        </p:txBody>
      </p:sp>
      <p:sp>
        <p:nvSpPr>
          <p:cNvPr id="1630" name="Google Shape;1630;p66"/>
          <p:cNvSpPr txBox="1"/>
          <p:nvPr/>
        </p:nvSpPr>
        <p:spPr>
          <a:xfrm>
            <a:off x="8372475" y="4720976"/>
            <a:ext cx="2762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 activation without system stability confirmation.</a:t>
            </a:r>
            <a:endParaRPr/>
          </a:p>
        </p:txBody>
      </p:sp>
      <p:pic>
        <p:nvPicPr>
          <p:cNvPr descr="image.png" id="1631" name="Google Shape;1631;p6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09675" y="22288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2" name="Google Shape;1632;p6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67275" y="22288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3" name="Google Shape;1633;p6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39162" y="222885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4" name="Google Shape;1634;p6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57275" y="322376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5" name="Google Shape;1635;p66"/>
          <p:cNvSpPr txBox="1"/>
          <p:nvPr/>
        </p:nvSpPr>
        <p:spPr>
          <a:xfrm>
            <a:off x="1438275" y="3204716"/>
            <a:ext cx="2381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Soft launch with limited service volume</a:t>
            </a:r>
            <a:endParaRPr/>
          </a:p>
        </p:txBody>
      </p:sp>
      <p:pic>
        <p:nvPicPr>
          <p:cNvPr descr="image.png" id="1636" name="Google Shape;1636;p6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57275" y="392474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7" name="Google Shape;1637;p66"/>
          <p:cNvSpPr txBox="1"/>
          <p:nvPr/>
        </p:nvSpPr>
        <p:spPr>
          <a:xfrm>
            <a:off x="1438275" y="3905696"/>
            <a:ext cx="21621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Escalation pathway testing</a:t>
            </a:r>
            <a:endParaRPr/>
          </a:p>
        </p:txBody>
      </p:sp>
      <p:pic>
        <p:nvPicPr>
          <p:cNvPr descr="image.png" id="1638" name="Google Shape;1638;p6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57275" y="436289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9" name="Google Shape;1639;p66"/>
          <p:cNvSpPr txBox="1"/>
          <p:nvPr/>
        </p:nvSpPr>
        <p:spPr>
          <a:xfrm>
            <a:off x="1438275" y="4343846"/>
            <a:ext cx="1905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SLA tracking calibration</a:t>
            </a:r>
            <a:endParaRPr/>
          </a:p>
        </p:txBody>
      </p:sp>
      <p:pic>
        <p:nvPicPr>
          <p:cNvPr descr="image.png" id="1640" name="Google Shape;1640;p6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57275" y="480104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1" name="Google Shape;1641;p66"/>
          <p:cNvSpPr txBox="1"/>
          <p:nvPr/>
        </p:nvSpPr>
        <p:spPr>
          <a:xfrm>
            <a:off x="1438275" y="4781996"/>
            <a:ext cx="2381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Performance dashboard activation</a:t>
            </a:r>
            <a:endParaRPr/>
          </a:p>
        </p:txBody>
      </p:sp>
      <p:pic>
        <p:nvPicPr>
          <p:cNvPr descr="image.png" id="1642" name="Google Shape;1642;p6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57275" y="550202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3" name="Google Shape;1643;p66"/>
          <p:cNvSpPr txBox="1"/>
          <p:nvPr/>
        </p:nvSpPr>
        <p:spPr>
          <a:xfrm>
            <a:off x="1438275" y="5482976"/>
            <a:ext cx="20193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Bureau feedback session</a:t>
            </a:r>
            <a:endParaRPr/>
          </a:p>
        </p:txBody>
      </p:sp>
      <p:pic>
        <p:nvPicPr>
          <p:cNvPr descr="image.png" id="1644" name="Google Shape;1644;p6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57275" y="594017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5" name="Google Shape;1645;p66"/>
          <p:cNvSpPr txBox="1"/>
          <p:nvPr/>
        </p:nvSpPr>
        <p:spPr>
          <a:xfrm>
            <a:off x="1438275" y="5921126"/>
            <a:ext cx="2381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Process adjustment where required</a:t>
            </a:r>
            <a:endParaRPr/>
          </a:p>
        </p:txBody>
      </p:sp>
      <p:pic>
        <p:nvPicPr>
          <p:cNvPr descr="image.png" id="1646" name="Google Shape;1646;p6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714875" y="322376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7" name="Google Shape;1647;p66"/>
          <p:cNvSpPr txBox="1"/>
          <p:nvPr/>
        </p:nvSpPr>
        <p:spPr>
          <a:xfrm>
            <a:off x="5095875" y="3204716"/>
            <a:ext cx="2381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Service processing time within SLA</a:t>
            </a:r>
            <a:endParaRPr/>
          </a:p>
        </p:txBody>
      </p:sp>
      <p:pic>
        <p:nvPicPr>
          <p:cNvPr descr="image.png" id="1648" name="Google Shape;1648;p6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714875" y="392474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9" name="Google Shape;1649;p66"/>
          <p:cNvSpPr txBox="1"/>
          <p:nvPr/>
        </p:nvSpPr>
        <p:spPr>
          <a:xfrm>
            <a:off x="5095875" y="3905696"/>
            <a:ext cx="2381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Escalation response compliance</a:t>
            </a:r>
            <a:endParaRPr/>
          </a:p>
        </p:txBody>
      </p:sp>
      <p:pic>
        <p:nvPicPr>
          <p:cNvPr descr="image.png" id="1650" name="Google Shape;1650;p6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714875" y="462572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1" name="Google Shape;1651;p66"/>
          <p:cNvSpPr txBox="1"/>
          <p:nvPr/>
        </p:nvSpPr>
        <p:spPr>
          <a:xfrm>
            <a:off x="5095875" y="4606676"/>
            <a:ext cx="2381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Documentation consistency confirmed</a:t>
            </a:r>
            <a:endParaRPr/>
          </a:p>
        </p:txBody>
      </p:sp>
      <p:pic>
        <p:nvPicPr>
          <p:cNvPr descr="image.png" id="1652" name="Google Shape;1652;p6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372475" y="322376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3" name="Google Shape;1653;p66"/>
          <p:cNvSpPr txBox="1"/>
          <p:nvPr/>
        </p:nvSpPr>
        <p:spPr>
          <a:xfrm>
            <a:off x="8753475" y="3204716"/>
            <a:ext cx="2381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Controlled activation readiness certified</a:t>
            </a:r>
            <a:endParaRPr/>
          </a:p>
        </p:txBody>
      </p:sp>
      <p:pic>
        <p:nvPicPr>
          <p:cNvPr descr="image.png" id="1654" name="Google Shape;1654;p6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372475" y="392474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5" name="Google Shape;1655;p66"/>
          <p:cNvSpPr txBox="1"/>
          <p:nvPr/>
        </p:nvSpPr>
        <p:spPr>
          <a:xfrm>
            <a:off x="8753475" y="3905696"/>
            <a:ext cx="2381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Public launch timeline finalized</a:t>
            </a:r>
            <a:endParaRPr/>
          </a:p>
        </p:txBody>
      </p:sp>
      <p:pic>
        <p:nvPicPr>
          <p:cNvPr descr="image.png" id="1656" name="Google Shape;1656;p6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133475" y="329044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7" name="Google Shape;1657;p6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133475" y="399142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8" name="Google Shape;1658;p6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133475" y="442957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9" name="Google Shape;1659;p6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133475" y="486772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0" name="Google Shape;1660;p6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133475" y="556870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1" name="Google Shape;1661;p6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133475" y="600685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2" name="Google Shape;1662;p6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791075" y="329044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3" name="Google Shape;1663;p6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791075" y="399142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4" name="Google Shape;1664;p6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791075" y="469240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5" name="Google Shape;1665;p6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8448675" y="329044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6" name="Google Shape;1666;p6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8448675" y="3991421"/>
            <a:ext cx="11430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1" name="Google Shape;1671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2" name="Google Shape;1672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781175"/>
            <a:ext cx="5143500" cy="57909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3" name="Google Shape;1673;p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4126110"/>
            <a:ext cx="5143500" cy="1101030"/>
          </a:xfrm>
          <a:prstGeom prst="rect">
            <a:avLst/>
          </a:prstGeom>
          <a:noFill/>
          <a:ln>
            <a:noFill/>
          </a:ln>
        </p:spPr>
      </p:pic>
      <p:sp>
        <p:nvSpPr>
          <p:cNvPr id="1674" name="Google Shape;1674;p67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DELIVERABLES BY DAY 90</a:t>
            </a:r>
            <a:endParaRPr/>
          </a:p>
        </p:txBody>
      </p:sp>
      <p:sp>
        <p:nvSpPr>
          <p:cNvPr id="1675" name="Google Shape;1675;p67"/>
          <p:cNvSpPr txBox="1"/>
          <p:nvPr/>
        </p:nvSpPr>
        <p:spPr>
          <a:xfrm>
            <a:off x="762000" y="1314450"/>
            <a:ext cx="10668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By completion of 90 days:</a:t>
            </a:r>
            <a:endParaRPr/>
          </a:p>
        </p:txBody>
      </p:sp>
      <p:sp>
        <p:nvSpPr>
          <p:cNvPr id="1676" name="Google Shape;1676;p67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77" name="Google Shape;1677;p67"/>
          <p:cNvGraphicFramePr/>
          <p:nvPr/>
        </p:nvGraphicFramePr>
        <p:xfrm>
          <a:off x="771525" y="17907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{205658A8-B75E-4893-B863-9B2F382446B2}</a:tableStyleId>
              </a:tblPr>
              <a:tblGrid>
                <a:gridCol w="2412500"/>
                <a:gridCol w="2711950"/>
              </a:tblGrid>
              <a:tr h="64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Deliverable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Status Target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4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Institutional Mandate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Formalized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Phase I Services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Standardized &amp; documented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Governance Framework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Operational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Technology Platform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Installed &amp; configured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Staff Structure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Assigned &amp; trained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Monitoring Dashboard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Active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Escalation Protocol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Tested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Soft Launch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Conducted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78" name="Google Shape;1678;p67"/>
          <p:cNvSpPr/>
          <p:nvPr/>
        </p:nvSpPr>
        <p:spPr>
          <a:xfrm>
            <a:off x="771525" y="2286000"/>
            <a:ext cx="2412503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9" name="Google Shape;1679;p67"/>
          <p:cNvSpPr/>
          <p:nvPr/>
        </p:nvSpPr>
        <p:spPr>
          <a:xfrm>
            <a:off x="3184028" y="2286000"/>
            <a:ext cx="2711946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0" name="Google Shape;1680;p67"/>
          <p:cNvSpPr/>
          <p:nvPr/>
        </p:nvSpPr>
        <p:spPr>
          <a:xfrm>
            <a:off x="771525" y="2888902"/>
            <a:ext cx="241250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1" name="Google Shape;1681;p67"/>
          <p:cNvSpPr/>
          <p:nvPr/>
        </p:nvSpPr>
        <p:spPr>
          <a:xfrm>
            <a:off x="3184028" y="2888902"/>
            <a:ext cx="271194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2" name="Google Shape;1682;p67"/>
          <p:cNvSpPr/>
          <p:nvPr/>
        </p:nvSpPr>
        <p:spPr>
          <a:xfrm>
            <a:off x="771525" y="3751808"/>
            <a:ext cx="241250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3" name="Google Shape;1683;p67"/>
          <p:cNvSpPr/>
          <p:nvPr/>
        </p:nvSpPr>
        <p:spPr>
          <a:xfrm>
            <a:off x="3184028" y="3751808"/>
            <a:ext cx="271194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4" name="Google Shape;1684;p67"/>
          <p:cNvSpPr/>
          <p:nvPr/>
        </p:nvSpPr>
        <p:spPr>
          <a:xfrm>
            <a:off x="771525" y="4614713"/>
            <a:ext cx="241250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5" name="Google Shape;1685;p67"/>
          <p:cNvSpPr/>
          <p:nvPr/>
        </p:nvSpPr>
        <p:spPr>
          <a:xfrm>
            <a:off x="3184028" y="4614713"/>
            <a:ext cx="271194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6" name="Google Shape;1686;p67"/>
          <p:cNvSpPr/>
          <p:nvPr/>
        </p:nvSpPr>
        <p:spPr>
          <a:xfrm>
            <a:off x="771525" y="5203328"/>
            <a:ext cx="241250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7" name="Google Shape;1687;p67"/>
          <p:cNvSpPr/>
          <p:nvPr/>
        </p:nvSpPr>
        <p:spPr>
          <a:xfrm>
            <a:off x="3184028" y="5203328"/>
            <a:ext cx="271194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8" name="Google Shape;1688;p67"/>
          <p:cNvSpPr/>
          <p:nvPr/>
        </p:nvSpPr>
        <p:spPr>
          <a:xfrm>
            <a:off x="771525" y="5791944"/>
            <a:ext cx="241250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9" name="Google Shape;1689;p67"/>
          <p:cNvSpPr/>
          <p:nvPr/>
        </p:nvSpPr>
        <p:spPr>
          <a:xfrm>
            <a:off x="3184028" y="5791944"/>
            <a:ext cx="271194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0" name="Google Shape;1690;p67"/>
          <p:cNvSpPr/>
          <p:nvPr/>
        </p:nvSpPr>
        <p:spPr>
          <a:xfrm>
            <a:off x="771525" y="6380559"/>
            <a:ext cx="241250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1" name="Google Shape;1691;p67"/>
          <p:cNvSpPr/>
          <p:nvPr/>
        </p:nvSpPr>
        <p:spPr>
          <a:xfrm>
            <a:off x="3184028" y="6380559"/>
            <a:ext cx="271194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2" name="Google Shape;1692;p67"/>
          <p:cNvSpPr/>
          <p:nvPr/>
        </p:nvSpPr>
        <p:spPr>
          <a:xfrm>
            <a:off x="771525" y="6969174"/>
            <a:ext cx="241250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3" name="Google Shape;1693;p67"/>
          <p:cNvSpPr/>
          <p:nvPr/>
        </p:nvSpPr>
        <p:spPr>
          <a:xfrm>
            <a:off x="3184028" y="6969174"/>
            <a:ext cx="271194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4" name="Google Shape;1694;p67"/>
          <p:cNvSpPr txBox="1"/>
          <p:nvPr/>
        </p:nvSpPr>
        <p:spPr>
          <a:xfrm>
            <a:off x="6677025" y="4516635"/>
            <a:ext cx="43624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This creates activation credibility.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8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9" name="Google Shape;1699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0" name="Google Shape;1700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834008"/>
            <a:ext cx="5143500" cy="39329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1" name="Google Shape;1701;p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089969"/>
            <a:ext cx="5143500" cy="1421010"/>
          </a:xfrm>
          <a:prstGeom prst="rect">
            <a:avLst/>
          </a:prstGeom>
          <a:noFill/>
          <a:ln>
            <a:noFill/>
          </a:ln>
        </p:spPr>
      </p:pic>
      <p:sp>
        <p:nvSpPr>
          <p:cNvPr id="1702" name="Google Shape;1702;p68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CABINET SUPPORT REQUIRED DURING FIRST 90 DAYS</a:t>
            </a:r>
            <a:endParaRPr/>
          </a:p>
        </p:txBody>
      </p:sp>
      <p:sp>
        <p:nvSpPr>
          <p:cNvPr id="1703" name="Google Shape;1703;p68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04" name="Google Shape;1704;p6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275" y="2129283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5" name="Google Shape;1705;p68"/>
          <p:cNvSpPr txBox="1"/>
          <p:nvPr/>
        </p:nvSpPr>
        <p:spPr>
          <a:xfrm>
            <a:off x="1057275" y="2891283"/>
            <a:ext cx="4780597" cy="427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 ensure stability, the following Cabinet-level support is requested:</a:t>
            </a:r>
            <a:endParaRPr/>
          </a:p>
        </p:txBody>
      </p:sp>
      <p:pic>
        <p:nvPicPr>
          <p:cNvPr descr="image.png" id="1706" name="Google Shape;1706;p6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81100" y="2281683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7" name="Google Shape;1707;p6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7275" y="349046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8" name="Google Shape;1708;p68"/>
          <p:cNvSpPr txBox="1"/>
          <p:nvPr/>
        </p:nvSpPr>
        <p:spPr>
          <a:xfrm>
            <a:off x="1438275" y="3471416"/>
            <a:ext cx="3476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Clear endorsement of institutional mandate</a:t>
            </a:r>
            <a:endParaRPr/>
          </a:p>
        </p:txBody>
      </p:sp>
      <p:pic>
        <p:nvPicPr>
          <p:cNvPr descr="image.png" id="1709" name="Google Shape;1709;p6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7275" y="392861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0" name="Google Shape;1710;p68"/>
          <p:cNvSpPr txBox="1"/>
          <p:nvPr/>
        </p:nvSpPr>
        <p:spPr>
          <a:xfrm>
            <a:off x="1438275" y="3909566"/>
            <a:ext cx="4171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Reinforcement of bureau participation expectations</a:t>
            </a:r>
            <a:endParaRPr/>
          </a:p>
        </p:txBody>
      </p:sp>
      <p:pic>
        <p:nvPicPr>
          <p:cNvPr descr="image.png" id="1711" name="Google Shape;1711;p6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7275" y="436676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2" name="Google Shape;1712;p68"/>
          <p:cNvSpPr txBox="1"/>
          <p:nvPr/>
        </p:nvSpPr>
        <p:spPr>
          <a:xfrm>
            <a:off x="1438275" y="4347716"/>
            <a:ext cx="41052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Timely confirmation of directional budget envelope</a:t>
            </a:r>
            <a:endParaRPr/>
          </a:p>
        </p:txBody>
      </p:sp>
      <p:pic>
        <p:nvPicPr>
          <p:cNvPr descr="image.png" id="1713" name="Google Shape;1713;p6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480491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4" name="Google Shape;1714;p68"/>
          <p:cNvSpPr txBox="1"/>
          <p:nvPr/>
        </p:nvSpPr>
        <p:spPr>
          <a:xfrm>
            <a:off x="1438275" y="4785866"/>
            <a:ext cx="31337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Executive backing in case of resistance</a:t>
            </a:r>
            <a:endParaRPr/>
          </a:p>
        </p:txBody>
      </p:sp>
      <p:pic>
        <p:nvPicPr>
          <p:cNvPr descr="image.png" id="1715" name="Google Shape;1715;p6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7275" y="524306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6" name="Google Shape;1716;p68"/>
          <p:cNvSpPr txBox="1"/>
          <p:nvPr/>
        </p:nvSpPr>
        <p:spPr>
          <a:xfrm>
            <a:off x="1438275" y="5224016"/>
            <a:ext cx="29718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Structured communication discipline</a:t>
            </a:r>
            <a:endParaRPr/>
          </a:p>
        </p:txBody>
      </p:sp>
      <p:pic>
        <p:nvPicPr>
          <p:cNvPr descr="image.png" id="1717" name="Google Shape;1717;p6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33475" y="355714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8" name="Google Shape;1718;p6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33475" y="399529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9" name="Google Shape;1719;p6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33475" y="443344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0" name="Google Shape;1720;p6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33475" y="4871591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1" name="Google Shape;1721;p6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33475" y="5309741"/>
            <a:ext cx="1143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2" name="Google Shape;1722;p68"/>
          <p:cNvSpPr txBox="1"/>
          <p:nvPr/>
        </p:nvSpPr>
        <p:spPr>
          <a:xfrm>
            <a:off x="6677025" y="3480494"/>
            <a:ext cx="43624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Cabinet alignment ensures reform stability.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6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7" name="Google Shape;1727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8" name="Google Shape;1728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781175"/>
            <a:ext cx="10668000" cy="3476476"/>
          </a:xfrm>
          <a:prstGeom prst="rect">
            <a:avLst/>
          </a:prstGeom>
          <a:noFill/>
          <a:ln>
            <a:noFill/>
          </a:ln>
        </p:spPr>
      </p:pic>
      <p:sp>
        <p:nvSpPr>
          <p:cNvPr id="1729" name="Google Shape;1729;p69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RISK CONTROL MEASURES DURING INITIAL PHASE</a:t>
            </a:r>
            <a:endParaRPr/>
          </a:p>
        </p:txBody>
      </p:sp>
      <p:sp>
        <p:nvSpPr>
          <p:cNvPr id="1730" name="Google Shape;1730;p69"/>
          <p:cNvSpPr txBox="1"/>
          <p:nvPr/>
        </p:nvSpPr>
        <p:spPr>
          <a:xfrm>
            <a:off x="762000" y="1314450"/>
            <a:ext cx="10668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Potential risks during first 90 days:</a:t>
            </a:r>
            <a:endParaRPr/>
          </a:p>
        </p:txBody>
      </p:sp>
      <p:sp>
        <p:nvSpPr>
          <p:cNvPr id="1731" name="Google Shape;1731;p69"/>
          <p:cNvSpPr txBox="1"/>
          <p:nvPr/>
        </p:nvSpPr>
        <p:spPr>
          <a:xfrm>
            <a:off x="762000" y="5543401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first 90 days prioritize control — not expansion.</a:t>
            </a:r>
            <a:endParaRPr/>
          </a:p>
        </p:txBody>
      </p:sp>
      <p:sp>
        <p:nvSpPr>
          <p:cNvPr id="1732" name="Google Shape;1732;p69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33" name="Google Shape;1733;p69"/>
          <p:cNvGraphicFramePr/>
          <p:nvPr/>
        </p:nvGraphicFramePr>
        <p:xfrm>
          <a:off x="771525" y="17907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{205658A8-B75E-4893-B863-9B2F382446B2}</a:tableStyleId>
              </a:tblPr>
              <a:tblGrid>
                <a:gridCol w="4158400"/>
                <a:gridCol w="6490550"/>
              </a:tblGrid>
              <a:tr h="5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Risk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Mitigation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Bureau Hesitation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Executive clarification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Capacity Overload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Volume calibration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System Delays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Vendor performance SLA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Role Confusion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Formal documentation circulation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Monitoring Gaps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Manual interim tracking backup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34" name="Google Shape;1734;p69"/>
          <p:cNvSpPr/>
          <p:nvPr/>
        </p:nvSpPr>
        <p:spPr>
          <a:xfrm>
            <a:off x="771525" y="2286000"/>
            <a:ext cx="4158406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5" name="Google Shape;1735;p69"/>
          <p:cNvSpPr/>
          <p:nvPr/>
        </p:nvSpPr>
        <p:spPr>
          <a:xfrm>
            <a:off x="4929931" y="2286000"/>
            <a:ext cx="6490543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6" name="Google Shape;1736;p69"/>
          <p:cNvSpPr/>
          <p:nvPr/>
        </p:nvSpPr>
        <p:spPr>
          <a:xfrm>
            <a:off x="771525" y="2888902"/>
            <a:ext cx="41584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7" name="Google Shape;1737;p69"/>
          <p:cNvSpPr/>
          <p:nvPr/>
        </p:nvSpPr>
        <p:spPr>
          <a:xfrm>
            <a:off x="4929931" y="2888902"/>
            <a:ext cx="649054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8" name="Google Shape;1738;p69"/>
          <p:cNvSpPr/>
          <p:nvPr/>
        </p:nvSpPr>
        <p:spPr>
          <a:xfrm>
            <a:off x="771525" y="3477517"/>
            <a:ext cx="41584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9" name="Google Shape;1739;p69"/>
          <p:cNvSpPr/>
          <p:nvPr/>
        </p:nvSpPr>
        <p:spPr>
          <a:xfrm>
            <a:off x="4929931" y="3477517"/>
            <a:ext cx="649054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0" name="Google Shape;1740;p69"/>
          <p:cNvSpPr/>
          <p:nvPr/>
        </p:nvSpPr>
        <p:spPr>
          <a:xfrm>
            <a:off x="771525" y="4066133"/>
            <a:ext cx="41584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1" name="Google Shape;1741;p69"/>
          <p:cNvSpPr/>
          <p:nvPr/>
        </p:nvSpPr>
        <p:spPr>
          <a:xfrm>
            <a:off x="4929931" y="4066133"/>
            <a:ext cx="649054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2" name="Google Shape;1742;p69"/>
          <p:cNvSpPr/>
          <p:nvPr/>
        </p:nvSpPr>
        <p:spPr>
          <a:xfrm>
            <a:off x="771525" y="4654748"/>
            <a:ext cx="41584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3" name="Google Shape;1743;p69"/>
          <p:cNvSpPr/>
          <p:nvPr/>
        </p:nvSpPr>
        <p:spPr>
          <a:xfrm>
            <a:off x="4929931" y="4654748"/>
            <a:ext cx="649054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8" name="Google Shape;1748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9" name="Google Shape;1749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70177" y="2093714"/>
            <a:ext cx="1251644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0" name="Google Shape;1750;p70"/>
          <p:cNvSpPr txBox="1"/>
          <p:nvPr/>
        </p:nvSpPr>
        <p:spPr>
          <a:xfrm>
            <a:off x="495300" y="2665214"/>
            <a:ext cx="11201400" cy="12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Citizen Experience &amp; Public Trust Framework</a:t>
            </a:r>
            <a:endParaRPr/>
          </a:p>
        </p:txBody>
      </p:sp>
      <p:sp>
        <p:nvSpPr>
          <p:cNvPr id="1751" name="Google Shape;1751;p70"/>
          <p:cNvSpPr txBox="1"/>
          <p:nvPr/>
        </p:nvSpPr>
        <p:spPr>
          <a:xfrm>
            <a:off x="2543175" y="4135635"/>
            <a:ext cx="71056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Tone: Institutional credibility. Structured. Calm. Non-populist.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This section closes the presentation with legitimacy and accountability.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5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6" name="Google Shape;1756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7" name="Google Shape;1757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323332"/>
            <a:ext cx="5143500" cy="1421010"/>
          </a:xfrm>
          <a:prstGeom prst="rect">
            <a:avLst/>
          </a:prstGeom>
          <a:noFill/>
          <a:ln>
            <a:noFill/>
          </a:ln>
        </p:spPr>
      </p:pic>
      <p:sp>
        <p:nvSpPr>
          <p:cNvPr id="1758" name="Google Shape;1758;p71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CITIZEN EXPERIENCE DESIGN PRINCIPLES</a:t>
            </a:r>
            <a:endParaRPr/>
          </a:p>
        </p:txBody>
      </p:sp>
      <p:sp>
        <p:nvSpPr>
          <p:cNvPr id="1759" name="Google Shape;1759;p71"/>
          <p:cNvSpPr txBox="1"/>
          <p:nvPr/>
        </p:nvSpPr>
        <p:spPr>
          <a:xfrm>
            <a:off x="762000" y="1314450"/>
            <a:ext cx="10668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MESOB reform is anchored on structured citizen experience improvement.</a:t>
            </a:r>
            <a:endParaRPr/>
          </a:p>
        </p:txBody>
      </p:sp>
      <p:sp>
        <p:nvSpPr>
          <p:cNvPr id="1760" name="Google Shape;1760;p71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1" name="Google Shape;1761;p71"/>
          <p:cNvSpPr txBox="1"/>
          <p:nvPr/>
        </p:nvSpPr>
        <p:spPr>
          <a:xfrm>
            <a:off x="762000" y="2048916"/>
            <a:ext cx="5143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Design Principles:</a:t>
            </a:r>
            <a:endParaRPr/>
          </a:p>
        </p:txBody>
      </p:sp>
      <p:pic>
        <p:nvPicPr>
          <p:cNvPr descr="image.png" id="1762" name="Google Shape;1762;p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53275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3" name="Google Shape;1763;p71"/>
          <p:cNvSpPr txBox="1"/>
          <p:nvPr/>
        </p:nvSpPr>
        <p:spPr>
          <a:xfrm>
            <a:off x="1143000" y="2513707"/>
            <a:ext cx="36766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Single Access Point for Multi-Service Needs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Reduced inter-office movement.</a:t>
            </a:r>
            <a:endParaRPr/>
          </a:p>
        </p:txBody>
      </p:sp>
      <p:pic>
        <p:nvPicPr>
          <p:cNvPr descr="image.png" id="1764" name="Google Shape;1764;p7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27183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5" name="Google Shape;1765;p71"/>
          <p:cNvSpPr txBox="1"/>
          <p:nvPr/>
        </p:nvSpPr>
        <p:spPr>
          <a:xfrm>
            <a:off x="1143000" y="3252787"/>
            <a:ext cx="36004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Defined Service Requirements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 undocumented documentation requests.</a:t>
            </a:r>
            <a:endParaRPr/>
          </a:p>
        </p:txBody>
      </p:sp>
      <p:pic>
        <p:nvPicPr>
          <p:cNvPr descr="image.png" id="1766" name="Google Shape;1766;p7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01091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7" name="Google Shape;1767;p71"/>
          <p:cNvSpPr txBox="1"/>
          <p:nvPr/>
        </p:nvSpPr>
        <p:spPr>
          <a:xfrm>
            <a:off x="1143000" y="3991867"/>
            <a:ext cx="39052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Transparent Processing Timelines (SLA-Based)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Clear expectations from intake to completion.</a:t>
            </a:r>
            <a:endParaRPr/>
          </a:p>
        </p:txBody>
      </p:sp>
      <p:pic>
        <p:nvPicPr>
          <p:cNvPr descr="image.png" id="1768" name="Google Shape;1768;p7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474999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9" name="Google Shape;1769;p71"/>
          <p:cNvSpPr txBox="1"/>
          <p:nvPr/>
        </p:nvSpPr>
        <p:spPr>
          <a:xfrm>
            <a:off x="1143000" y="4730948"/>
            <a:ext cx="30861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Structured Escalation Pathways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Citizens know where to raise concerns.</a:t>
            </a:r>
            <a:endParaRPr/>
          </a:p>
        </p:txBody>
      </p:sp>
      <p:pic>
        <p:nvPicPr>
          <p:cNvPr descr="image.png" id="1770" name="Google Shape;1770;p7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548907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1" name="Google Shape;1771;p71"/>
          <p:cNvSpPr txBox="1"/>
          <p:nvPr/>
        </p:nvSpPr>
        <p:spPr>
          <a:xfrm>
            <a:off x="1143000" y="5470028"/>
            <a:ext cx="32480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Measurable Performance Standards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Experience is monitored — not assumed.</a:t>
            </a:r>
            <a:endParaRPr/>
          </a:p>
        </p:txBody>
      </p:sp>
      <p:sp>
        <p:nvSpPr>
          <p:cNvPr id="1772" name="Google Shape;1772;p71"/>
          <p:cNvSpPr txBox="1"/>
          <p:nvPr/>
        </p:nvSpPr>
        <p:spPr>
          <a:xfrm>
            <a:off x="6677025" y="3713857"/>
            <a:ext cx="43624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Experience design is institutional — not cosmetic.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6" name="Shape 1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7" name="Google Shape;1777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8" name="Google Shape;1778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721792"/>
            <a:ext cx="5143500" cy="41572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9" name="Google Shape;1779;p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390775"/>
            <a:ext cx="5143500" cy="131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0" name="Google Shape;1780;p7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895725"/>
            <a:ext cx="5143500" cy="131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1" name="Google Shape;1781;p72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TRANSPARENCY &amp; ANTI-CORRUPTION SAFEGUARDS</a:t>
            </a:r>
            <a:endParaRPr/>
          </a:p>
        </p:txBody>
      </p:sp>
      <p:sp>
        <p:nvSpPr>
          <p:cNvPr id="1782" name="Google Shape;1782;p72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83" name="Google Shape;1783;p7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2017067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4" name="Google Shape;1784;p72"/>
          <p:cNvSpPr txBox="1"/>
          <p:nvPr/>
        </p:nvSpPr>
        <p:spPr>
          <a:xfrm>
            <a:off x="1057275" y="2779067"/>
            <a:ext cx="478059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Institutional transparency mechanisms will include:</a:t>
            </a:r>
            <a:endParaRPr/>
          </a:p>
        </p:txBody>
      </p:sp>
      <p:pic>
        <p:nvPicPr>
          <p:cNvPr descr="image.png" id="1785" name="Google Shape;1785;p7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09675" y="216946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6" name="Google Shape;1786;p7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316438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7" name="Google Shape;1787;p72"/>
          <p:cNvSpPr txBox="1"/>
          <p:nvPr/>
        </p:nvSpPr>
        <p:spPr>
          <a:xfrm>
            <a:off x="1438275" y="3145333"/>
            <a:ext cx="27717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Published service requirement lists</a:t>
            </a:r>
            <a:endParaRPr/>
          </a:p>
        </p:txBody>
      </p:sp>
      <p:pic>
        <p:nvPicPr>
          <p:cNvPr descr="image.png" id="1788" name="Google Shape;1788;p7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360253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9" name="Google Shape;1789;p72"/>
          <p:cNvSpPr txBox="1"/>
          <p:nvPr/>
        </p:nvSpPr>
        <p:spPr>
          <a:xfrm>
            <a:off x="1438275" y="3583483"/>
            <a:ext cx="3086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Clearly displayed processing timelines</a:t>
            </a:r>
            <a:endParaRPr/>
          </a:p>
        </p:txBody>
      </p:sp>
      <p:pic>
        <p:nvPicPr>
          <p:cNvPr descr="image.png" id="1790" name="Google Shape;1790;p7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404068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1" name="Google Shape;1791;p72"/>
          <p:cNvSpPr txBox="1"/>
          <p:nvPr/>
        </p:nvSpPr>
        <p:spPr>
          <a:xfrm>
            <a:off x="1438275" y="4021633"/>
            <a:ext cx="2714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Documented escalation hierarchy</a:t>
            </a:r>
            <a:endParaRPr/>
          </a:p>
        </p:txBody>
      </p:sp>
      <p:pic>
        <p:nvPicPr>
          <p:cNvPr descr="image.png" id="1792" name="Google Shape;1792;p7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447883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3" name="Google Shape;1793;p72"/>
          <p:cNvSpPr txBox="1"/>
          <p:nvPr/>
        </p:nvSpPr>
        <p:spPr>
          <a:xfrm>
            <a:off x="1438275" y="4459783"/>
            <a:ext cx="29718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Queue management system tracking</a:t>
            </a:r>
            <a:endParaRPr/>
          </a:p>
        </p:txBody>
      </p:sp>
      <p:pic>
        <p:nvPicPr>
          <p:cNvPr descr="image.png" id="1794" name="Google Shape;1794;p7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491698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5" name="Google Shape;1795;p72"/>
          <p:cNvSpPr txBox="1"/>
          <p:nvPr/>
        </p:nvSpPr>
        <p:spPr>
          <a:xfrm>
            <a:off x="1438275" y="4897933"/>
            <a:ext cx="36766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Performance monitoring dashboard reporting</a:t>
            </a:r>
            <a:endParaRPr/>
          </a:p>
        </p:txBody>
      </p:sp>
      <p:pic>
        <p:nvPicPr>
          <p:cNvPr descr="image.png" id="1796" name="Google Shape;1796;p7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535513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7" name="Google Shape;1797;p72"/>
          <p:cNvSpPr txBox="1"/>
          <p:nvPr/>
        </p:nvSpPr>
        <p:spPr>
          <a:xfrm>
            <a:off x="1438275" y="5336083"/>
            <a:ext cx="2809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Defined role-based access control</a:t>
            </a:r>
            <a:endParaRPr/>
          </a:p>
        </p:txBody>
      </p:sp>
      <p:pic>
        <p:nvPicPr>
          <p:cNvPr descr="image.png" id="1798" name="Google Shape;1798;p7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33475" y="323105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9" name="Google Shape;1799;p7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33475" y="366920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0" name="Google Shape;1800;p7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33475" y="410735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1" name="Google Shape;1801;p7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33475" y="454550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2" name="Google Shape;1802;p7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33475" y="498365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3" name="Google Shape;1803;p7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33475" y="5421808"/>
            <a:ext cx="1143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4" name="Google Shape;1804;p72"/>
          <p:cNvSpPr txBox="1"/>
          <p:nvPr/>
        </p:nvSpPr>
        <p:spPr>
          <a:xfrm>
            <a:off x="6677025" y="2781300"/>
            <a:ext cx="4362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Structural safeguards reduce discretionary opacity.</a:t>
            </a:r>
            <a:endParaRPr/>
          </a:p>
        </p:txBody>
      </p:sp>
      <p:sp>
        <p:nvSpPr>
          <p:cNvPr id="1805" name="Google Shape;1805;p72"/>
          <p:cNvSpPr txBox="1"/>
          <p:nvPr/>
        </p:nvSpPr>
        <p:spPr>
          <a:xfrm>
            <a:off x="6677025" y="4286250"/>
            <a:ext cx="4362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Transparency is embedded through process design — not declarations.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9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0" name="Google Shape;1810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1" name="Google Shape;1811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012305"/>
            <a:ext cx="5143500" cy="35761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2" name="Google Shape;1812;p7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933277"/>
            <a:ext cx="5143500" cy="3734246"/>
          </a:xfrm>
          <a:prstGeom prst="rect">
            <a:avLst/>
          </a:prstGeom>
          <a:noFill/>
          <a:ln>
            <a:noFill/>
          </a:ln>
        </p:spPr>
      </p:pic>
      <p:sp>
        <p:nvSpPr>
          <p:cNvPr id="1813" name="Google Shape;1813;p73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FEEDBACK &amp; COMPLAINT ESCALATION STRUCTURE</a:t>
            </a:r>
            <a:endParaRPr/>
          </a:p>
        </p:txBody>
      </p:sp>
      <p:sp>
        <p:nvSpPr>
          <p:cNvPr id="1814" name="Google Shape;1814;p73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15" name="Google Shape;1815;p7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275" y="2307580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6" name="Google Shape;1816;p73"/>
          <p:cNvSpPr txBox="1"/>
          <p:nvPr/>
        </p:nvSpPr>
        <p:spPr>
          <a:xfrm>
            <a:off x="1057275" y="3069580"/>
            <a:ext cx="478059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Structured citizen feedback model:</a:t>
            </a:r>
            <a:endParaRPr/>
          </a:p>
        </p:txBody>
      </p:sp>
      <p:pic>
        <p:nvPicPr>
          <p:cNvPr descr="image.png" id="1817" name="Google Shape;1817;p7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2228552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8" name="Google Shape;1818;p73"/>
          <p:cNvSpPr txBox="1"/>
          <p:nvPr/>
        </p:nvSpPr>
        <p:spPr>
          <a:xfrm>
            <a:off x="6581775" y="2990552"/>
            <a:ext cx="478059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Feedback Mechanisms:</a:t>
            </a:r>
            <a:endParaRPr/>
          </a:p>
        </p:txBody>
      </p:sp>
      <p:sp>
        <p:nvSpPr>
          <p:cNvPr id="1819" name="Google Shape;1819;p73"/>
          <p:cNvSpPr txBox="1"/>
          <p:nvPr/>
        </p:nvSpPr>
        <p:spPr>
          <a:xfrm>
            <a:off x="6581775" y="4823668"/>
            <a:ext cx="45529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Complaint data informs system refinement.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Escalation discipline builds institutional trust.</a:t>
            </a:r>
            <a:endParaRPr/>
          </a:p>
        </p:txBody>
      </p:sp>
      <p:pic>
        <p:nvPicPr>
          <p:cNvPr descr="image.png" id="1820" name="Google Shape;1820;p7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95387" y="2459980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1" name="Google Shape;1821;p73"/>
          <p:cNvSpPr txBox="1"/>
          <p:nvPr/>
        </p:nvSpPr>
        <p:spPr>
          <a:xfrm>
            <a:off x="1057275" y="3626346"/>
            <a:ext cx="45529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Level 1 — Counter-Level Complaint Resolution</a:t>
            </a:r>
            <a:endParaRPr/>
          </a:p>
        </p:txBody>
      </p:sp>
      <p:sp>
        <p:nvSpPr>
          <p:cNvPr id="1822" name="Google Shape;1822;p73"/>
          <p:cNvSpPr txBox="1"/>
          <p:nvPr/>
        </p:nvSpPr>
        <p:spPr>
          <a:xfrm>
            <a:off x="1057275" y="3864471"/>
            <a:ext cx="45529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↓</a:t>
            </a:r>
            <a:endParaRPr/>
          </a:p>
        </p:txBody>
      </p:sp>
      <p:sp>
        <p:nvSpPr>
          <p:cNvPr id="1823" name="Google Shape;1823;p73"/>
          <p:cNvSpPr txBox="1"/>
          <p:nvPr/>
        </p:nvSpPr>
        <p:spPr>
          <a:xfrm>
            <a:off x="1057275" y="4102596"/>
            <a:ext cx="45529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Level 2 — MESOB Supervisor Review</a:t>
            </a:r>
            <a:endParaRPr/>
          </a:p>
        </p:txBody>
      </p:sp>
      <p:sp>
        <p:nvSpPr>
          <p:cNvPr id="1824" name="Google Shape;1824;p73"/>
          <p:cNvSpPr txBox="1"/>
          <p:nvPr/>
        </p:nvSpPr>
        <p:spPr>
          <a:xfrm>
            <a:off x="1057275" y="4340721"/>
            <a:ext cx="45529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↓</a:t>
            </a:r>
            <a:endParaRPr/>
          </a:p>
        </p:txBody>
      </p:sp>
      <p:sp>
        <p:nvSpPr>
          <p:cNvPr id="1825" name="Google Shape;1825;p73"/>
          <p:cNvSpPr txBox="1"/>
          <p:nvPr/>
        </p:nvSpPr>
        <p:spPr>
          <a:xfrm>
            <a:off x="1057275" y="4578846"/>
            <a:ext cx="45529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Level 3 — Director-Level Escalation</a:t>
            </a:r>
            <a:endParaRPr/>
          </a:p>
        </p:txBody>
      </p:sp>
      <p:sp>
        <p:nvSpPr>
          <p:cNvPr id="1826" name="Google Shape;1826;p73"/>
          <p:cNvSpPr txBox="1"/>
          <p:nvPr/>
        </p:nvSpPr>
        <p:spPr>
          <a:xfrm>
            <a:off x="1057275" y="4816971"/>
            <a:ext cx="45529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↓</a:t>
            </a:r>
            <a:endParaRPr/>
          </a:p>
        </p:txBody>
      </p:sp>
      <p:sp>
        <p:nvSpPr>
          <p:cNvPr id="1827" name="Google Shape;1827;p73"/>
          <p:cNvSpPr txBox="1"/>
          <p:nvPr/>
        </p:nvSpPr>
        <p:spPr>
          <a:xfrm>
            <a:off x="1057275" y="5055096"/>
            <a:ext cx="45529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Level 4 — Executive Oversight Channel</a:t>
            </a:r>
            <a:endParaRPr/>
          </a:p>
        </p:txBody>
      </p:sp>
      <p:pic>
        <p:nvPicPr>
          <p:cNvPr descr="image.png" id="1828" name="Google Shape;1828;p7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05600" y="238095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9" name="Google Shape;1829;p7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81775" y="337586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0" name="Google Shape;1830;p73"/>
          <p:cNvSpPr txBox="1"/>
          <p:nvPr/>
        </p:nvSpPr>
        <p:spPr>
          <a:xfrm>
            <a:off x="6962775" y="3356818"/>
            <a:ext cx="24384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On-site complaint registration</a:t>
            </a:r>
            <a:endParaRPr/>
          </a:p>
        </p:txBody>
      </p:sp>
      <p:pic>
        <p:nvPicPr>
          <p:cNvPr descr="image.png" id="1831" name="Google Shape;1831;p7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81775" y="381401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2" name="Google Shape;1832;p73"/>
          <p:cNvSpPr txBox="1"/>
          <p:nvPr/>
        </p:nvSpPr>
        <p:spPr>
          <a:xfrm>
            <a:off x="6962775" y="3794968"/>
            <a:ext cx="2981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Digital logging within tracking system</a:t>
            </a:r>
            <a:endParaRPr/>
          </a:p>
        </p:txBody>
      </p:sp>
      <p:pic>
        <p:nvPicPr>
          <p:cNvPr descr="image.png" id="1833" name="Google Shape;1833;p7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81775" y="425216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4" name="Google Shape;1834;p73"/>
          <p:cNvSpPr txBox="1"/>
          <p:nvPr/>
        </p:nvSpPr>
        <p:spPr>
          <a:xfrm>
            <a:off x="6962775" y="4233118"/>
            <a:ext cx="29432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Monthly complaint analysis reporting</a:t>
            </a:r>
            <a:endParaRPr/>
          </a:p>
        </p:txBody>
      </p:sp>
      <p:pic>
        <p:nvPicPr>
          <p:cNvPr descr="image.png" id="1835" name="Google Shape;1835;p7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648450" y="3442543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6" name="Google Shape;1836;p7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638925" y="3880693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7" name="Google Shape;1837;p7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38925" y="4318843"/>
            <a:ext cx="15240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2" name="Google Shape;1842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3" name="Google Shape;1843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781175"/>
            <a:ext cx="10668000" cy="3476476"/>
          </a:xfrm>
          <a:prstGeom prst="rect">
            <a:avLst/>
          </a:prstGeom>
          <a:noFill/>
          <a:ln>
            <a:noFill/>
          </a:ln>
        </p:spPr>
      </p:pic>
      <p:sp>
        <p:nvSpPr>
          <p:cNvPr id="1844" name="Google Shape;1844;p74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PUBLIC TRUST MEASUREMENT INDICATORS</a:t>
            </a:r>
            <a:endParaRPr/>
          </a:p>
        </p:txBody>
      </p:sp>
      <p:sp>
        <p:nvSpPr>
          <p:cNvPr id="1845" name="Google Shape;1845;p74"/>
          <p:cNvSpPr txBox="1"/>
          <p:nvPr/>
        </p:nvSpPr>
        <p:spPr>
          <a:xfrm>
            <a:off x="762000" y="1314450"/>
            <a:ext cx="10668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Trust must be measurable. Proposed citizen trust indicators:</a:t>
            </a:r>
            <a:endParaRPr/>
          </a:p>
        </p:txBody>
      </p:sp>
      <p:sp>
        <p:nvSpPr>
          <p:cNvPr id="1846" name="Google Shape;1846;p74"/>
          <p:cNvSpPr txBox="1"/>
          <p:nvPr/>
        </p:nvSpPr>
        <p:spPr>
          <a:xfrm>
            <a:off x="762000" y="5543401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Trust grows when performance is visible and consistent.</a:t>
            </a:r>
            <a:endParaRPr/>
          </a:p>
        </p:txBody>
      </p:sp>
      <p:sp>
        <p:nvSpPr>
          <p:cNvPr id="1847" name="Google Shape;1847;p74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48" name="Google Shape;1848;p74"/>
          <p:cNvGraphicFramePr/>
          <p:nvPr/>
        </p:nvGraphicFramePr>
        <p:xfrm>
          <a:off x="771525" y="17907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{205658A8-B75E-4893-B863-9B2F382446B2}</a:tableStyleId>
              </a:tblPr>
              <a:tblGrid>
                <a:gridCol w="4662925"/>
                <a:gridCol w="5986025"/>
              </a:tblGrid>
              <a:tr h="5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Indicator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Measurement Approach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SLA Compliance 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% services completed within timeline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Escalation Resolution 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Average time to resolve disputes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Repeat Visit Reduction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Decrease in citizen re-visits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Complaint Volume Trends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Structured monitoring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Service Volume Stability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Predictable processing flow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49" name="Google Shape;1849;p74"/>
          <p:cNvSpPr/>
          <p:nvPr/>
        </p:nvSpPr>
        <p:spPr>
          <a:xfrm>
            <a:off x="771525" y="2286000"/>
            <a:ext cx="4662933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0" name="Google Shape;1850;p74"/>
          <p:cNvSpPr/>
          <p:nvPr/>
        </p:nvSpPr>
        <p:spPr>
          <a:xfrm>
            <a:off x="5434458" y="2286000"/>
            <a:ext cx="5986016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1" name="Google Shape;1851;p74"/>
          <p:cNvSpPr/>
          <p:nvPr/>
        </p:nvSpPr>
        <p:spPr>
          <a:xfrm>
            <a:off x="771525" y="2888902"/>
            <a:ext cx="466293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2" name="Google Shape;1852;p74"/>
          <p:cNvSpPr/>
          <p:nvPr/>
        </p:nvSpPr>
        <p:spPr>
          <a:xfrm>
            <a:off x="5434458" y="2888902"/>
            <a:ext cx="598601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3" name="Google Shape;1853;p74"/>
          <p:cNvSpPr/>
          <p:nvPr/>
        </p:nvSpPr>
        <p:spPr>
          <a:xfrm>
            <a:off x="771525" y="3477517"/>
            <a:ext cx="466293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4" name="Google Shape;1854;p74"/>
          <p:cNvSpPr/>
          <p:nvPr/>
        </p:nvSpPr>
        <p:spPr>
          <a:xfrm>
            <a:off x="5434458" y="3477517"/>
            <a:ext cx="598601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5" name="Google Shape;1855;p74"/>
          <p:cNvSpPr/>
          <p:nvPr/>
        </p:nvSpPr>
        <p:spPr>
          <a:xfrm>
            <a:off x="771525" y="4066133"/>
            <a:ext cx="466293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6" name="Google Shape;1856;p74"/>
          <p:cNvSpPr/>
          <p:nvPr/>
        </p:nvSpPr>
        <p:spPr>
          <a:xfrm>
            <a:off x="5434458" y="4066133"/>
            <a:ext cx="598601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7" name="Google Shape;1857;p74"/>
          <p:cNvSpPr/>
          <p:nvPr/>
        </p:nvSpPr>
        <p:spPr>
          <a:xfrm>
            <a:off x="771525" y="4654748"/>
            <a:ext cx="466293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8" name="Google Shape;1858;p74"/>
          <p:cNvSpPr/>
          <p:nvPr/>
        </p:nvSpPr>
        <p:spPr>
          <a:xfrm>
            <a:off x="5434458" y="4654748"/>
            <a:ext cx="598601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2" name="Shape 1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3" name="Google Shape;1863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4" name="Google Shape;1864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721792"/>
            <a:ext cx="5143500" cy="41572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5" name="Google Shape;1865;p7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044154"/>
            <a:ext cx="5143500" cy="16610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6" name="Google Shape;1866;p7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895725"/>
            <a:ext cx="5143500" cy="1661070"/>
          </a:xfrm>
          <a:prstGeom prst="rect">
            <a:avLst/>
          </a:prstGeom>
          <a:noFill/>
          <a:ln>
            <a:noFill/>
          </a:ln>
        </p:spPr>
      </p:pic>
      <p:sp>
        <p:nvSpPr>
          <p:cNvPr id="1867" name="Google Shape;1867;p75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COMMITMENT TO STRUCTURED, MEASURED REFORM</a:t>
            </a:r>
            <a:endParaRPr/>
          </a:p>
        </p:txBody>
      </p:sp>
      <p:sp>
        <p:nvSpPr>
          <p:cNvPr id="1868" name="Google Shape;1868;p75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69" name="Google Shape;1869;p7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2017067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0" name="Google Shape;1870;p75"/>
          <p:cNvSpPr txBox="1"/>
          <p:nvPr/>
        </p:nvSpPr>
        <p:spPr>
          <a:xfrm>
            <a:off x="1057275" y="2779067"/>
            <a:ext cx="478059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Hawassa MESOB reform is:</a:t>
            </a:r>
            <a:endParaRPr/>
          </a:p>
        </p:txBody>
      </p:sp>
      <p:pic>
        <p:nvPicPr>
          <p:cNvPr descr="image.png" id="1871" name="Google Shape;1871;p7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09675" y="216946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2" name="Google Shape;1872;p7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316438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3" name="Google Shape;1873;p75"/>
          <p:cNvSpPr txBox="1"/>
          <p:nvPr/>
        </p:nvSpPr>
        <p:spPr>
          <a:xfrm>
            <a:off x="1438275" y="3145333"/>
            <a:ext cx="1885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Institutionally anchored</a:t>
            </a:r>
            <a:endParaRPr/>
          </a:p>
        </p:txBody>
      </p:sp>
      <p:pic>
        <p:nvPicPr>
          <p:cNvPr descr="image.png" id="1874" name="Google Shape;1874;p7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360253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5" name="Google Shape;1875;p75"/>
          <p:cNvSpPr txBox="1"/>
          <p:nvPr/>
        </p:nvSpPr>
        <p:spPr>
          <a:xfrm>
            <a:off x="1438275" y="3583483"/>
            <a:ext cx="1714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Governance-defined</a:t>
            </a:r>
            <a:endParaRPr/>
          </a:p>
        </p:txBody>
      </p:sp>
      <p:pic>
        <p:nvPicPr>
          <p:cNvPr descr="image.png" id="1876" name="Google Shape;1876;p7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404068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7" name="Google Shape;1877;p75"/>
          <p:cNvSpPr txBox="1"/>
          <p:nvPr/>
        </p:nvSpPr>
        <p:spPr>
          <a:xfrm>
            <a:off x="1438275" y="4021633"/>
            <a:ext cx="18192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Phased and controlled</a:t>
            </a:r>
            <a:endParaRPr/>
          </a:p>
        </p:txBody>
      </p:sp>
      <p:pic>
        <p:nvPicPr>
          <p:cNvPr descr="image.png" id="1878" name="Google Shape;1878;p7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447883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9" name="Google Shape;1879;p75"/>
          <p:cNvSpPr txBox="1"/>
          <p:nvPr/>
        </p:nvSpPr>
        <p:spPr>
          <a:xfrm>
            <a:off x="1438275" y="4459783"/>
            <a:ext cx="2000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Performance-monitored</a:t>
            </a:r>
            <a:endParaRPr/>
          </a:p>
        </p:txBody>
      </p:sp>
      <p:pic>
        <p:nvPicPr>
          <p:cNvPr descr="image.png" id="1880" name="Google Shape;1880;p7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491698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1" name="Google Shape;1881;p75"/>
          <p:cNvSpPr txBox="1"/>
          <p:nvPr/>
        </p:nvSpPr>
        <p:spPr>
          <a:xfrm>
            <a:off x="1438275" y="4897933"/>
            <a:ext cx="13906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Citizen-centered</a:t>
            </a:r>
            <a:endParaRPr/>
          </a:p>
        </p:txBody>
      </p:sp>
      <p:pic>
        <p:nvPicPr>
          <p:cNvPr descr="image.png" id="1882" name="Google Shape;1882;p7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535513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3" name="Google Shape;1883;p75"/>
          <p:cNvSpPr txBox="1"/>
          <p:nvPr/>
        </p:nvSpPr>
        <p:spPr>
          <a:xfrm>
            <a:off x="1438275" y="5336083"/>
            <a:ext cx="904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Risk-aware</a:t>
            </a:r>
            <a:endParaRPr/>
          </a:p>
        </p:txBody>
      </p:sp>
      <p:pic>
        <p:nvPicPr>
          <p:cNvPr descr="image.png" id="1884" name="Google Shape;1884;p7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33475" y="323105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5" name="Google Shape;1885;p7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33475" y="366920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6" name="Google Shape;1886;p7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33475" y="410735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7" name="Google Shape;1887;p7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33475" y="454550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8" name="Google Shape;1888;p7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33475" y="498365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9" name="Google Shape;1889;p7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33475" y="5421808"/>
            <a:ext cx="1143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0" name="Google Shape;1890;p75"/>
          <p:cNvSpPr txBox="1"/>
          <p:nvPr/>
        </p:nvSpPr>
        <p:spPr>
          <a:xfrm>
            <a:off x="6677025" y="2434679"/>
            <a:ext cx="43624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This reform is not immediate transformation. It is structured modernization.</a:t>
            </a:r>
            <a:endParaRPr/>
          </a:p>
        </p:txBody>
      </p:sp>
      <p:sp>
        <p:nvSpPr>
          <p:cNvPr id="1891" name="Google Shape;1891;p75"/>
          <p:cNvSpPr txBox="1"/>
          <p:nvPr/>
        </p:nvSpPr>
        <p:spPr>
          <a:xfrm>
            <a:off x="6677025" y="4286250"/>
            <a:ext cx="43624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With Cabinet alignment, implementation will proceed methodically, transparently, and sustainably.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5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6" name="Google Shape;1896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7" name="Google Shape;1897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695450"/>
            <a:ext cx="3352800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8" name="Google Shape;1898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9600" y="1695450"/>
            <a:ext cx="3352800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9" name="Google Shape;1899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77200" y="1695450"/>
            <a:ext cx="3352800" cy="268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0" name="Google Shape;1900;p76"/>
          <p:cNvSpPr txBox="1"/>
          <p:nvPr/>
        </p:nvSpPr>
        <p:spPr>
          <a:xfrm>
            <a:off x="1591374" y="762000"/>
            <a:ext cx="900925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END OF 56-SLIDE CABINET ALIGNMENT DOSSIER</a:t>
            </a:r>
            <a:endParaRPr/>
          </a:p>
        </p:txBody>
      </p:sp>
      <p:sp>
        <p:nvSpPr>
          <p:cNvPr id="1901" name="Google Shape;1901;p76"/>
          <p:cNvSpPr txBox="1"/>
          <p:nvPr/>
        </p:nvSpPr>
        <p:spPr>
          <a:xfrm>
            <a:off x="2286000" y="476250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If you would like, next I can provide: A 2-page Cabinet summary briefing note for the Mayor to open the meeting, A 10-minute compressed executive talking script, Or a question-handling strategy guide for difficult cabinet pushback.</a:t>
            </a:r>
            <a:endParaRPr/>
          </a:p>
        </p:txBody>
      </p:sp>
      <p:sp>
        <p:nvSpPr>
          <p:cNvPr id="1902" name="Google Shape;1902;p76"/>
          <p:cNvSpPr txBox="1"/>
          <p:nvPr/>
        </p:nvSpPr>
        <p:spPr>
          <a:xfrm>
            <a:off x="3095625" y="5810250"/>
            <a:ext cx="6000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0A5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Tell me which would best strengthen tomorrow’s room dynamics.</a:t>
            </a:r>
            <a:endParaRPr/>
          </a:p>
        </p:txBody>
      </p:sp>
      <p:sp>
        <p:nvSpPr>
          <p:cNvPr id="1903" name="Google Shape;1903;p76"/>
          <p:cNvSpPr txBox="1"/>
          <p:nvPr/>
        </p:nvSpPr>
        <p:spPr>
          <a:xfrm>
            <a:off x="1057275" y="1990725"/>
            <a:ext cx="2762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This full structure now communicates:</a:t>
            </a:r>
            <a:endParaRPr/>
          </a:p>
        </p:txBody>
      </p:sp>
      <p:sp>
        <p:nvSpPr>
          <p:cNvPr id="1904" name="Google Shape;1904;p76"/>
          <p:cNvSpPr txBox="1"/>
          <p:nvPr/>
        </p:nvSpPr>
        <p:spPr>
          <a:xfrm>
            <a:off x="1057275" y="2867025"/>
            <a:ext cx="2762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✔ Vision</a:t>
            </a:r>
            <a:endParaRPr/>
          </a:p>
        </p:txBody>
      </p:sp>
      <p:sp>
        <p:nvSpPr>
          <p:cNvPr id="1905" name="Google Shape;1905;p76"/>
          <p:cNvSpPr txBox="1"/>
          <p:nvPr/>
        </p:nvSpPr>
        <p:spPr>
          <a:xfrm>
            <a:off x="1057275" y="3217515"/>
            <a:ext cx="2762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✔ Learning from region</a:t>
            </a:r>
            <a:endParaRPr/>
          </a:p>
        </p:txBody>
      </p:sp>
      <p:sp>
        <p:nvSpPr>
          <p:cNvPr id="1906" name="Google Shape;1906;p76"/>
          <p:cNvSpPr txBox="1"/>
          <p:nvPr/>
        </p:nvSpPr>
        <p:spPr>
          <a:xfrm>
            <a:off x="1057275" y="3568005"/>
            <a:ext cx="2762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✔ Governance clarity</a:t>
            </a:r>
            <a:endParaRPr/>
          </a:p>
        </p:txBody>
      </p:sp>
      <p:sp>
        <p:nvSpPr>
          <p:cNvPr id="1907" name="Google Shape;1907;p76"/>
          <p:cNvSpPr txBox="1"/>
          <p:nvPr/>
        </p:nvSpPr>
        <p:spPr>
          <a:xfrm>
            <a:off x="4714875" y="1990725"/>
            <a:ext cx="2762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✔ Service integration strategy</a:t>
            </a:r>
            <a:endParaRPr/>
          </a:p>
        </p:txBody>
      </p:sp>
      <p:sp>
        <p:nvSpPr>
          <p:cNvPr id="1908" name="Google Shape;1908;p76"/>
          <p:cNvSpPr txBox="1"/>
          <p:nvPr/>
        </p:nvSpPr>
        <p:spPr>
          <a:xfrm>
            <a:off x="4714875" y="2341215"/>
            <a:ext cx="2762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✔ Implementation readiness</a:t>
            </a:r>
            <a:endParaRPr/>
          </a:p>
        </p:txBody>
      </p:sp>
      <p:sp>
        <p:nvSpPr>
          <p:cNvPr id="1909" name="Google Shape;1909;p76"/>
          <p:cNvSpPr txBox="1"/>
          <p:nvPr/>
        </p:nvSpPr>
        <p:spPr>
          <a:xfrm>
            <a:off x="4714875" y="2691705"/>
            <a:ext cx="2762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✔ Vendor transparency</a:t>
            </a:r>
            <a:endParaRPr/>
          </a:p>
        </p:txBody>
      </p:sp>
      <p:sp>
        <p:nvSpPr>
          <p:cNvPr id="1910" name="Google Shape;1910;p76"/>
          <p:cNvSpPr txBox="1"/>
          <p:nvPr/>
        </p:nvSpPr>
        <p:spPr>
          <a:xfrm>
            <a:off x="8372475" y="1990725"/>
            <a:ext cx="2762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✔ Directional budgeting</a:t>
            </a:r>
            <a:endParaRPr/>
          </a:p>
        </p:txBody>
      </p:sp>
      <p:sp>
        <p:nvSpPr>
          <p:cNvPr id="1911" name="Google Shape;1911;p76"/>
          <p:cNvSpPr txBox="1"/>
          <p:nvPr/>
        </p:nvSpPr>
        <p:spPr>
          <a:xfrm>
            <a:off x="8372475" y="2341215"/>
            <a:ext cx="2762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✔ 90-day discipline</a:t>
            </a:r>
            <a:endParaRPr/>
          </a:p>
        </p:txBody>
      </p:sp>
      <p:sp>
        <p:nvSpPr>
          <p:cNvPr id="1912" name="Google Shape;1912;p76"/>
          <p:cNvSpPr txBox="1"/>
          <p:nvPr/>
        </p:nvSpPr>
        <p:spPr>
          <a:xfrm>
            <a:off x="8372475" y="2691705"/>
            <a:ext cx="2762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✔ Citizen trust safeguards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6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7" name="Google Shape;1917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8" name="Google Shape;1918;p77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Sources</a:t>
            </a:r>
            <a:endParaRPr/>
          </a:p>
        </p:txBody>
      </p:sp>
      <p:sp>
        <p:nvSpPr>
          <p:cNvPr id="1919" name="Google Shape;1919;p77"/>
          <p:cNvSpPr/>
          <p:nvPr/>
        </p:nvSpPr>
        <p:spPr>
          <a:xfrm>
            <a:off x="762000" y="102870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0" name="Google Shape;1920;p77"/>
          <p:cNvSpPr/>
          <p:nvPr/>
        </p:nvSpPr>
        <p:spPr>
          <a:xfrm>
            <a:off x="762000" y="1314450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1" name="Google Shape;1921;p77"/>
          <p:cNvSpPr/>
          <p:nvPr/>
        </p:nvSpPr>
        <p:spPr>
          <a:xfrm>
            <a:off x="762000" y="2099220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2" name="Google Shape;1922;p77"/>
          <p:cNvSpPr/>
          <p:nvPr/>
        </p:nvSpPr>
        <p:spPr>
          <a:xfrm>
            <a:off x="762000" y="2089695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3" name="Google Shape;1923;p77"/>
          <p:cNvSpPr/>
          <p:nvPr/>
        </p:nvSpPr>
        <p:spPr>
          <a:xfrm>
            <a:off x="762000" y="2089695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4" name="Google Shape;1924;p77"/>
          <p:cNvSpPr/>
          <p:nvPr/>
        </p:nvSpPr>
        <p:spPr>
          <a:xfrm>
            <a:off x="762000" y="2874466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5" name="Google Shape;1925;p77"/>
          <p:cNvSpPr/>
          <p:nvPr/>
        </p:nvSpPr>
        <p:spPr>
          <a:xfrm>
            <a:off x="762000" y="2874466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26" name="Google Shape;1926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46387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7" name="Google Shape;1927;p77"/>
          <p:cNvSpPr txBox="1"/>
          <p:nvPr/>
        </p:nvSpPr>
        <p:spPr>
          <a:xfrm>
            <a:off x="1857375" y="1457325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https://monocle.com/wp-content/uploads/2025/01/africa-hall_architectus-conrad-gargett_credit-rory-gardiner_010.jpg?fit=1760%2C2200</a:t>
            </a:r>
            <a:endParaRPr/>
          </a:p>
        </p:txBody>
      </p:sp>
      <p:sp>
        <p:nvSpPr>
          <p:cNvPr id="1928" name="Google Shape;1928;p77"/>
          <p:cNvSpPr txBox="1"/>
          <p:nvPr/>
        </p:nvSpPr>
        <p:spPr>
          <a:xfrm>
            <a:off x="1857375" y="1703040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monocle.com</a:t>
            </a:r>
            <a:endParaRPr/>
          </a:p>
        </p:txBody>
      </p:sp>
      <p:pic>
        <p:nvPicPr>
          <p:cNvPr descr="image.png" id="1929" name="Google Shape;1929;p7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24864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0" name="Google Shape;1930;p77"/>
          <p:cNvSpPr txBox="1"/>
          <p:nvPr/>
        </p:nvSpPr>
        <p:spPr>
          <a:xfrm>
            <a:off x="1857375" y="2242095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https://www.bluwave.net/wp-content/uploads/2022/11/Executives-2-1024x683.jpeg</a:t>
            </a:r>
            <a:endParaRPr/>
          </a:p>
        </p:txBody>
      </p:sp>
      <p:sp>
        <p:nvSpPr>
          <p:cNvPr id="1931" name="Google Shape;1931;p77"/>
          <p:cNvSpPr txBox="1"/>
          <p:nvPr/>
        </p:nvSpPr>
        <p:spPr>
          <a:xfrm>
            <a:off x="1857375" y="2487810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www.bluwave.net</a:t>
            </a:r>
            <a:endParaRPr/>
          </a:p>
        </p:txBody>
      </p:sp>
      <p:pic>
        <p:nvPicPr>
          <p:cNvPr descr="image.png" id="1932" name="Google Shape;1932;p7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03341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3" name="Google Shape;1933;p77"/>
          <p:cNvSpPr txBox="1"/>
          <p:nvPr/>
        </p:nvSpPr>
        <p:spPr>
          <a:xfrm>
            <a:off x="1857375" y="3026866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https://mesobportalback.mesobcenter.et/uploads/image/image-1754988478814-741057220.jpg</a:t>
            </a:r>
            <a:endParaRPr/>
          </a:p>
        </p:txBody>
      </p:sp>
      <p:sp>
        <p:nvSpPr>
          <p:cNvPr id="1934" name="Google Shape;1934;p77"/>
          <p:cNvSpPr txBox="1"/>
          <p:nvPr/>
        </p:nvSpPr>
        <p:spPr>
          <a:xfrm>
            <a:off x="1857375" y="3272581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mesobcenter.et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