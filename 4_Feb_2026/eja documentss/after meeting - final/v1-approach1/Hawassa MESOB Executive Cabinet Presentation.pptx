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12192000"/>
  <p:notesSz cx="6858000" cy="9144000"/>
  <p:embeddedFontLst>
    <p:embeddedFont>
      <p:font typeface="Inter SemiBold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Inter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4AC4A3-CBE8-46DB-ACEA-70480BB0CE95}">
  <a:tblStyle styleId="{5E4AC4A3-CBE8-46DB-ACEA-70480BB0CE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italic.fntdata"/><Relationship Id="rId42" Type="http://schemas.openxmlformats.org/officeDocument/2006/relationships/font" Target="fonts/Montserrat-regular.fntdata"/><Relationship Id="rId41" Type="http://schemas.openxmlformats.org/officeDocument/2006/relationships/font" Target="fonts/InterSemiBold-boldItalic.fntdata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Inter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InterSemiBold-bold.fntdata"/><Relationship Id="rId38" Type="http://schemas.openxmlformats.org/officeDocument/2006/relationships/font" Target="fonts/InterSemiBold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38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4.png"/><Relationship Id="rId7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54.png"/><Relationship Id="rId6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43.png"/><Relationship Id="rId6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Relationship Id="rId4" Type="http://schemas.openxmlformats.org/officeDocument/2006/relationships/image" Target="../media/image46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51.png"/><Relationship Id="rId6" Type="http://schemas.openxmlformats.org/officeDocument/2006/relationships/image" Target="../media/image49.png"/><Relationship Id="rId7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Relationship Id="rId4" Type="http://schemas.openxmlformats.org/officeDocument/2006/relationships/image" Target="../media/image63.png"/><Relationship Id="rId5" Type="http://schemas.openxmlformats.org/officeDocument/2006/relationships/image" Target="../media/image55.png"/><Relationship Id="rId6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Relationship Id="rId5" Type="http://schemas.openxmlformats.org/officeDocument/2006/relationships/image" Target="../media/image78.png"/><Relationship Id="rId6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0.png"/><Relationship Id="rId4" Type="http://schemas.openxmlformats.org/officeDocument/2006/relationships/image" Target="../media/image7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0.png"/><Relationship Id="rId4" Type="http://schemas.openxmlformats.org/officeDocument/2006/relationships/image" Target="../media/image75.png"/><Relationship Id="rId5" Type="http://schemas.openxmlformats.org/officeDocument/2006/relationships/image" Target="../media/image69.png"/><Relationship Id="rId6" Type="http://schemas.openxmlformats.org/officeDocument/2006/relationships/image" Target="../media/image74.png"/><Relationship Id="rId7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7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3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1662112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HAWASSA MESOB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71500" y="2671762"/>
            <a:ext cx="11049000" cy="476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95637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Integrated Governance &amp; Service Coordination Platform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2433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PREPARED FOR EXECUTIVE CABINET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95475"/>
            <a:ext cx="52387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38750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047750" y="2428875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APPROVAL CONCERNS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858000" y="2428875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NOT AN IT PURCHASE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858000" y="3114675"/>
            <a:ext cx="42862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This initiative is focused on structural governance and workflow orchestration, not standard hardware procurement.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333500" y="292417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Institutional coordination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333500" y="348615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Revenue protection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33500" y="404812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Accountability enforcement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333500" y="461010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Administrative modernization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2924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47750" y="3486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47750" y="40481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47750" y="46101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THIS IS A GOVERNANCE DECISION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09850"/>
            <a:ext cx="52387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9850"/>
            <a:ext cx="5238750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047750" y="3143250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CURRENT REALITY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858000" y="3143250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FUTURE STATE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333500" y="363855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Fragmented bureau workflows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333500" y="420052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Manual verification gaps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333500" y="476250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Limited SLA visibility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333500" y="532447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High citizen navigation burden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143750" y="363855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Coordinated operations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143750" y="420052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Structured data integration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143750" y="476250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Visible SLA enforcement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143750" y="532447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Centralized citizen intake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7750" y="36385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47750" y="42005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47750" y="4762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47750" y="53244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858000" y="36385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858000" y="42005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858000" y="4762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858000" y="53244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THE STRUCTURAL PROBLEM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This is a coordination deficit — not a staffing deficit.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342900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638300"/>
            <a:ext cx="342900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1638300"/>
            <a:ext cx="342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90600" y="281940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INSTITUTIONAL LEVEL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90600" y="3667125"/>
            <a:ext cx="26289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Establishing structured, transparent inter-bureau coordination and defined mandates.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800600" y="281940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OPERATIONAL LEVEL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800600" y="3667125"/>
            <a:ext cx="2628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Orchestrating workflows to remove manual bottlenecks and redundant processing steps.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610600" y="281940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FINANCIAL LEVEL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610600" y="3667125"/>
            <a:ext cx="2628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Ensuring complete transaction traceability and comprehensive revenue protection.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2066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20669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0600" y="20669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WHAT MESOB FIXES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1333500" y="270510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2095500" y="294322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Growing Urban Demand: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Population scale requires automated response mechanisms.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1333500" y="270510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333500" y="411480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2095500" y="435292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Increasing Workflow Complexity: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Manual routing can no longer sustain service volume.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1333500" y="411480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333500" y="552450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2095500" y="576262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Maturing National Standards: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Digital frameworks demand immediate regional alignment.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1333500" y="552450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1333500" y="693420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2095500" y="7172325"/>
            <a:ext cx="8477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Rising Citizen Expectation: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Demand for transparent, rapid civic interaction.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1333500" y="693420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293846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775" y="434816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775" y="57578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8775" y="7167562"/>
            <a:ext cx="361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WHY NOW: THE URGENT IMPERATIVE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Delay increases structural strain.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295275" y="1176337"/>
            <a:ext cx="11601450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 WE STUDIED THE REGIONAL MODEL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381625" y="3043237"/>
            <a:ext cx="1428750" cy="476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809750" y="3376612"/>
            <a:ext cx="8572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To evaluate real operational performance, integration challenges, institutional resistance, and sustainability risks.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2943225" y="4700587"/>
            <a:ext cx="6305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 studied execution — not presentations.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/>
        </p:nvSpPr>
        <p:spPr>
          <a:xfrm>
            <a:off x="571500" y="3290887"/>
            <a:ext cx="4914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4719637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BUREAUS INTEGRATED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5233987"/>
            <a:ext cx="4914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Overcoming initial siloed operations.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0" y="2705100"/>
            <a:ext cx="4953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70+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67500" y="4133850"/>
            <a:ext cx="495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SERVICES ACTIVATED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143750" y="4648200"/>
            <a:ext cx="447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Centralized citizen intake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143750" y="5210175"/>
            <a:ext cx="447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Structured queue management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143750" y="5772150"/>
            <a:ext cx="447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API-based coordination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858000" y="46482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858000" y="5210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858000" y="5772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WHAT THEY ACHIEVED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1828800"/>
            <a:ext cx="50768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Acceleration is feasible under mandate.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/>
        </p:nvSpPr>
        <p:spPr>
          <a:xfrm>
            <a:off x="571500" y="571500"/>
            <a:ext cx="5500687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VULNERABILITIES OBSERVED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1743075"/>
            <a:ext cx="523875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2343150"/>
            <a:ext cx="5238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Lesson: Speed without structure creates fragility.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3429000"/>
            <a:ext cx="5238750" cy="847725"/>
          </a:xfrm>
          <a:prstGeom prst="roundRect">
            <a:avLst>
              <a:gd fmla="val 89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047750" y="3667125"/>
            <a:ext cx="447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Partial bureau participation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3429000"/>
            <a:ext cx="57150" cy="8477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71500" y="4467225"/>
            <a:ext cx="5238750" cy="847725"/>
          </a:xfrm>
          <a:prstGeom prst="roundRect">
            <a:avLst>
              <a:gd fmla="val 89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047750" y="4705350"/>
            <a:ext cx="447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Incomplete integrations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4467225"/>
            <a:ext cx="57150" cy="8477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5505450"/>
            <a:ext cx="5238750" cy="847725"/>
          </a:xfrm>
          <a:prstGeom prst="roundRect">
            <a:avLst>
              <a:gd fmla="val 89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047750" y="5743575"/>
            <a:ext cx="4476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Dependency risks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5505450"/>
            <a:ext cx="57150" cy="8477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6543675"/>
            <a:ext cx="5238750" cy="847725"/>
          </a:xfrm>
          <a:prstGeom prst="roundRect">
            <a:avLst>
              <a:gd fmla="val 89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047750" y="6781800"/>
            <a:ext cx="447675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Redundancy gaps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6543675"/>
            <a:ext cx="57150" cy="8477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7581900"/>
            <a:ext cx="5238750" cy="847725"/>
          </a:xfrm>
          <a:prstGeom prst="roundRect">
            <a:avLst>
              <a:gd fmla="val 89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047750" y="7820025"/>
            <a:ext cx="44767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Governance enforcement strain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71500" y="7581900"/>
            <a:ext cx="57150" cy="8477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366236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4700587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573881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677703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" y="7815262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09850"/>
            <a:ext cx="5238750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9850"/>
            <a:ext cx="523875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1047750" y="3143250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THE REGIONAL FLAW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47750" y="3638550"/>
            <a:ext cx="42862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Attempting immediate total integration leading to systemic bottlenecks, lack of accountability, and weak inter-agency enforcement.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858000" y="3143250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THE HAWASSA MODEL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143750" y="363855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Phase integration strictly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143750" y="420052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Enforce bureau accountability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143750" y="4762500"/>
            <a:ext cx="4000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Validate redundancy before launch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143750" y="569595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Institutionalize governance first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858000" y="36385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858000" y="42005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858000" y="4762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858000" y="5695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HAWASSA’S ADJUSTMENT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 refine — not replicate.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09850"/>
            <a:ext cx="34290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609850"/>
            <a:ext cx="34290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2609850"/>
            <a:ext cx="342900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990600" y="3790950"/>
            <a:ext cx="170021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4800600" y="3790950"/>
            <a:ext cx="209026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610600" y="3790950"/>
            <a:ext cx="217027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/>
          </a:p>
        </p:txBody>
      </p:sp>
      <p:pic>
        <p:nvPicPr>
          <p:cNvPr descr="image.png" id="259" name="Google Shape;2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30384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1228725" y="4438650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371600" y="4438650"/>
            <a:ext cx="2247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Service cluster identification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228725" y="5181600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371600" y="5181600"/>
            <a:ext cx="2247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Benchmarking study execution</a:t>
            </a:r>
            <a:endParaRPr/>
          </a:p>
        </p:txBody>
      </p:sp>
      <p:pic>
        <p:nvPicPr>
          <p:cNvPr descr="image.png" id="264" name="Google Shape;26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30384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5038725" y="4438650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181600" y="4438650"/>
            <a:ext cx="2247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Bureau readiness classification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5038725" y="5181600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5181600" y="5181600"/>
            <a:ext cx="2247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Governance draft structure</a:t>
            </a:r>
            <a:endParaRPr/>
          </a:p>
        </p:txBody>
      </p:sp>
      <p:pic>
        <p:nvPicPr>
          <p:cNvPr descr="image.png" id="269" name="Google Shape;26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0600" y="30384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8848725" y="4438650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991600" y="4438650"/>
            <a:ext cx="2247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Physical facility review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8848725" y="5181600"/>
            <a:ext cx="1428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991600" y="5181600"/>
            <a:ext cx="2247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Vendor landscape scan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WORK ALREADY COMPLETED</a:t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571500" y="1828800"/>
            <a:ext cx="46958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foundational groundwork exists.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/>
          <p:nvPr/>
        </p:nvSpPr>
        <p:spPr>
          <a:xfrm>
            <a:off x="571500" y="2886075"/>
            <a:ext cx="11049000" cy="26479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23"/>
          <p:cNvGraphicFramePr/>
          <p:nvPr/>
        </p:nvGraphicFramePr>
        <p:xfrm>
          <a:off x="571500" y="2886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{5E4AC4A3-CBE8-46DB-ACEA-70480BB0CE95}</a:tableStyleId>
              </a:tblPr>
              <a:tblGrid>
                <a:gridCol w="1657350"/>
                <a:gridCol w="4419600"/>
                <a:gridCol w="4972050"/>
              </a:tblGrid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Integration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A2B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6A75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API-ready systems active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 connection / Immediate routing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Digital processes, no native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Middleware adaptation layer required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71809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Non-digital / Manual workflows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Phased onboarding and digitization first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23"/>
          <p:cNvSpPr/>
          <p:nvPr/>
        </p:nvSpPr>
        <p:spPr>
          <a:xfrm>
            <a:off x="571500" y="35194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2228850" y="351948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648450" y="351948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571500" y="418623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2228850" y="418623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6648450" y="418623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571500" y="48529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2228850" y="485298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6648450" y="485298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571500" y="551973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2228850" y="551973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6648450" y="551973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BUREAU READINESS MODEL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571500" y="1828800"/>
            <a:ext cx="5724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Expansion follows readiness — not pressure.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5238750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1009650" y="2019300"/>
            <a:ext cx="464058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LOGIC-DRIVEN SCALING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1009650" y="2562225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Service Volume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1009650" y="3543300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Workflow Load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1009650" y="4524375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Infrastructure Sizing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1009650" y="5181600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Not hardware-first planning.</a:t>
            </a:r>
            <a:endParaRPr/>
          </a:p>
        </p:txBody>
      </p:sp>
      <p:pic>
        <p:nvPicPr>
          <p:cNvPr descr="image.png" id="308" name="Google Shape;3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3725" y="31527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3725" y="41338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PHILOSOPHY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/>
          <p:nvPr/>
        </p:nvSpPr>
        <p:spPr>
          <a:xfrm>
            <a:off x="1333500" y="26098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2095500" y="28479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Steering Committee: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Executive oversight and strategic mandate enforcement.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1333500" y="26098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1333500" y="40195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2095500" y="42576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MESOB Director: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Singular operational authority and vendor coordination.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1333500" y="40195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1333500" y="54292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2095500" y="56673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Technical Working Group: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Architecture validation and systems integration.</a:t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1333500" y="54292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333500" y="68389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2095500" y="7077075"/>
            <a:ext cx="8477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Bureau Focal Network: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Embedded champions driving departmental adoption.</a:t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1333500" y="68389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1333500" y="82486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 txBox="1"/>
          <p:nvPr/>
        </p:nvSpPr>
        <p:spPr>
          <a:xfrm>
            <a:off x="2095500" y="8486775"/>
            <a:ext cx="8477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Compliance Monitoring: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SLA tracking and continuous performance auditing.</a:t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1333500" y="82486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2" name="Google Shape;3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284321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775" y="42529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775" y="566261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8775" y="707231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8775" y="8482012"/>
            <a:ext cx="2190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GOVERNANCE STRUCTURE DRAFTED</a:t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Institutional clarity precedes launch.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A2B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 txBox="1"/>
          <p:nvPr/>
        </p:nvSpPr>
        <p:spPr>
          <a:xfrm>
            <a:off x="1535430" y="1762125"/>
            <a:ext cx="912114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PHASED EXPANSION LOGIC</a:t>
            </a: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5381625" y="2933700"/>
            <a:ext cx="1428750" cy="476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3143250" y="3267075"/>
            <a:ext cx="590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We will not integrate 20 bureaus at once.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3948112" y="4057650"/>
            <a:ext cx="4295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Phasing protects stability.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/>
          <p:nvPr/>
        </p:nvSpPr>
        <p:spPr>
          <a:xfrm>
            <a:off x="571500" y="2895600"/>
            <a:ext cx="47244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Pilot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571500" y="4324350"/>
            <a:ext cx="4724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VALIDATION STAGE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7048500" y="2362200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5–7 Bureaus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engaged</a:t>
            </a:r>
            <a:endParaRPr/>
          </a:p>
        </p:txBody>
      </p:sp>
      <p:sp>
        <p:nvSpPr>
          <p:cNvPr id="355" name="Google Shape;355;p27"/>
          <p:cNvSpPr txBox="1"/>
          <p:nvPr/>
        </p:nvSpPr>
        <p:spPr>
          <a:xfrm>
            <a:off x="7048500" y="3114675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15–25 Services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live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7048500" y="3867150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SLA Dashboard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active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7048500" y="4619625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Governance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fully operational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6667500" y="2266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6667500" y="30194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6667500" y="37719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6667500" y="4524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362" name="Google Shape;3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2357437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109912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8623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4614862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TARGET: MONTH 2</a:t>
            </a:r>
            <a:endParaRPr/>
          </a:p>
        </p:txBody>
      </p:sp>
      <p:sp>
        <p:nvSpPr>
          <p:cNvPr id="367" name="Google Shape;367;p27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8"/>
          <p:cNvSpPr txBox="1"/>
          <p:nvPr/>
        </p:nvSpPr>
        <p:spPr>
          <a:xfrm>
            <a:off x="571500" y="2895600"/>
            <a:ext cx="47244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Scale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571500" y="4324350"/>
            <a:ext cx="4724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STABILIZED EXPANSION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7048500" y="2362200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10–15 Bureaus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onboarded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7048500" y="3114675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50–70 Services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active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7048500" y="3867150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activated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7048500" y="4619625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Performance Monitoring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normalized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6667500" y="2266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6667500" y="30194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6667500" y="37719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6667500" y="4524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382" name="Google Shape;3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2357437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109912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8623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4614862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TARGET: MONTH 6</a:t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"/>
          <p:cNvSpPr txBox="1"/>
          <p:nvPr/>
        </p:nvSpPr>
        <p:spPr>
          <a:xfrm>
            <a:off x="571500" y="2895600"/>
            <a:ext cx="47244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571500" y="4324350"/>
            <a:ext cx="4724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SUSTAINABLE INTEGRATION</a:t>
            </a:r>
            <a:endParaRPr/>
          </a:p>
        </p:txBody>
      </p:sp>
      <p:sp>
        <p:nvSpPr>
          <p:cNvPr id="394" name="Google Shape;394;p29"/>
          <p:cNvSpPr txBox="1"/>
          <p:nvPr/>
        </p:nvSpPr>
        <p:spPr>
          <a:xfrm>
            <a:off x="7048500" y="2362200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15–20 Bureaus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fully integrated</a:t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7048500" y="3114675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80–120 Services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operational</a:t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7048500" y="3867150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Revenue Tracking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centralized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7048500" y="4619625"/>
            <a:ext cx="4572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Institutional Backbone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established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6667500" y="2266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399" name="Google Shape;399;p29"/>
          <p:cNvSpPr txBox="1"/>
          <p:nvPr/>
        </p:nvSpPr>
        <p:spPr>
          <a:xfrm>
            <a:off x="6667500" y="30194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6667500" y="37719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01" name="Google Shape;401;p29"/>
          <p:cNvSpPr txBox="1"/>
          <p:nvPr/>
        </p:nvSpPr>
        <p:spPr>
          <a:xfrm>
            <a:off x="6667500" y="4524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402" name="Google Shape;4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2357437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109912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8623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4614862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TARGET: YEAR 1</a:t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62237"/>
            <a:ext cx="523875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62237"/>
            <a:ext cx="523875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0"/>
          <p:cNvSpPr txBox="1"/>
          <p:nvPr/>
        </p:nvSpPr>
        <p:spPr>
          <a:xfrm>
            <a:off x="1047750" y="3195637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7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66534"/>
                </a:solidFill>
                <a:latin typeface="Montserrat"/>
                <a:ea typeface="Montserrat"/>
                <a:cs typeface="Montserrat"/>
                <a:sym typeface="Montserrat"/>
              </a:rPr>
              <a:t>ACCELERATORS</a:t>
            </a:r>
            <a:endParaRPr/>
          </a:p>
        </p:txBody>
      </p:sp>
      <p:sp>
        <p:nvSpPr>
          <p:cNvPr id="415" name="Google Shape;415;p30"/>
          <p:cNvSpPr txBox="1"/>
          <p:nvPr/>
        </p:nvSpPr>
        <p:spPr>
          <a:xfrm>
            <a:off x="6858000" y="3195637"/>
            <a:ext cx="45005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7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rPr>
              <a:t>DELAYS</a:t>
            </a:r>
            <a:endParaRPr/>
          </a:p>
        </p:txBody>
      </p:sp>
      <p:pic>
        <p:nvPicPr>
          <p:cNvPr descr="image.png" id="416" name="Google Shape;41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224212"/>
            <a:ext cx="3048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0"/>
          <p:cNvSpPr txBox="1"/>
          <p:nvPr/>
        </p:nvSpPr>
        <p:spPr>
          <a:xfrm>
            <a:off x="1333500" y="3690937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Clear executive directive</a:t>
            </a:r>
            <a:endParaRPr/>
          </a:p>
        </p:txBody>
      </p:sp>
      <p:sp>
        <p:nvSpPr>
          <p:cNvPr id="418" name="Google Shape;418;p30"/>
          <p:cNvSpPr txBox="1"/>
          <p:nvPr/>
        </p:nvSpPr>
        <p:spPr>
          <a:xfrm>
            <a:off x="1333500" y="4252912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API operational readiness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1333500" y="4814887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Strictly defined workflows</a:t>
            </a:r>
            <a:endParaRPr/>
          </a:p>
        </p:txBody>
      </p:sp>
      <p:pic>
        <p:nvPicPr>
          <p:cNvPr descr="image.png" id="420" name="Google Shape;42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3224212"/>
            <a:ext cx="3048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0"/>
          <p:cNvSpPr txBox="1"/>
          <p:nvPr/>
        </p:nvSpPr>
        <p:spPr>
          <a:xfrm>
            <a:off x="7143750" y="3690937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Internal bureau resistance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7143750" y="4252912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Undefined service parameters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7143750" y="4814887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Digital infrastructure immaturity</a:t>
            </a:r>
            <a:endParaRPr/>
          </a:p>
        </p:txBody>
      </p:sp>
      <p:sp>
        <p:nvSpPr>
          <p:cNvPr id="424" name="Google Shape;424;p30"/>
          <p:cNvSpPr txBox="1"/>
          <p:nvPr/>
        </p:nvSpPr>
        <p:spPr>
          <a:xfrm>
            <a:off x="1047750" y="36909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1047750" y="42529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1047750" y="48148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6858000" y="36909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8" name="Google Shape;428;p30"/>
          <p:cNvSpPr txBox="1"/>
          <p:nvPr/>
        </p:nvSpPr>
        <p:spPr>
          <a:xfrm>
            <a:off x="6858000" y="42529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29" name="Google Shape;429;p30"/>
          <p:cNvSpPr txBox="1"/>
          <p:nvPr/>
        </p:nvSpPr>
        <p:spPr>
          <a:xfrm>
            <a:off x="6858000" y="48148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WHAT ACCELERATES VS DELAYS</a:t>
            </a:r>
            <a:endParaRPr/>
          </a:p>
        </p:txBody>
      </p:sp>
      <p:sp>
        <p:nvSpPr>
          <p:cNvPr id="431" name="Google Shape;431;p30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Speed depends on discipline.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/>
          <p:nvPr/>
        </p:nvSpPr>
        <p:spPr>
          <a:xfrm>
            <a:off x="1333500" y="26098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1"/>
          <p:cNvSpPr txBox="1"/>
          <p:nvPr/>
        </p:nvSpPr>
        <p:spPr>
          <a:xfrm>
            <a:off x="2095500" y="28479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Formal Participation Directive: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Mandatory adoption framework from the cabinet.</a:t>
            </a:r>
            <a:endParaRPr/>
          </a:p>
        </p:txBody>
      </p:sp>
      <p:sp>
        <p:nvSpPr>
          <p:cNvPr id="439" name="Google Shape;439;p31"/>
          <p:cNvSpPr/>
          <p:nvPr/>
        </p:nvSpPr>
        <p:spPr>
          <a:xfrm>
            <a:off x="1333500" y="26098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1333500" y="4019550"/>
            <a:ext cx="9525000" cy="847725"/>
          </a:xfrm>
          <a:prstGeom prst="roundRect">
            <a:avLst>
              <a:gd fmla="val 89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1"/>
          <p:cNvSpPr txBox="1"/>
          <p:nvPr/>
        </p:nvSpPr>
        <p:spPr>
          <a:xfrm>
            <a:off x="2095500" y="4257675"/>
            <a:ext cx="8477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Integration Deadlines: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Hard timelines enforced per bureau phase.</a:t>
            </a:r>
            <a:endParaRPr/>
          </a:p>
        </p:txBody>
      </p:sp>
      <p:sp>
        <p:nvSpPr>
          <p:cNvPr id="442" name="Google Shape;442;p31"/>
          <p:cNvSpPr/>
          <p:nvPr/>
        </p:nvSpPr>
        <p:spPr>
          <a:xfrm>
            <a:off x="1333500" y="4019550"/>
            <a:ext cx="57150" cy="8477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1333500" y="5057775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 txBox="1"/>
          <p:nvPr/>
        </p:nvSpPr>
        <p:spPr>
          <a:xfrm>
            <a:off x="2095500" y="5295900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Weekly Dashboard Review: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Executive visibility into bureau compliance and SLA adherence.</a:t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1333500" y="5057775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1333500" y="6467475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2095500" y="6705600"/>
            <a:ext cx="847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Escalation Authority: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Pre-defined protocols for bypassing operational roadblocks.</a:t>
            </a: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1333500" y="6467475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9" name="Google Shape;4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2843212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775" y="42529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775" y="5291137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8775" y="6700837"/>
            <a:ext cx="2476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ENFORCEMENT MECHANISM</a:t>
            </a:r>
            <a:endParaRPr/>
          </a:p>
        </p:txBody>
      </p:sp>
      <p:sp>
        <p:nvSpPr>
          <p:cNvPr id="454" name="Google Shape;454;p31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1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Passive resistance will not stall progress.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2"/>
          <p:cNvSpPr txBox="1"/>
          <p:nvPr/>
        </p:nvSpPr>
        <p:spPr>
          <a:xfrm>
            <a:off x="571500" y="571500"/>
            <a:ext cx="5500687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ARCHITECTURE OVERVIEW</a:t>
            </a:r>
            <a:endParaRPr/>
          </a:p>
        </p:txBody>
      </p:sp>
      <p:sp>
        <p:nvSpPr>
          <p:cNvPr id="461" name="Google Shape;461;p32"/>
          <p:cNvSpPr/>
          <p:nvPr/>
        </p:nvSpPr>
        <p:spPr>
          <a:xfrm>
            <a:off x="571500" y="1743075"/>
            <a:ext cx="523875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2" name="Google Shape;46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2"/>
          <p:cNvSpPr txBox="1"/>
          <p:nvPr/>
        </p:nvSpPr>
        <p:spPr>
          <a:xfrm>
            <a:off x="571500" y="2343150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Each layer supports the next.</a:t>
            </a:r>
            <a:endParaRPr/>
          </a:p>
        </p:txBody>
      </p:sp>
      <p:sp>
        <p:nvSpPr>
          <p:cNvPr id="464" name="Google Shape;464;p32"/>
          <p:cNvSpPr/>
          <p:nvPr/>
        </p:nvSpPr>
        <p:spPr>
          <a:xfrm>
            <a:off x="571500" y="3028950"/>
            <a:ext cx="523875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1047750" y="3267075"/>
            <a:ext cx="447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Citizen Interaction: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Portals and access points.</a:t>
            </a:r>
            <a:endParaRPr/>
          </a:p>
        </p:txBody>
      </p:sp>
      <p:sp>
        <p:nvSpPr>
          <p:cNvPr id="466" name="Google Shape;466;p32"/>
          <p:cNvSpPr/>
          <p:nvPr/>
        </p:nvSpPr>
        <p:spPr>
          <a:xfrm>
            <a:off x="571500" y="30289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571500" y="4438650"/>
            <a:ext cx="523875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1047750" y="4676775"/>
            <a:ext cx="447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Application &amp; Workflow: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Business logic.</a:t>
            </a:r>
            <a:endParaRPr/>
          </a:p>
        </p:txBody>
      </p:sp>
      <p:sp>
        <p:nvSpPr>
          <p:cNvPr id="469" name="Google Shape;469;p32"/>
          <p:cNvSpPr/>
          <p:nvPr/>
        </p:nvSpPr>
        <p:spPr>
          <a:xfrm>
            <a:off x="571500" y="44386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571500" y="5848350"/>
            <a:ext cx="523875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 txBox="1"/>
          <p:nvPr/>
        </p:nvSpPr>
        <p:spPr>
          <a:xfrm>
            <a:off x="1047750" y="6086475"/>
            <a:ext cx="4476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Integration Gateway: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API management.</a:t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571500" y="58483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/>
          <p:nvPr/>
        </p:nvSpPr>
        <p:spPr>
          <a:xfrm>
            <a:off x="571500" y="7258050"/>
            <a:ext cx="523875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2"/>
          <p:cNvSpPr txBox="1"/>
          <p:nvPr/>
        </p:nvSpPr>
        <p:spPr>
          <a:xfrm>
            <a:off x="1047750" y="7496175"/>
            <a:ext cx="44767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Infrastructure Backbone: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Compute and storage.</a:t>
            </a:r>
            <a:endParaRPr/>
          </a:p>
        </p:txBody>
      </p:sp>
      <p:sp>
        <p:nvSpPr>
          <p:cNvPr id="475" name="Google Shape;475;p32"/>
          <p:cNvSpPr/>
          <p:nvPr/>
        </p:nvSpPr>
        <p:spPr>
          <a:xfrm>
            <a:off x="571500" y="72580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6" name="Google Shape;4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" y="3262312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467201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6081712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7491412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4" name="Google Shape;4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09850"/>
            <a:ext cx="342900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609850"/>
            <a:ext cx="342900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2609850"/>
            <a:ext cx="342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3"/>
          <p:cNvSpPr txBox="1"/>
          <p:nvPr/>
        </p:nvSpPr>
        <p:spPr>
          <a:xfrm>
            <a:off x="990600" y="379095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ACCESS CONTROL</a:t>
            </a:r>
            <a:endParaRPr/>
          </a:p>
        </p:txBody>
      </p:sp>
      <p:sp>
        <p:nvSpPr>
          <p:cNvPr id="488" name="Google Shape;488;p33"/>
          <p:cNvSpPr txBox="1"/>
          <p:nvPr/>
        </p:nvSpPr>
        <p:spPr>
          <a:xfrm>
            <a:off x="990600" y="4638675"/>
            <a:ext cx="2628900" cy="221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Role-based access control (RBAC) ensuring strict data segregation and operational authorization.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4800600" y="379095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PERIMETER PROTECTION</a:t>
            </a:r>
            <a:endParaRPr/>
          </a:p>
        </p:txBody>
      </p:sp>
      <p:sp>
        <p:nvSpPr>
          <p:cNvPr id="490" name="Google Shape;490;p33"/>
          <p:cNvSpPr txBox="1"/>
          <p:nvPr/>
        </p:nvSpPr>
        <p:spPr>
          <a:xfrm>
            <a:off x="4800600" y="4638675"/>
            <a:ext cx="2628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Comprehensive network segmentation and continuous perimeter threat monitoring.</a:t>
            </a:r>
            <a:endParaRPr/>
          </a:p>
        </p:txBody>
      </p:sp>
      <p:sp>
        <p:nvSpPr>
          <p:cNvPr id="491" name="Google Shape;491;p33"/>
          <p:cNvSpPr txBox="1"/>
          <p:nvPr/>
        </p:nvSpPr>
        <p:spPr>
          <a:xfrm>
            <a:off x="8610600" y="3790950"/>
            <a:ext cx="21602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CONTINUITY</a:t>
            </a:r>
            <a:endParaRPr/>
          </a:p>
        </p:txBody>
      </p:sp>
      <p:sp>
        <p:nvSpPr>
          <p:cNvPr id="492" name="Google Shape;492;p33"/>
          <p:cNvSpPr txBox="1"/>
          <p:nvPr/>
        </p:nvSpPr>
        <p:spPr>
          <a:xfrm>
            <a:off x="8610600" y="4286250"/>
            <a:ext cx="2628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Automated data replication and uninterruptible backup power infrastructure.</a:t>
            </a:r>
            <a:endParaRPr/>
          </a:p>
        </p:txBody>
      </p:sp>
      <p:pic>
        <p:nvPicPr>
          <p:cNvPr descr="image.png" id="493" name="Google Shape;49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30384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4" name="Google Shape;49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3038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5" name="Google Shape;49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0600" y="30384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SECURITY &amp; REDUNDANCY</a:t>
            </a:r>
            <a:endParaRPr/>
          </a:p>
        </p:txBody>
      </p:sp>
      <p:sp>
        <p:nvSpPr>
          <p:cNvPr id="497" name="Google Shape;497;p33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3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Security is systemic — not a single device.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4"/>
          <p:cNvSpPr/>
          <p:nvPr/>
        </p:nvSpPr>
        <p:spPr>
          <a:xfrm>
            <a:off x="571500" y="3014662"/>
            <a:ext cx="11049000" cy="23907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4" name="Google Shape;504;p34"/>
          <p:cNvGraphicFramePr/>
          <p:nvPr/>
        </p:nvGraphicFramePr>
        <p:xfrm>
          <a:off x="571500" y="3014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{5E4AC4A3-CBE8-46DB-ACEA-70480BB0CE95}</a:tableStyleId>
              </a:tblPr>
              <a:tblGrid>
                <a:gridCol w="2066175"/>
                <a:gridCol w="4621850"/>
                <a:gridCol w="4360950"/>
              </a:tblGrid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Tier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Capability 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Benchmarking Verdict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A2B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connectivity and shared resources.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Insufficient for scaled service orchestration.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Dedicated resources, limited redundancy.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Acceptable for pilot, risky for full integration.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E1A2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Platinum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availability, automated failover, strict SLAs.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6A75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Favored for long-term regional stability.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EA"/>
                    </a:solidFill>
                  </a:tcPr>
                </a:tc>
              </a:tr>
            </a:tbl>
          </a:graphicData>
        </a:graphic>
      </p:graphicFrame>
      <p:sp>
        <p:nvSpPr>
          <p:cNvPr id="505" name="Google Shape;505;p34"/>
          <p:cNvSpPr/>
          <p:nvPr/>
        </p:nvSpPr>
        <p:spPr>
          <a:xfrm>
            <a:off x="571500" y="3648075"/>
            <a:ext cx="2066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4"/>
          <p:cNvSpPr/>
          <p:nvPr/>
        </p:nvSpPr>
        <p:spPr>
          <a:xfrm>
            <a:off x="2637680" y="3648075"/>
            <a:ext cx="462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4"/>
          <p:cNvSpPr/>
          <p:nvPr/>
        </p:nvSpPr>
        <p:spPr>
          <a:xfrm>
            <a:off x="7259538" y="3648075"/>
            <a:ext cx="4360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4"/>
          <p:cNvSpPr/>
          <p:nvPr/>
        </p:nvSpPr>
        <p:spPr>
          <a:xfrm>
            <a:off x="571500" y="4229100"/>
            <a:ext cx="2066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4"/>
          <p:cNvSpPr/>
          <p:nvPr/>
        </p:nvSpPr>
        <p:spPr>
          <a:xfrm>
            <a:off x="2637680" y="4229100"/>
            <a:ext cx="462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7259538" y="4229100"/>
            <a:ext cx="4360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4"/>
          <p:cNvSpPr/>
          <p:nvPr/>
        </p:nvSpPr>
        <p:spPr>
          <a:xfrm>
            <a:off x="571500" y="4810125"/>
            <a:ext cx="2066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4"/>
          <p:cNvSpPr/>
          <p:nvPr/>
        </p:nvSpPr>
        <p:spPr>
          <a:xfrm>
            <a:off x="2637680" y="4810125"/>
            <a:ext cx="462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4"/>
          <p:cNvSpPr/>
          <p:nvPr/>
        </p:nvSpPr>
        <p:spPr>
          <a:xfrm>
            <a:off x="7259538" y="4810125"/>
            <a:ext cx="4360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4"/>
          <p:cNvSpPr/>
          <p:nvPr/>
        </p:nvSpPr>
        <p:spPr>
          <a:xfrm>
            <a:off x="571500" y="5391150"/>
            <a:ext cx="2066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4"/>
          <p:cNvSpPr/>
          <p:nvPr/>
        </p:nvSpPr>
        <p:spPr>
          <a:xfrm>
            <a:off x="2637680" y="5391150"/>
            <a:ext cx="46218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4"/>
          <p:cNvSpPr/>
          <p:nvPr/>
        </p:nvSpPr>
        <p:spPr>
          <a:xfrm>
            <a:off x="7259538" y="5391150"/>
            <a:ext cx="4360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DELIVERY CONTEXT</a:t>
            </a: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4"/>
          <p:cNvSpPr txBox="1"/>
          <p:nvPr/>
        </p:nvSpPr>
        <p:spPr>
          <a:xfrm>
            <a:off x="571500" y="1828800"/>
            <a:ext cx="4924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Final selection follows scope approval.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4" name="Google Shape;52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09850"/>
            <a:ext cx="342900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609850"/>
            <a:ext cx="342900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6" name="Google Shape;5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2609850"/>
            <a:ext cx="342900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5"/>
          <p:cNvSpPr txBox="1"/>
          <p:nvPr/>
        </p:nvSpPr>
        <p:spPr>
          <a:xfrm>
            <a:off x="990600" y="379095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DIGITAL ID READY</a:t>
            </a:r>
            <a:endParaRPr/>
          </a:p>
        </p:txBody>
      </p:sp>
      <p:sp>
        <p:nvSpPr>
          <p:cNvPr id="528" name="Google Shape;528;p35"/>
          <p:cNvSpPr txBox="1"/>
          <p:nvPr/>
        </p:nvSpPr>
        <p:spPr>
          <a:xfrm>
            <a:off x="990600" y="4638675"/>
            <a:ext cx="2628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Native architecture support for upcoming national digital identification frameworks.</a:t>
            </a:r>
            <a:endParaRPr/>
          </a:p>
        </p:txBody>
      </p:sp>
      <p:sp>
        <p:nvSpPr>
          <p:cNvPr id="529" name="Google Shape;529;p35"/>
          <p:cNvSpPr txBox="1"/>
          <p:nvPr/>
        </p:nvSpPr>
        <p:spPr>
          <a:xfrm>
            <a:off x="4800600" y="379095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HYBRID ACCESS</a:t>
            </a:r>
            <a:endParaRPr/>
          </a:p>
        </p:txBody>
      </p:sp>
      <p:sp>
        <p:nvSpPr>
          <p:cNvPr id="530" name="Google Shape;530;p35"/>
          <p:cNvSpPr txBox="1"/>
          <p:nvPr/>
        </p:nvSpPr>
        <p:spPr>
          <a:xfrm>
            <a:off x="4800600" y="4638675"/>
            <a:ext cx="2628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Seamless transition capability towards full online submission, reducing physical dependency.</a:t>
            </a:r>
            <a:endParaRPr/>
          </a:p>
        </p:txBody>
      </p:sp>
      <p:sp>
        <p:nvSpPr>
          <p:cNvPr id="531" name="Google Shape;531;p35"/>
          <p:cNvSpPr txBox="1"/>
          <p:nvPr/>
        </p:nvSpPr>
        <p:spPr>
          <a:xfrm>
            <a:off x="8610600" y="3790950"/>
            <a:ext cx="276034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SCALABLE CORE</a:t>
            </a:r>
            <a:endParaRPr/>
          </a:p>
        </p:txBody>
      </p:sp>
      <p:sp>
        <p:nvSpPr>
          <p:cNvPr id="532" name="Google Shape;532;p35"/>
          <p:cNvSpPr txBox="1"/>
          <p:nvPr/>
        </p:nvSpPr>
        <p:spPr>
          <a:xfrm>
            <a:off x="8610600" y="4638675"/>
            <a:ext cx="26289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Elastic infrastructure designed to handle exponential transaction volume growth.</a:t>
            </a:r>
            <a:endParaRPr/>
          </a:p>
        </p:txBody>
      </p:sp>
      <p:pic>
        <p:nvPicPr>
          <p:cNvPr descr="image.png" id="533" name="Google Shape;5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30384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4" name="Google Shape;5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30384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0600" y="30384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FUTURE-PROOF DESIGN</a:t>
            </a:r>
            <a:endParaRPr/>
          </a:p>
        </p:txBody>
      </p:sp>
      <p:sp>
        <p:nvSpPr>
          <p:cNvPr id="537" name="Google Shape;537;p35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Designed for continuous evolution.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"/>
          <p:cNvSpPr/>
          <p:nvPr/>
        </p:nvSpPr>
        <p:spPr>
          <a:xfrm>
            <a:off x="1333500" y="26098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6"/>
          <p:cNvSpPr txBox="1"/>
          <p:nvPr/>
        </p:nvSpPr>
        <p:spPr>
          <a:xfrm>
            <a:off x="2095500" y="28479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Phased Commitment: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Funding released exclusively tied to integration milestones.</a:t>
            </a:r>
            <a:endParaRPr/>
          </a:p>
        </p:txBody>
      </p:sp>
      <p:sp>
        <p:nvSpPr>
          <p:cNvPr id="545" name="Google Shape;545;p36"/>
          <p:cNvSpPr/>
          <p:nvPr/>
        </p:nvSpPr>
        <p:spPr>
          <a:xfrm>
            <a:off x="1333500" y="26098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6"/>
          <p:cNvSpPr/>
          <p:nvPr/>
        </p:nvSpPr>
        <p:spPr>
          <a:xfrm>
            <a:off x="1333500" y="40195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6"/>
          <p:cNvSpPr txBox="1"/>
          <p:nvPr/>
        </p:nvSpPr>
        <p:spPr>
          <a:xfrm>
            <a:off x="2095500" y="42576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Milestone-Based Release: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Proof of operational capability required for next-tier funding.</a:t>
            </a:r>
            <a:endParaRPr/>
          </a:p>
        </p:txBody>
      </p:sp>
      <p:sp>
        <p:nvSpPr>
          <p:cNvPr id="548" name="Google Shape;548;p36"/>
          <p:cNvSpPr/>
          <p:nvPr/>
        </p:nvSpPr>
        <p:spPr>
          <a:xfrm>
            <a:off x="1333500" y="40195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1333500" y="54292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6"/>
          <p:cNvSpPr txBox="1"/>
          <p:nvPr/>
        </p:nvSpPr>
        <p:spPr>
          <a:xfrm>
            <a:off x="2095500" y="56673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SLA-Linked Accountability: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Vendor payments strictly tethered to performance metrics.</a:t>
            </a:r>
            <a:endParaRPr/>
          </a:p>
        </p:txBody>
      </p:sp>
      <p:sp>
        <p:nvSpPr>
          <p:cNvPr id="551" name="Google Shape;551;p36"/>
          <p:cNvSpPr/>
          <p:nvPr/>
        </p:nvSpPr>
        <p:spPr>
          <a:xfrm>
            <a:off x="1333500" y="54292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1333500" y="68389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 txBox="1"/>
          <p:nvPr/>
        </p:nvSpPr>
        <p:spPr>
          <a:xfrm>
            <a:off x="2095500" y="7077075"/>
            <a:ext cx="8477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No Open-Ended Contracts: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Absolute prohibition on undefined delivery timelines.</a:t>
            </a:r>
            <a:endParaRPr/>
          </a:p>
        </p:txBody>
      </p:sp>
      <p:sp>
        <p:nvSpPr>
          <p:cNvPr id="554" name="Google Shape;554;p36"/>
          <p:cNvSpPr/>
          <p:nvPr/>
        </p:nvSpPr>
        <p:spPr>
          <a:xfrm>
            <a:off x="1333500" y="68389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55" name="Google Shape;55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28432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775" y="42529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775" y="5662612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8775" y="7072312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FINANCIAL DISCIPLINE</a:t>
            </a:r>
            <a:endParaRPr/>
          </a:p>
        </p:txBody>
      </p:sp>
      <p:sp>
        <p:nvSpPr>
          <p:cNvPr id="560" name="Google Shape;560;p36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6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Budget follows structure.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6" name="Google Shape;56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00250"/>
            <a:ext cx="52387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7"/>
          <p:cNvSpPr txBox="1"/>
          <p:nvPr/>
        </p:nvSpPr>
        <p:spPr>
          <a:xfrm>
            <a:off x="1047750" y="2533650"/>
            <a:ext cx="450056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NATIONAL AUTHORITIES PROVIDE</a:t>
            </a:r>
            <a:endParaRPr/>
          </a:p>
        </p:txBody>
      </p:sp>
      <p:sp>
        <p:nvSpPr>
          <p:cNvPr id="569" name="Google Shape;569;p37"/>
          <p:cNvSpPr txBox="1"/>
          <p:nvPr/>
        </p:nvSpPr>
        <p:spPr>
          <a:xfrm>
            <a:off x="6858000" y="2533650"/>
            <a:ext cx="450056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CITY RETAINS CONTROL OVER</a:t>
            </a:r>
            <a:endParaRPr/>
          </a:p>
        </p:txBody>
      </p:sp>
      <p:sp>
        <p:nvSpPr>
          <p:cNvPr id="570" name="Google Shape;570;p37"/>
          <p:cNvSpPr txBox="1"/>
          <p:nvPr/>
        </p:nvSpPr>
        <p:spPr>
          <a:xfrm>
            <a:off x="1333500" y="338137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Integration standards</a:t>
            </a:r>
            <a:endParaRPr/>
          </a:p>
        </p:txBody>
      </p:sp>
      <p:sp>
        <p:nvSpPr>
          <p:cNvPr id="571" name="Google Shape;571;p37"/>
          <p:cNvSpPr txBox="1"/>
          <p:nvPr/>
        </p:nvSpPr>
        <p:spPr>
          <a:xfrm>
            <a:off x="1333500" y="394335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Compliance verification</a:t>
            </a:r>
            <a:endParaRPr/>
          </a:p>
        </p:txBody>
      </p:sp>
      <p:sp>
        <p:nvSpPr>
          <p:cNvPr id="572" name="Google Shape;572;p37"/>
          <p:cNvSpPr txBox="1"/>
          <p:nvPr/>
        </p:nvSpPr>
        <p:spPr>
          <a:xfrm>
            <a:off x="1333500" y="450532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Baseline security guidance</a:t>
            </a:r>
            <a:endParaRPr/>
          </a:p>
        </p:txBody>
      </p:sp>
      <p:sp>
        <p:nvSpPr>
          <p:cNvPr id="573" name="Google Shape;573;p37"/>
          <p:cNvSpPr txBox="1"/>
          <p:nvPr/>
        </p:nvSpPr>
        <p:spPr>
          <a:xfrm>
            <a:off x="7143750" y="338137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Implementation pacing</a:t>
            </a:r>
            <a:endParaRPr/>
          </a:p>
        </p:txBody>
      </p:sp>
      <p:sp>
        <p:nvSpPr>
          <p:cNvPr id="574" name="Google Shape;574;p37"/>
          <p:cNvSpPr txBox="1"/>
          <p:nvPr/>
        </p:nvSpPr>
        <p:spPr>
          <a:xfrm>
            <a:off x="7143750" y="3943350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Vendor accountability</a:t>
            </a:r>
            <a:endParaRPr/>
          </a:p>
        </p:txBody>
      </p:sp>
      <p:sp>
        <p:nvSpPr>
          <p:cNvPr id="575" name="Google Shape;575;p37"/>
          <p:cNvSpPr txBox="1"/>
          <p:nvPr/>
        </p:nvSpPr>
        <p:spPr>
          <a:xfrm>
            <a:off x="7143750" y="4505325"/>
            <a:ext cx="4000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Operational management</a:t>
            </a:r>
            <a:endParaRPr/>
          </a:p>
        </p:txBody>
      </p:sp>
      <p:sp>
        <p:nvSpPr>
          <p:cNvPr id="576" name="Google Shape;576;p37"/>
          <p:cNvSpPr txBox="1"/>
          <p:nvPr/>
        </p:nvSpPr>
        <p:spPr>
          <a:xfrm>
            <a:off x="1047750" y="3381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7" name="Google Shape;577;p37"/>
          <p:cNvSpPr txBox="1"/>
          <p:nvPr/>
        </p:nvSpPr>
        <p:spPr>
          <a:xfrm>
            <a:off x="1047750" y="3943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8" name="Google Shape;578;p37"/>
          <p:cNvSpPr txBox="1"/>
          <p:nvPr/>
        </p:nvSpPr>
        <p:spPr>
          <a:xfrm>
            <a:off x="1047750" y="45053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79" name="Google Shape;579;p37"/>
          <p:cNvSpPr txBox="1"/>
          <p:nvPr/>
        </p:nvSpPr>
        <p:spPr>
          <a:xfrm>
            <a:off x="6858000" y="33813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80" name="Google Shape;580;p37"/>
          <p:cNvSpPr txBox="1"/>
          <p:nvPr/>
        </p:nvSpPr>
        <p:spPr>
          <a:xfrm>
            <a:off x="6858000" y="3943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81" name="Google Shape;581;p37"/>
          <p:cNvSpPr txBox="1"/>
          <p:nvPr/>
        </p:nvSpPr>
        <p:spPr>
          <a:xfrm>
            <a:off x="6858000" y="45053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582" name="Google Shape;582;p3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SOFTWARE &amp; STANDARDS GOVERNANCE</a:t>
            </a:r>
            <a:endParaRPr/>
          </a:p>
        </p:txBody>
      </p:sp>
      <p:sp>
        <p:nvSpPr>
          <p:cNvPr id="583" name="Google Shape;583;p37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8"/>
          <p:cNvSpPr/>
          <p:nvPr/>
        </p:nvSpPr>
        <p:spPr>
          <a:xfrm>
            <a:off x="1333500" y="2609850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2095500" y="2847975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Scope Freeze: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Absolute definition of requirements before vendor dialogue.</a:t>
            </a:r>
            <a:endParaRPr/>
          </a:p>
        </p:txBody>
      </p:sp>
      <p:sp>
        <p:nvSpPr>
          <p:cNvPr id="590" name="Google Shape;590;p38"/>
          <p:cNvSpPr/>
          <p:nvPr/>
        </p:nvSpPr>
        <p:spPr>
          <a:xfrm>
            <a:off x="1333500" y="2609850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8"/>
          <p:cNvSpPr/>
          <p:nvPr/>
        </p:nvSpPr>
        <p:spPr>
          <a:xfrm>
            <a:off x="1333500" y="4019550"/>
            <a:ext cx="9525000" cy="847725"/>
          </a:xfrm>
          <a:prstGeom prst="roundRect">
            <a:avLst>
              <a:gd fmla="val 898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8"/>
          <p:cNvSpPr txBox="1"/>
          <p:nvPr/>
        </p:nvSpPr>
        <p:spPr>
          <a:xfrm>
            <a:off x="2095500" y="4257675"/>
            <a:ext cx="8477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Technical Specification: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Detailed architectural prerequisites mapped.</a:t>
            </a:r>
            <a:endParaRPr/>
          </a:p>
        </p:txBody>
      </p:sp>
      <p:sp>
        <p:nvSpPr>
          <p:cNvPr id="593" name="Google Shape;593;p38"/>
          <p:cNvSpPr/>
          <p:nvPr/>
        </p:nvSpPr>
        <p:spPr>
          <a:xfrm>
            <a:off x="1333500" y="4019550"/>
            <a:ext cx="57150" cy="8477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8"/>
          <p:cNvSpPr/>
          <p:nvPr/>
        </p:nvSpPr>
        <p:spPr>
          <a:xfrm>
            <a:off x="1333500" y="5057775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8"/>
          <p:cNvSpPr txBox="1"/>
          <p:nvPr/>
        </p:nvSpPr>
        <p:spPr>
          <a:xfrm>
            <a:off x="2095500" y="5295900"/>
            <a:ext cx="8477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Structured Engagement: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Formalized RFP and vendor capability assessment.</a:t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>
            <a:off x="1333500" y="5057775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1333500" y="6467475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8"/>
          <p:cNvSpPr txBox="1"/>
          <p:nvPr/>
        </p:nvSpPr>
        <p:spPr>
          <a:xfrm>
            <a:off x="2095500" y="6705600"/>
            <a:ext cx="847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SLA Negotiation: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Hard-coding performance penalties and uptime requirements.</a:t>
            </a:r>
            <a:endParaRPr/>
          </a:p>
        </p:txBody>
      </p:sp>
      <p:sp>
        <p:nvSpPr>
          <p:cNvPr id="599" name="Google Shape;599;p38"/>
          <p:cNvSpPr/>
          <p:nvPr/>
        </p:nvSpPr>
        <p:spPr>
          <a:xfrm>
            <a:off x="1333500" y="6467475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8"/>
          <p:cNvSpPr/>
          <p:nvPr/>
        </p:nvSpPr>
        <p:spPr>
          <a:xfrm>
            <a:off x="1333500" y="7877175"/>
            <a:ext cx="9525000" cy="1219200"/>
          </a:xfrm>
          <a:prstGeom prst="roundRect">
            <a:avLst>
              <a:gd fmla="val 625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8"/>
          <p:cNvSpPr txBox="1"/>
          <p:nvPr/>
        </p:nvSpPr>
        <p:spPr>
          <a:xfrm>
            <a:off x="2095500" y="8115300"/>
            <a:ext cx="8477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E1A2B"/>
                </a:solidFill>
                <a:latin typeface="Inter"/>
                <a:ea typeface="Inter"/>
                <a:cs typeface="Inter"/>
                <a:sym typeface="Inter"/>
              </a:rPr>
              <a:t>Phased Deployment:</a:t>
            </a: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Vendor delivery segmented by pilot, scale, and core phases.</a:t>
            </a:r>
            <a:endParaRPr/>
          </a:p>
        </p:txBody>
      </p:sp>
      <p:sp>
        <p:nvSpPr>
          <p:cNvPr id="602" name="Google Shape;602;p38"/>
          <p:cNvSpPr/>
          <p:nvPr/>
        </p:nvSpPr>
        <p:spPr>
          <a:xfrm>
            <a:off x="1333500" y="7877175"/>
            <a:ext cx="57150" cy="1219200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03" name="Google Shape;6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2843212"/>
            <a:ext cx="1428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4" name="Google Shape;60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775" y="4252912"/>
            <a:ext cx="1809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775" y="5291137"/>
            <a:ext cx="1809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6" name="Google Shape;60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8775" y="6700837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7" name="Google Shape;607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8775" y="8110537"/>
            <a:ext cx="1809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VENDOR ENGAGEMENT MODEL</a:t>
            </a:r>
            <a:endParaRPr/>
          </a:p>
        </p:txBody>
      </p:sp>
      <p:sp>
        <p:nvSpPr>
          <p:cNvPr id="609" name="Google Shape;609;p38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8"/>
          <p:cNvSpPr txBox="1"/>
          <p:nvPr/>
        </p:nvSpPr>
        <p:spPr>
          <a:xfrm>
            <a:off x="571500" y="1828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6A75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premature commitment.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9"/>
          <p:cNvSpPr txBox="1"/>
          <p:nvPr/>
        </p:nvSpPr>
        <p:spPr>
          <a:xfrm>
            <a:off x="571500" y="3429000"/>
            <a:ext cx="4914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endParaRPr/>
          </a:p>
        </p:txBody>
      </p:sp>
      <p:sp>
        <p:nvSpPr>
          <p:cNvPr id="616" name="Google Shape;616;p39"/>
          <p:cNvSpPr txBox="1"/>
          <p:nvPr/>
        </p:nvSpPr>
        <p:spPr>
          <a:xfrm>
            <a:off x="571500" y="4857750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DAYS</a:t>
            </a:r>
            <a:endParaRPr/>
          </a:p>
        </p:txBody>
      </p:sp>
      <p:sp>
        <p:nvSpPr>
          <p:cNvPr id="617" name="Google Shape;617;p39"/>
          <p:cNvSpPr txBox="1"/>
          <p:nvPr/>
        </p:nvSpPr>
        <p:spPr>
          <a:xfrm>
            <a:off x="6667500" y="2895600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Governance activation</a:t>
            </a:r>
            <a:endParaRPr/>
          </a:p>
        </p:txBody>
      </p:sp>
      <p:sp>
        <p:nvSpPr>
          <p:cNvPr id="618" name="Google Shape;618;p39"/>
          <p:cNvSpPr txBox="1"/>
          <p:nvPr/>
        </p:nvSpPr>
        <p:spPr>
          <a:xfrm>
            <a:off x="6667500" y="364807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Bureau focal appointment</a:t>
            </a:r>
            <a:endParaRPr/>
          </a:p>
        </p:txBody>
      </p:sp>
      <p:sp>
        <p:nvSpPr>
          <p:cNvPr id="619" name="Google Shape;619;p39"/>
          <p:cNvSpPr txBox="1"/>
          <p:nvPr/>
        </p:nvSpPr>
        <p:spPr>
          <a:xfrm>
            <a:off x="6667500" y="4400550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Service definition workshops</a:t>
            </a:r>
            <a:endParaRPr/>
          </a:p>
        </p:txBody>
      </p:sp>
      <p:sp>
        <p:nvSpPr>
          <p:cNvPr id="620" name="Google Shape;620;p39"/>
          <p:cNvSpPr txBox="1"/>
          <p:nvPr/>
        </p:nvSpPr>
        <p:spPr>
          <a:xfrm>
            <a:off x="6667500" y="515302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Project scope freeze</a:t>
            </a:r>
            <a:endParaRPr/>
          </a:p>
        </p:txBody>
      </p:sp>
      <p:sp>
        <p:nvSpPr>
          <p:cNvPr id="621" name="Google Shape;621;p39"/>
          <p:cNvSpPr txBox="1"/>
          <p:nvPr/>
        </p:nvSpPr>
        <p:spPr>
          <a:xfrm>
            <a:off x="6667500" y="2800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2" name="Google Shape;622;p39"/>
          <p:cNvSpPr txBox="1"/>
          <p:nvPr/>
        </p:nvSpPr>
        <p:spPr>
          <a:xfrm>
            <a:off x="6667500" y="35528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3" name="Google Shape;623;p39"/>
          <p:cNvSpPr txBox="1"/>
          <p:nvPr/>
        </p:nvSpPr>
        <p:spPr>
          <a:xfrm>
            <a:off x="6667500" y="43053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24" name="Google Shape;624;p39"/>
          <p:cNvSpPr txBox="1"/>
          <p:nvPr/>
        </p:nvSpPr>
        <p:spPr>
          <a:xfrm>
            <a:off x="6667500" y="50577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625" name="Google Shape;6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93846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6" name="Google Shape;6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69093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7" name="Google Shape;62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4434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8" name="Google Shape;6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5195887"/>
            <a:ext cx="2476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90-DAY EXECUTION: DAYS 1–30</a:t>
            </a:r>
            <a:endParaRPr/>
          </a:p>
        </p:txBody>
      </p:sp>
      <p:sp>
        <p:nvSpPr>
          <p:cNvPr id="630" name="Google Shape;630;p39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9"/>
          <p:cNvSpPr txBox="1"/>
          <p:nvPr/>
        </p:nvSpPr>
        <p:spPr>
          <a:xfrm>
            <a:off x="571500" y="1828800"/>
            <a:ext cx="1914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Authority First.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 txBox="1"/>
          <p:nvPr/>
        </p:nvSpPr>
        <p:spPr>
          <a:xfrm>
            <a:off x="571500" y="3429000"/>
            <a:ext cx="4914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60</a:t>
            </a:r>
            <a:endParaRPr/>
          </a:p>
        </p:txBody>
      </p:sp>
      <p:sp>
        <p:nvSpPr>
          <p:cNvPr id="637" name="Google Shape;637;p40"/>
          <p:cNvSpPr txBox="1"/>
          <p:nvPr/>
        </p:nvSpPr>
        <p:spPr>
          <a:xfrm>
            <a:off x="571500" y="4857750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DAYS</a:t>
            </a:r>
            <a:endParaRPr/>
          </a:p>
        </p:txBody>
      </p:sp>
      <p:sp>
        <p:nvSpPr>
          <p:cNvPr id="638" name="Google Shape;638;p40"/>
          <p:cNvSpPr txBox="1"/>
          <p:nvPr/>
        </p:nvSpPr>
        <p:spPr>
          <a:xfrm>
            <a:off x="6667500" y="2895600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Infrastructure preparation</a:t>
            </a:r>
            <a:endParaRPr/>
          </a:p>
        </p:txBody>
      </p:sp>
      <p:sp>
        <p:nvSpPr>
          <p:cNvPr id="639" name="Google Shape;639;p40"/>
          <p:cNvSpPr txBox="1"/>
          <p:nvPr/>
        </p:nvSpPr>
        <p:spPr>
          <a:xfrm>
            <a:off x="6667500" y="364807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Integration configuration</a:t>
            </a:r>
            <a:endParaRPr/>
          </a:p>
        </p:txBody>
      </p:sp>
      <p:sp>
        <p:nvSpPr>
          <p:cNvPr id="640" name="Google Shape;640;p40"/>
          <p:cNvSpPr txBox="1"/>
          <p:nvPr/>
        </p:nvSpPr>
        <p:spPr>
          <a:xfrm>
            <a:off x="6667500" y="4400550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Redundancy validation</a:t>
            </a:r>
            <a:endParaRPr/>
          </a:p>
        </p:txBody>
      </p:sp>
      <p:sp>
        <p:nvSpPr>
          <p:cNvPr id="641" name="Google Shape;641;p40"/>
          <p:cNvSpPr txBox="1"/>
          <p:nvPr/>
        </p:nvSpPr>
        <p:spPr>
          <a:xfrm>
            <a:off x="6667500" y="515302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Intensive testing cycles</a:t>
            </a:r>
            <a:endParaRPr/>
          </a:p>
        </p:txBody>
      </p:sp>
      <p:sp>
        <p:nvSpPr>
          <p:cNvPr id="642" name="Google Shape;642;p40"/>
          <p:cNvSpPr txBox="1"/>
          <p:nvPr/>
        </p:nvSpPr>
        <p:spPr>
          <a:xfrm>
            <a:off x="6667500" y="2800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43" name="Google Shape;643;p40"/>
          <p:cNvSpPr txBox="1"/>
          <p:nvPr/>
        </p:nvSpPr>
        <p:spPr>
          <a:xfrm>
            <a:off x="6667500" y="35528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44" name="Google Shape;644;p40"/>
          <p:cNvSpPr txBox="1"/>
          <p:nvPr/>
        </p:nvSpPr>
        <p:spPr>
          <a:xfrm>
            <a:off x="6667500" y="43053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45" name="Google Shape;645;p40"/>
          <p:cNvSpPr txBox="1"/>
          <p:nvPr/>
        </p:nvSpPr>
        <p:spPr>
          <a:xfrm>
            <a:off x="6667500" y="50577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646" name="Google Shape;64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93846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7" name="Google Shape;64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69093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4434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9" name="Google Shape;6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5195887"/>
            <a:ext cx="2476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90-DAY EXECUTION: DAYS 30–60</a:t>
            </a:r>
            <a:endParaRPr/>
          </a:p>
        </p:txBody>
      </p:sp>
      <p:sp>
        <p:nvSpPr>
          <p:cNvPr id="651" name="Google Shape;651;p40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0"/>
          <p:cNvSpPr txBox="1"/>
          <p:nvPr/>
        </p:nvSpPr>
        <p:spPr>
          <a:xfrm>
            <a:off x="571500" y="182880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Stability Before Launch.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1"/>
          <p:cNvSpPr txBox="1"/>
          <p:nvPr/>
        </p:nvSpPr>
        <p:spPr>
          <a:xfrm>
            <a:off x="571500" y="3429000"/>
            <a:ext cx="4914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90</a:t>
            </a:r>
            <a:endParaRPr/>
          </a:p>
        </p:txBody>
      </p:sp>
      <p:sp>
        <p:nvSpPr>
          <p:cNvPr id="658" name="Google Shape;658;p41"/>
          <p:cNvSpPr txBox="1"/>
          <p:nvPr/>
        </p:nvSpPr>
        <p:spPr>
          <a:xfrm>
            <a:off x="571500" y="4857750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DAYS</a:t>
            </a:r>
            <a:endParaRPr/>
          </a:p>
        </p:txBody>
      </p:sp>
      <p:sp>
        <p:nvSpPr>
          <p:cNvPr id="659" name="Google Shape;659;p41"/>
          <p:cNvSpPr txBox="1"/>
          <p:nvPr/>
        </p:nvSpPr>
        <p:spPr>
          <a:xfrm>
            <a:off x="6667500" y="2895600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5–7 bureaus live</a:t>
            </a:r>
            <a:endParaRPr/>
          </a:p>
        </p:txBody>
      </p:sp>
      <p:sp>
        <p:nvSpPr>
          <p:cNvPr id="660" name="Google Shape;660;p41"/>
          <p:cNvSpPr txBox="1"/>
          <p:nvPr/>
        </p:nvSpPr>
        <p:spPr>
          <a:xfrm>
            <a:off x="6667500" y="364807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15–25 services operational</a:t>
            </a:r>
            <a:endParaRPr/>
          </a:p>
        </p:txBody>
      </p:sp>
      <p:sp>
        <p:nvSpPr>
          <p:cNvPr id="661" name="Google Shape;661;p41"/>
          <p:cNvSpPr txBox="1"/>
          <p:nvPr/>
        </p:nvSpPr>
        <p:spPr>
          <a:xfrm>
            <a:off x="6667500" y="4400550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SLA Dashboard active</a:t>
            </a:r>
            <a:endParaRPr/>
          </a:p>
        </p:txBody>
      </p:sp>
      <p:sp>
        <p:nvSpPr>
          <p:cNvPr id="662" name="Google Shape;662;p41"/>
          <p:cNvSpPr txBox="1"/>
          <p:nvPr/>
        </p:nvSpPr>
        <p:spPr>
          <a:xfrm>
            <a:off x="6667500" y="515302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Structured performance report submitted</a:t>
            </a:r>
            <a:endParaRPr/>
          </a:p>
        </p:txBody>
      </p:sp>
      <p:sp>
        <p:nvSpPr>
          <p:cNvPr id="663" name="Google Shape;663;p41"/>
          <p:cNvSpPr txBox="1"/>
          <p:nvPr/>
        </p:nvSpPr>
        <p:spPr>
          <a:xfrm>
            <a:off x="6667500" y="2800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4" name="Google Shape;664;p41"/>
          <p:cNvSpPr txBox="1"/>
          <p:nvPr/>
        </p:nvSpPr>
        <p:spPr>
          <a:xfrm>
            <a:off x="6667500" y="35528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5" name="Google Shape;665;p41"/>
          <p:cNvSpPr txBox="1"/>
          <p:nvPr/>
        </p:nvSpPr>
        <p:spPr>
          <a:xfrm>
            <a:off x="6667500" y="43053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666" name="Google Shape;666;p41"/>
          <p:cNvSpPr txBox="1"/>
          <p:nvPr/>
        </p:nvSpPr>
        <p:spPr>
          <a:xfrm>
            <a:off x="6667500" y="50577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667" name="Google Shape;6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93846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8" name="Google Shape;6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69093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9" name="Google Shape;6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4434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0" name="Google Shape;67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5195887"/>
            <a:ext cx="2476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DAY 90 POSITION</a:t>
            </a:r>
            <a:endParaRPr/>
          </a:p>
        </p:txBody>
      </p:sp>
      <p:sp>
        <p:nvSpPr>
          <p:cNvPr id="672" name="Google Shape;672;p41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1"/>
          <p:cNvSpPr txBox="1"/>
          <p:nvPr/>
        </p:nvSpPr>
        <p:spPr>
          <a:xfrm>
            <a:off x="571500" y="1828800"/>
            <a:ext cx="5581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1A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Expansion decision will be evidence-based.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8" name="Google Shape;6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9" name="Google Shape;67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28862"/>
            <a:ext cx="8572500" cy="52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42"/>
          <p:cNvSpPr txBox="1"/>
          <p:nvPr/>
        </p:nvSpPr>
        <p:spPr>
          <a:xfrm>
            <a:off x="1595437" y="-738187"/>
            <a:ext cx="9001125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CABINET AUTHORIZATION REQUIRED</a:t>
            </a:r>
            <a:endParaRPr/>
          </a:p>
        </p:txBody>
      </p:sp>
      <p:sp>
        <p:nvSpPr>
          <p:cNvPr id="681" name="Google Shape;681;p42"/>
          <p:cNvSpPr/>
          <p:nvPr/>
        </p:nvSpPr>
        <p:spPr>
          <a:xfrm>
            <a:off x="1809750" y="1709737"/>
            <a:ext cx="8572500" cy="4762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2"/>
          <p:cNvSpPr txBox="1"/>
          <p:nvPr/>
        </p:nvSpPr>
        <p:spPr>
          <a:xfrm>
            <a:off x="2190750" y="2767012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4F6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Approval Authorizes:</a:t>
            </a:r>
            <a:endParaRPr/>
          </a:p>
        </p:txBody>
      </p:sp>
      <p:sp>
        <p:nvSpPr>
          <p:cNvPr id="683" name="Google Shape;683;p42"/>
          <p:cNvSpPr txBox="1"/>
          <p:nvPr/>
        </p:nvSpPr>
        <p:spPr>
          <a:xfrm>
            <a:off x="2190750" y="6605587"/>
            <a:ext cx="7810500" cy="25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6A756"/>
                </a:solidFill>
                <a:latin typeface="Inter"/>
                <a:ea typeface="Inter"/>
                <a:cs typeface="Inter"/>
                <a:sym typeface="Inter"/>
              </a:rPr>
              <a:t>This is not an IT project. It is a governance backbone.</a:t>
            </a:r>
            <a:endParaRPr/>
          </a:p>
        </p:txBody>
      </p:sp>
      <p:sp>
        <p:nvSpPr>
          <p:cNvPr id="684" name="Google Shape;684;p42"/>
          <p:cNvSpPr/>
          <p:nvPr/>
        </p:nvSpPr>
        <p:spPr>
          <a:xfrm>
            <a:off x="2190750" y="6415087"/>
            <a:ext cx="7810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2"/>
          <p:cNvSpPr txBox="1"/>
          <p:nvPr/>
        </p:nvSpPr>
        <p:spPr>
          <a:xfrm>
            <a:off x="4062412" y="3509962"/>
            <a:ext cx="40671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Governance activation</a:t>
            </a:r>
            <a:endParaRPr/>
          </a:p>
        </p:txBody>
      </p:sp>
      <p:sp>
        <p:nvSpPr>
          <p:cNvPr id="686" name="Google Shape;686;p42"/>
          <p:cNvSpPr txBox="1"/>
          <p:nvPr/>
        </p:nvSpPr>
        <p:spPr>
          <a:xfrm>
            <a:off x="4062412" y="4024312"/>
            <a:ext cx="40671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Bureau participation directive</a:t>
            </a:r>
            <a:endParaRPr/>
          </a:p>
        </p:txBody>
      </p:sp>
      <p:sp>
        <p:nvSpPr>
          <p:cNvPr id="687" name="Google Shape;687;p42"/>
          <p:cNvSpPr txBox="1"/>
          <p:nvPr/>
        </p:nvSpPr>
        <p:spPr>
          <a:xfrm>
            <a:off x="4062412" y="4538662"/>
            <a:ext cx="40671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90-day pilot launch</a:t>
            </a:r>
            <a:endParaRPr/>
          </a:p>
        </p:txBody>
      </p:sp>
      <p:sp>
        <p:nvSpPr>
          <p:cNvPr id="688" name="Google Shape;688;p42"/>
          <p:cNvSpPr txBox="1"/>
          <p:nvPr/>
        </p:nvSpPr>
        <p:spPr>
          <a:xfrm>
            <a:off x="4062412" y="5053012"/>
            <a:ext cx="40671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Structured vendor engagement</a:t>
            </a:r>
            <a:endParaRPr/>
          </a:p>
        </p:txBody>
      </p:sp>
      <p:sp>
        <p:nvSpPr>
          <p:cNvPr id="689" name="Google Shape;689;p42"/>
          <p:cNvSpPr txBox="1"/>
          <p:nvPr/>
        </p:nvSpPr>
        <p:spPr>
          <a:xfrm>
            <a:off x="4062412" y="5567362"/>
            <a:ext cx="40671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4F6F8"/>
                </a:solidFill>
                <a:latin typeface="Inter"/>
                <a:ea typeface="Inter"/>
                <a:cs typeface="Inter"/>
                <a:sym typeface="Inter"/>
              </a:rPr>
              <a:t>Phased financial commitment</a:t>
            </a:r>
            <a:endParaRPr/>
          </a:p>
        </p:txBody>
      </p:sp>
      <p:pic>
        <p:nvPicPr>
          <p:cNvPr descr="image.png" id="690" name="Google Shape;69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2412" y="3571875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1" name="Google Shape;69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2412" y="4086225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2" name="Google Shape;69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2412" y="4600575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3" name="Google Shape;69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2412" y="5114925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4" name="Google Shape;69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2412" y="5629275"/>
            <a:ext cx="1905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3"/>
          <p:cNvSpPr/>
          <p:nvPr/>
        </p:nvSpPr>
        <p:spPr>
          <a:xfrm>
            <a:off x="1333500" y="2233612"/>
            <a:ext cx="9525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1333500" y="3005137"/>
            <a:ext cx="9525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3"/>
          <p:cNvSpPr/>
          <p:nvPr/>
        </p:nvSpPr>
        <p:spPr>
          <a:xfrm>
            <a:off x="1333500" y="3776662"/>
            <a:ext cx="9525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1333500" y="2995612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3"/>
          <p:cNvSpPr/>
          <p:nvPr/>
        </p:nvSpPr>
        <p:spPr>
          <a:xfrm>
            <a:off x="1333500" y="2995612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1333500" y="3767137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3"/>
          <p:cNvSpPr/>
          <p:nvPr/>
        </p:nvSpPr>
        <p:spPr>
          <a:xfrm>
            <a:off x="1333500" y="3767137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3"/>
          <p:cNvSpPr/>
          <p:nvPr/>
        </p:nvSpPr>
        <p:spPr>
          <a:xfrm>
            <a:off x="1333500" y="4538662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1333500" y="4538662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08" name="Google Shape;7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3764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3"/>
          <p:cNvSpPr txBox="1"/>
          <p:nvPr/>
        </p:nvSpPr>
        <p:spPr>
          <a:xfrm>
            <a:off x="2428875" y="2383631"/>
            <a:ext cx="8429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https://www.mdpi.com/applsci/applsci-15-07841/article_deploy/html/images/applsci-15-07841-g012-550.jpg</a:t>
            </a:r>
            <a:endParaRPr/>
          </a:p>
        </p:txBody>
      </p:sp>
      <p:sp>
        <p:nvSpPr>
          <p:cNvPr id="710" name="Google Shape;710;p43"/>
          <p:cNvSpPr txBox="1"/>
          <p:nvPr/>
        </p:nvSpPr>
        <p:spPr>
          <a:xfrm>
            <a:off x="2428875" y="2616993"/>
            <a:ext cx="842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  <p:pic>
        <p:nvPicPr>
          <p:cNvPr descr="image.png" id="711" name="Google Shape;71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148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3"/>
          <p:cNvSpPr txBox="1"/>
          <p:nvPr/>
        </p:nvSpPr>
        <p:spPr>
          <a:xfrm>
            <a:off x="2428875" y="3155156"/>
            <a:ext cx="8429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https://images.squarespace-cdn.com/content/v1/6284780465d33b5496b68ad2/2bbfd32a-9f50-46ce-a3cb-1835714ade88/Data+Centers.jpeg</a:t>
            </a:r>
            <a:endParaRPr/>
          </a:p>
        </p:txBody>
      </p:sp>
      <p:sp>
        <p:nvSpPr>
          <p:cNvPr id="713" name="Google Shape;713;p43"/>
          <p:cNvSpPr txBox="1"/>
          <p:nvPr/>
        </p:nvSpPr>
        <p:spPr>
          <a:xfrm>
            <a:off x="2428875" y="3388518"/>
            <a:ext cx="842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normanwright.com</a:t>
            </a:r>
            <a:endParaRPr/>
          </a:p>
        </p:txBody>
      </p:sp>
      <p:pic>
        <p:nvPicPr>
          <p:cNvPr descr="image.png" id="714" name="Google Shape;71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919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3"/>
          <p:cNvSpPr txBox="1"/>
          <p:nvPr/>
        </p:nvSpPr>
        <p:spPr>
          <a:xfrm>
            <a:off x="2428875" y="3926681"/>
            <a:ext cx="8429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https://www.mdpi.com/information/information-12-00087/article_deploy/html/images/information-12-00087-g001-550.jpg</a:t>
            </a:r>
            <a:endParaRPr/>
          </a:p>
        </p:txBody>
      </p:sp>
      <p:sp>
        <p:nvSpPr>
          <p:cNvPr id="716" name="Google Shape;716;p43"/>
          <p:cNvSpPr txBox="1"/>
          <p:nvPr/>
        </p:nvSpPr>
        <p:spPr>
          <a:xfrm>
            <a:off x="2428875" y="4160043"/>
            <a:ext cx="842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  <p:pic>
        <p:nvPicPr>
          <p:cNvPr descr="image.png" id="717" name="Google Shape;717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691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3"/>
          <p:cNvSpPr txBox="1"/>
          <p:nvPr/>
        </p:nvSpPr>
        <p:spPr>
          <a:xfrm>
            <a:off x="2428875" y="4698206"/>
            <a:ext cx="8429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https://fargowoodworks.com/wp-content/uploads/2025/04/openart-image_6jBe-DtG_1741203830176_raw.jpg</a:t>
            </a:r>
            <a:endParaRPr/>
          </a:p>
        </p:txBody>
      </p:sp>
      <p:sp>
        <p:nvSpPr>
          <p:cNvPr id="719" name="Google Shape;719;p43"/>
          <p:cNvSpPr txBox="1"/>
          <p:nvPr/>
        </p:nvSpPr>
        <p:spPr>
          <a:xfrm>
            <a:off x="2428875" y="4931568"/>
            <a:ext cx="842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fargowoodworks.com</a:t>
            </a:r>
            <a:endParaRPr/>
          </a:p>
        </p:txBody>
      </p:sp>
      <p:sp>
        <p:nvSpPr>
          <p:cNvPr id="720" name="Google Shape;720;p4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E1A2B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721" name="Google Shape;721;p43"/>
          <p:cNvSpPr/>
          <p:nvPr/>
        </p:nvSpPr>
        <p:spPr>
          <a:xfrm>
            <a:off x="571500" y="1228725"/>
            <a:ext cx="11049000" cy="28575"/>
          </a:xfrm>
          <a:prstGeom prst="rect">
            <a:avLst/>
          </a:prstGeom>
          <a:solidFill>
            <a:srgbClr val="C6A7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